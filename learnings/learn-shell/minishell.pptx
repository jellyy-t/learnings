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301" r:id="rId4"/>
    <p:sldId id="261" r:id="rId5"/>
    <p:sldId id="266" r:id="rId6"/>
    <p:sldId id="271" r:id="rId7"/>
    <p:sldId id="272" r:id="rId8"/>
    <p:sldId id="267" r:id="rId9"/>
    <p:sldId id="268" r:id="rId10"/>
    <p:sldId id="283" r:id="rId11"/>
    <p:sldId id="284" r:id="rId12"/>
    <p:sldId id="264" r:id="rId13"/>
    <p:sldId id="270" r:id="rId14"/>
    <p:sldId id="275" r:id="rId15"/>
    <p:sldId id="273" r:id="rId16"/>
    <p:sldId id="274" r:id="rId17"/>
    <p:sldId id="277" r:id="rId18"/>
    <p:sldId id="276" r:id="rId19"/>
    <p:sldId id="278" r:id="rId20"/>
    <p:sldId id="285" r:id="rId21"/>
    <p:sldId id="286" r:id="rId22"/>
    <p:sldId id="287" r:id="rId23"/>
    <p:sldId id="280" r:id="rId24"/>
    <p:sldId id="288" r:id="rId25"/>
    <p:sldId id="289" r:id="rId26"/>
    <p:sldId id="262" r:id="rId27"/>
    <p:sldId id="263" r:id="rId28"/>
    <p:sldId id="281" r:id="rId29"/>
    <p:sldId id="265" r:id="rId30"/>
    <p:sldId id="302" r:id="rId31"/>
    <p:sldId id="282" r:id="rId32"/>
    <p:sldId id="30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D29C5-4B2D-FE96-E115-16CF61B4636A}" v="98" dt="2024-11-06T15:08:25.375"/>
    <p1510:client id="{129BDD8E-E101-2C79-558D-4F6B72859AF3}" v="9" dt="2024-11-07T06:48:39.274"/>
    <p1510:client id="{62A5D4EB-303A-26CC-8BFD-983151FFEBEE}" v="104" dt="2024-11-08T09:47:11.4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4FC9B7-E0C3-4B61-A241-4E7E6208E326}" type="doc">
      <dgm:prSet loTypeId="urn:microsoft.com/office/officeart/2005/8/layout/chevron1" loCatId="process" qsTypeId="urn:microsoft.com/office/officeart/2005/8/quickstyle/simple2" qsCatId="simple" csTypeId="urn:microsoft.com/office/officeart/2005/8/colors/colorful5" csCatId="colorful" phldr="1"/>
      <dgm:spPr/>
    </dgm:pt>
    <dgm:pt modelId="{6E46390A-3986-4BEB-ADD2-BEA196CAF30B}">
      <dgm:prSet phldrT="[Text]" custT="1"/>
      <dgm:spPr/>
      <dgm:t>
        <a:bodyPr/>
        <a:lstStyle/>
        <a:p>
          <a:r>
            <a:rPr lang="en-US" sz="1600" dirty="0"/>
            <a:t>Get input</a:t>
          </a:r>
          <a:endParaRPr lang="en-SG" sz="1600" dirty="0"/>
        </a:p>
      </dgm:t>
    </dgm:pt>
    <dgm:pt modelId="{7E579A84-C92C-4D1C-B7CE-15A3134DB985}" type="parTrans" cxnId="{BE5D63B7-D638-4F11-8B16-2D48A037995E}">
      <dgm:prSet/>
      <dgm:spPr/>
      <dgm:t>
        <a:bodyPr/>
        <a:lstStyle/>
        <a:p>
          <a:endParaRPr lang="en-SG" sz="1400"/>
        </a:p>
      </dgm:t>
    </dgm:pt>
    <dgm:pt modelId="{71708C51-4DB3-4BAB-A9D9-A0E10E03F620}" type="sibTrans" cxnId="{BE5D63B7-D638-4F11-8B16-2D48A037995E}">
      <dgm:prSet/>
      <dgm:spPr/>
      <dgm:t>
        <a:bodyPr/>
        <a:lstStyle/>
        <a:p>
          <a:endParaRPr lang="en-SG" sz="1400"/>
        </a:p>
      </dgm:t>
    </dgm:pt>
    <dgm:pt modelId="{7855D6EE-0F01-4F37-9719-93E05BC9DC3D}">
      <dgm:prSet phldrT="[Text]" custT="1"/>
      <dgm:spPr/>
      <dgm:t>
        <a:bodyPr/>
        <a:lstStyle/>
        <a:p>
          <a:r>
            <a:rPr lang="en-US" sz="1600" dirty="0"/>
            <a:t>Execution</a:t>
          </a:r>
          <a:endParaRPr lang="en-SG" sz="1600" dirty="0"/>
        </a:p>
      </dgm:t>
    </dgm:pt>
    <dgm:pt modelId="{8D2AC420-46BA-4146-9146-C633AE2BB624}" type="parTrans" cxnId="{83C71CFC-D101-4DA8-8413-D30AED9FC6AB}">
      <dgm:prSet/>
      <dgm:spPr/>
      <dgm:t>
        <a:bodyPr/>
        <a:lstStyle/>
        <a:p>
          <a:endParaRPr lang="en-SG" sz="1400"/>
        </a:p>
      </dgm:t>
    </dgm:pt>
    <dgm:pt modelId="{220DB70F-48F4-47E1-9F71-BA6B8CD6CE89}" type="sibTrans" cxnId="{83C71CFC-D101-4DA8-8413-D30AED9FC6AB}">
      <dgm:prSet/>
      <dgm:spPr/>
      <dgm:t>
        <a:bodyPr/>
        <a:lstStyle/>
        <a:p>
          <a:endParaRPr lang="en-SG" sz="1400"/>
        </a:p>
      </dgm:t>
    </dgm:pt>
    <dgm:pt modelId="{0F358AFE-6598-41E1-9D0D-1F3E8B6498FA}">
      <dgm:prSet phldrT="[Text]" custT="1"/>
      <dgm:spPr/>
      <dgm:t>
        <a:bodyPr/>
        <a:lstStyle/>
        <a:p>
          <a:r>
            <a:rPr lang="en-US" sz="1600" dirty="0"/>
            <a:t>Cleanup</a:t>
          </a:r>
          <a:endParaRPr lang="en-SG" sz="1600" dirty="0"/>
        </a:p>
      </dgm:t>
    </dgm:pt>
    <dgm:pt modelId="{98CFB94D-AB10-4045-957A-132EC7BDB8D1}" type="parTrans" cxnId="{E2B9CA0D-540D-498B-A43D-4B961FE8CBC4}">
      <dgm:prSet/>
      <dgm:spPr/>
      <dgm:t>
        <a:bodyPr/>
        <a:lstStyle/>
        <a:p>
          <a:endParaRPr lang="en-SG" sz="1400"/>
        </a:p>
      </dgm:t>
    </dgm:pt>
    <dgm:pt modelId="{4B0B68B6-F176-4298-BD10-F99021733901}" type="sibTrans" cxnId="{E2B9CA0D-540D-498B-A43D-4B961FE8CBC4}">
      <dgm:prSet/>
      <dgm:spPr/>
      <dgm:t>
        <a:bodyPr/>
        <a:lstStyle/>
        <a:p>
          <a:endParaRPr lang="en-SG" sz="1400"/>
        </a:p>
      </dgm:t>
    </dgm:pt>
    <dgm:pt modelId="{2498BEB8-8071-4E31-9EF8-84DFC06A9249}">
      <dgm:prSet phldrT="[Text]" custT="1"/>
      <dgm:spPr/>
      <dgm:t>
        <a:bodyPr/>
        <a:lstStyle/>
        <a:p>
          <a:r>
            <a:rPr lang="en-US" sz="1600" dirty="0" err="1"/>
            <a:t>Lexing</a:t>
          </a:r>
          <a:endParaRPr lang="en-SG" sz="1600" dirty="0"/>
        </a:p>
      </dgm:t>
    </dgm:pt>
    <dgm:pt modelId="{076A721E-CB38-4936-A098-DDE1A5904114}" type="parTrans" cxnId="{D33D0EE9-9CD6-44A9-A133-3B45D48557DF}">
      <dgm:prSet/>
      <dgm:spPr/>
      <dgm:t>
        <a:bodyPr/>
        <a:lstStyle/>
        <a:p>
          <a:endParaRPr lang="en-SG"/>
        </a:p>
      </dgm:t>
    </dgm:pt>
    <dgm:pt modelId="{10C09AA5-7B42-4ECB-9787-127B3387BAB5}" type="sibTrans" cxnId="{D33D0EE9-9CD6-44A9-A133-3B45D48557DF}">
      <dgm:prSet/>
      <dgm:spPr/>
      <dgm:t>
        <a:bodyPr/>
        <a:lstStyle/>
        <a:p>
          <a:endParaRPr lang="en-SG"/>
        </a:p>
      </dgm:t>
    </dgm:pt>
    <dgm:pt modelId="{A0A45AA4-AB9B-49AA-A043-B0383BFF0DBD}">
      <dgm:prSet phldrT="[Text]" custT="1"/>
      <dgm:spPr/>
      <dgm:t>
        <a:bodyPr/>
        <a:lstStyle/>
        <a:p>
          <a:r>
            <a:rPr lang="en-US" sz="1600"/>
            <a:t>Parsing</a:t>
          </a:r>
          <a:endParaRPr lang="en-SG" sz="1600" dirty="0"/>
        </a:p>
      </dgm:t>
    </dgm:pt>
    <dgm:pt modelId="{F701684F-1E74-46AF-A4E6-64413D4CA5C3}" type="parTrans" cxnId="{303C97EC-E5C3-4F27-9F0E-C45F4BD40F76}">
      <dgm:prSet/>
      <dgm:spPr/>
      <dgm:t>
        <a:bodyPr/>
        <a:lstStyle/>
        <a:p>
          <a:endParaRPr lang="en-SG"/>
        </a:p>
      </dgm:t>
    </dgm:pt>
    <dgm:pt modelId="{5740714A-2DF7-4828-8DCE-39D7A4B362D0}" type="sibTrans" cxnId="{303C97EC-E5C3-4F27-9F0E-C45F4BD40F76}">
      <dgm:prSet/>
      <dgm:spPr/>
      <dgm:t>
        <a:bodyPr/>
        <a:lstStyle/>
        <a:p>
          <a:endParaRPr lang="en-SG"/>
        </a:p>
      </dgm:t>
    </dgm:pt>
    <dgm:pt modelId="{D03B1DC0-CAB2-45CC-AFFD-1B1D2D041E4C}" type="pres">
      <dgm:prSet presAssocID="{F54FC9B7-E0C3-4B61-A241-4E7E6208E326}" presName="Name0" presStyleCnt="0">
        <dgm:presLayoutVars>
          <dgm:dir/>
          <dgm:animLvl val="lvl"/>
          <dgm:resizeHandles val="exact"/>
        </dgm:presLayoutVars>
      </dgm:prSet>
      <dgm:spPr/>
    </dgm:pt>
    <dgm:pt modelId="{6550631D-353D-4253-A8FC-8BC71CABA933}" type="pres">
      <dgm:prSet presAssocID="{6E46390A-3986-4BEB-ADD2-BEA196CAF30B}" presName="parTxOnly" presStyleLbl="node1" presStyleIdx="0" presStyleCnt="5">
        <dgm:presLayoutVars>
          <dgm:chMax val="0"/>
          <dgm:chPref val="0"/>
          <dgm:bulletEnabled val="1"/>
        </dgm:presLayoutVars>
      </dgm:prSet>
      <dgm:spPr/>
    </dgm:pt>
    <dgm:pt modelId="{FD57E532-8F0E-4CEB-8BB3-0C959D0A77C2}" type="pres">
      <dgm:prSet presAssocID="{71708C51-4DB3-4BAB-A9D9-A0E10E03F620}" presName="parTxOnlySpace" presStyleCnt="0"/>
      <dgm:spPr/>
    </dgm:pt>
    <dgm:pt modelId="{1E4C4901-A077-471B-B507-3FEDE3EC5182}" type="pres">
      <dgm:prSet presAssocID="{2498BEB8-8071-4E31-9EF8-84DFC06A9249}" presName="parTxOnly" presStyleLbl="node1" presStyleIdx="1" presStyleCnt="5">
        <dgm:presLayoutVars>
          <dgm:chMax val="0"/>
          <dgm:chPref val="0"/>
          <dgm:bulletEnabled val="1"/>
        </dgm:presLayoutVars>
      </dgm:prSet>
      <dgm:spPr/>
    </dgm:pt>
    <dgm:pt modelId="{D0E382AB-73B0-4D52-A9F2-16ACE0D018AC}" type="pres">
      <dgm:prSet presAssocID="{10C09AA5-7B42-4ECB-9787-127B3387BAB5}" presName="parTxOnlySpace" presStyleCnt="0"/>
      <dgm:spPr/>
    </dgm:pt>
    <dgm:pt modelId="{4335BA18-C13E-4EF4-A23E-3629AF8E2861}" type="pres">
      <dgm:prSet presAssocID="{A0A45AA4-AB9B-49AA-A043-B0383BFF0DBD}" presName="parTxOnly" presStyleLbl="node1" presStyleIdx="2" presStyleCnt="5">
        <dgm:presLayoutVars>
          <dgm:chMax val="0"/>
          <dgm:chPref val="0"/>
          <dgm:bulletEnabled val="1"/>
        </dgm:presLayoutVars>
      </dgm:prSet>
      <dgm:spPr/>
    </dgm:pt>
    <dgm:pt modelId="{CF37F3E4-3B8D-4A59-9888-BCFCBBB374AD}" type="pres">
      <dgm:prSet presAssocID="{5740714A-2DF7-4828-8DCE-39D7A4B362D0}" presName="parTxOnlySpace" presStyleCnt="0"/>
      <dgm:spPr/>
    </dgm:pt>
    <dgm:pt modelId="{B162E587-0FA2-482A-B936-97D0C906AEB9}" type="pres">
      <dgm:prSet presAssocID="{7855D6EE-0F01-4F37-9719-93E05BC9DC3D}" presName="parTxOnly" presStyleLbl="node1" presStyleIdx="3" presStyleCnt="5">
        <dgm:presLayoutVars>
          <dgm:chMax val="0"/>
          <dgm:chPref val="0"/>
          <dgm:bulletEnabled val="1"/>
        </dgm:presLayoutVars>
      </dgm:prSet>
      <dgm:spPr/>
    </dgm:pt>
    <dgm:pt modelId="{39BE647B-CA4D-4954-A5C2-FC27B3128874}" type="pres">
      <dgm:prSet presAssocID="{220DB70F-48F4-47E1-9F71-BA6B8CD6CE89}" presName="parTxOnlySpace" presStyleCnt="0"/>
      <dgm:spPr/>
    </dgm:pt>
    <dgm:pt modelId="{2DF33185-BA3F-4994-8C96-F8135617E30F}" type="pres">
      <dgm:prSet presAssocID="{0F358AFE-6598-41E1-9D0D-1F3E8B6498FA}" presName="parTxOnly" presStyleLbl="node1" presStyleIdx="4" presStyleCnt="5">
        <dgm:presLayoutVars>
          <dgm:chMax val="0"/>
          <dgm:chPref val="0"/>
          <dgm:bulletEnabled val="1"/>
        </dgm:presLayoutVars>
      </dgm:prSet>
      <dgm:spPr/>
    </dgm:pt>
  </dgm:ptLst>
  <dgm:cxnLst>
    <dgm:cxn modelId="{5B57AE09-3B2F-4A38-B6C6-B80F8F2DE760}" type="presOf" srcId="{2498BEB8-8071-4E31-9EF8-84DFC06A9249}" destId="{1E4C4901-A077-471B-B507-3FEDE3EC5182}" srcOrd="0" destOrd="0" presId="urn:microsoft.com/office/officeart/2005/8/layout/chevron1"/>
    <dgm:cxn modelId="{E2B9CA0D-540D-498B-A43D-4B961FE8CBC4}" srcId="{F54FC9B7-E0C3-4B61-A241-4E7E6208E326}" destId="{0F358AFE-6598-41E1-9D0D-1F3E8B6498FA}" srcOrd="4" destOrd="0" parTransId="{98CFB94D-AB10-4045-957A-132EC7BDB8D1}" sibTransId="{4B0B68B6-F176-4298-BD10-F99021733901}"/>
    <dgm:cxn modelId="{7B7DF533-0441-4B3C-A399-8CC587BA007D}" type="presOf" srcId="{7855D6EE-0F01-4F37-9719-93E05BC9DC3D}" destId="{B162E587-0FA2-482A-B936-97D0C906AEB9}" srcOrd="0" destOrd="0" presId="urn:microsoft.com/office/officeart/2005/8/layout/chevron1"/>
    <dgm:cxn modelId="{0875D44B-FE54-440C-B88F-3826D6FB269A}" type="presOf" srcId="{F54FC9B7-E0C3-4B61-A241-4E7E6208E326}" destId="{D03B1DC0-CAB2-45CC-AFFD-1B1D2D041E4C}" srcOrd="0" destOrd="0" presId="urn:microsoft.com/office/officeart/2005/8/layout/chevron1"/>
    <dgm:cxn modelId="{56E43D56-A693-4A4F-A3FB-EC57A30DBFC7}" type="presOf" srcId="{0F358AFE-6598-41E1-9D0D-1F3E8B6498FA}" destId="{2DF33185-BA3F-4994-8C96-F8135617E30F}" srcOrd="0" destOrd="0" presId="urn:microsoft.com/office/officeart/2005/8/layout/chevron1"/>
    <dgm:cxn modelId="{BE5D63B7-D638-4F11-8B16-2D48A037995E}" srcId="{F54FC9B7-E0C3-4B61-A241-4E7E6208E326}" destId="{6E46390A-3986-4BEB-ADD2-BEA196CAF30B}" srcOrd="0" destOrd="0" parTransId="{7E579A84-C92C-4D1C-B7CE-15A3134DB985}" sibTransId="{71708C51-4DB3-4BAB-A9D9-A0E10E03F620}"/>
    <dgm:cxn modelId="{8B298BD7-0F1B-4CC9-B3E7-60F6E6BCC0DB}" type="presOf" srcId="{6E46390A-3986-4BEB-ADD2-BEA196CAF30B}" destId="{6550631D-353D-4253-A8FC-8BC71CABA933}" srcOrd="0" destOrd="0" presId="urn:microsoft.com/office/officeart/2005/8/layout/chevron1"/>
    <dgm:cxn modelId="{D33D0EE9-9CD6-44A9-A133-3B45D48557DF}" srcId="{F54FC9B7-E0C3-4B61-A241-4E7E6208E326}" destId="{2498BEB8-8071-4E31-9EF8-84DFC06A9249}" srcOrd="1" destOrd="0" parTransId="{076A721E-CB38-4936-A098-DDE1A5904114}" sibTransId="{10C09AA5-7B42-4ECB-9787-127B3387BAB5}"/>
    <dgm:cxn modelId="{303C97EC-E5C3-4F27-9F0E-C45F4BD40F76}" srcId="{F54FC9B7-E0C3-4B61-A241-4E7E6208E326}" destId="{A0A45AA4-AB9B-49AA-A043-B0383BFF0DBD}" srcOrd="2" destOrd="0" parTransId="{F701684F-1E74-46AF-A4E6-64413D4CA5C3}" sibTransId="{5740714A-2DF7-4828-8DCE-39D7A4B362D0}"/>
    <dgm:cxn modelId="{27D762F5-BF04-48CD-928C-32D05A3F9F2B}" type="presOf" srcId="{A0A45AA4-AB9B-49AA-A043-B0383BFF0DBD}" destId="{4335BA18-C13E-4EF4-A23E-3629AF8E2861}" srcOrd="0" destOrd="0" presId="urn:microsoft.com/office/officeart/2005/8/layout/chevron1"/>
    <dgm:cxn modelId="{83C71CFC-D101-4DA8-8413-D30AED9FC6AB}" srcId="{F54FC9B7-E0C3-4B61-A241-4E7E6208E326}" destId="{7855D6EE-0F01-4F37-9719-93E05BC9DC3D}" srcOrd="3" destOrd="0" parTransId="{8D2AC420-46BA-4146-9146-C633AE2BB624}" sibTransId="{220DB70F-48F4-47E1-9F71-BA6B8CD6CE89}"/>
    <dgm:cxn modelId="{0AF131E0-52AE-4031-A919-05600E6F4E77}" type="presParOf" srcId="{D03B1DC0-CAB2-45CC-AFFD-1B1D2D041E4C}" destId="{6550631D-353D-4253-A8FC-8BC71CABA933}" srcOrd="0" destOrd="0" presId="urn:microsoft.com/office/officeart/2005/8/layout/chevron1"/>
    <dgm:cxn modelId="{C4C32C20-D8B9-469C-9DF1-205F9DBD8F52}" type="presParOf" srcId="{D03B1DC0-CAB2-45CC-AFFD-1B1D2D041E4C}" destId="{FD57E532-8F0E-4CEB-8BB3-0C959D0A77C2}" srcOrd="1" destOrd="0" presId="urn:microsoft.com/office/officeart/2005/8/layout/chevron1"/>
    <dgm:cxn modelId="{5BF0C4F0-AA6C-45E1-A6DC-C29FA4268BE3}" type="presParOf" srcId="{D03B1DC0-CAB2-45CC-AFFD-1B1D2D041E4C}" destId="{1E4C4901-A077-471B-B507-3FEDE3EC5182}" srcOrd="2" destOrd="0" presId="urn:microsoft.com/office/officeart/2005/8/layout/chevron1"/>
    <dgm:cxn modelId="{D751FB06-AF46-4F1E-A90E-DC9582ABA20C}" type="presParOf" srcId="{D03B1DC0-CAB2-45CC-AFFD-1B1D2D041E4C}" destId="{D0E382AB-73B0-4D52-A9F2-16ACE0D018AC}" srcOrd="3" destOrd="0" presId="urn:microsoft.com/office/officeart/2005/8/layout/chevron1"/>
    <dgm:cxn modelId="{D6CE6CAC-FA02-46F7-9C2A-0230FA42505A}" type="presParOf" srcId="{D03B1DC0-CAB2-45CC-AFFD-1B1D2D041E4C}" destId="{4335BA18-C13E-4EF4-A23E-3629AF8E2861}" srcOrd="4" destOrd="0" presId="urn:microsoft.com/office/officeart/2005/8/layout/chevron1"/>
    <dgm:cxn modelId="{22B926C1-73C1-4571-A0A5-464C163C42D3}" type="presParOf" srcId="{D03B1DC0-CAB2-45CC-AFFD-1B1D2D041E4C}" destId="{CF37F3E4-3B8D-4A59-9888-BCFCBBB374AD}" srcOrd="5" destOrd="0" presId="urn:microsoft.com/office/officeart/2005/8/layout/chevron1"/>
    <dgm:cxn modelId="{E129AC10-8BBA-426A-8CF5-244AF5747DC4}" type="presParOf" srcId="{D03B1DC0-CAB2-45CC-AFFD-1B1D2D041E4C}" destId="{B162E587-0FA2-482A-B936-97D0C906AEB9}" srcOrd="6" destOrd="0" presId="urn:microsoft.com/office/officeart/2005/8/layout/chevron1"/>
    <dgm:cxn modelId="{D705CE9A-CD86-4471-92DA-9D58C1BE7B16}" type="presParOf" srcId="{D03B1DC0-CAB2-45CC-AFFD-1B1D2D041E4C}" destId="{39BE647B-CA4D-4954-A5C2-FC27B3128874}" srcOrd="7" destOrd="0" presId="urn:microsoft.com/office/officeart/2005/8/layout/chevron1"/>
    <dgm:cxn modelId="{463830E7-E2E6-430E-877C-D00A66074AF3}" type="presParOf" srcId="{D03B1DC0-CAB2-45CC-AFFD-1B1D2D041E4C}" destId="{2DF33185-BA3F-4994-8C96-F8135617E30F}"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0631D-353D-4253-A8FC-8BC71CABA933}">
      <dsp:nvSpPr>
        <dsp:cNvPr id="0" name=""/>
        <dsp:cNvSpPr/>
      </dsp:nvSpPr>
      <dsp:spPr>
        <a:xfrm>
          <a:off x="2436" y="0"/>
          <a:ext cx="2168137" cy="524800"/>
        </a:xfrm>
        <a:prstGeom prst="chevr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Get input</a:t>
          </a:r>
          <a:endParaRPr lang="en-SG" sz="1600" kern="1200" dirty="0"/>
        </a:p>
      </dsp:txBody>
      <dsp:txXfrm>
        <a:off x="264836" y="0"/>
        <a:ext cx="1643337" cy="524800"/>
      </dsp:txXfrm>
    </dsp:sp>
    <dsp:sp modelId="{1E4C4901-A077-471B-B507-3FEDE3EC5182}">
      <dsp:nvSpPr>
        <dsp:cNvPr id="0" name=""/>
        <dsp:cNvSpPr/>
      </dsp:nvSpPr>
      <dsp:spPr>
        <a:xfrm>
          <a:off x="1953759" y="0"/>
          <a:ext cx="2168137" cy="524800"/>
        </a:xfrm>
        <a:prstGeom prst="chevron">
          <a:avLst/>
        </a:prstGeom>
        <a:solidFill>
          <a:schemeClr val="accent5">
            <a:hueOff val="-386788"/>
            <a:satOff val="2534"/>
            <a:lumOff val="73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err="1"/>
            <a:t>Lexing</a:t>
          </a:r>
          <a:endParaRPr lang="en-SG" sz="1600" kern="1200" dirty="0"/>
        </a:p>
      </dsp:txBody>
      <dsp:txXfrm>
        <a:off x="2216159" y="0"/>
        <a:ext cx="1643337" cy="524800"/>
      </dsp:txXfrm>
    </dsp:sp>
    <dsp:sp modelId="{4335BA18-C13E-4EF4-A23E-3629AF8E2861}">
      <dsp:nvSpPr>
        <dsp:cNvPr id="0" name=""/>
        <dsp:cNvSpPr/>
      </dsp:nvSpPr>
      <dsp:spPr>
        <a:xfrm>
          <a:off x="3905083" y="0"/>
          <a:ext cx="2168137" cy="524800"/>
        </a:xfrm>
        <a:prstGeom prst="chevron">
          <a:avLst/>
        </a:prstGeom>
        <a:solidFill>
          <a:schemeClr val="accent5">
            <a:hueOff val="-773575"/>
            <a:satOff val="5069"/>
            <a:lumOff val="147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a:t>Parsing</a:t>
          </a:r>
          <a:endParaRPr lang="en-SG" sz="1600" kern="1200" dirty="0"/>
        </a:p>
      </dsp:txBody>
      <dsp:txXfrm>
        <a:off x="4167483" y="0"/>
        <a:ext cx="1643337" cy="524800"/>
      </dsp:txXfrm>
    </dsp:sp>
    <dsp:sp modelId="{B162E587-0FA2-482A-B936-97D0C906AEB9}">
      <dsp:nvSpPr>
        <dsp:cNvPr id="0" name=""/>
        <dsp:cNvSpPr/>
      </dsp:nvSpPr>
      <dsp:spPr>
        <a:xfrm>
          <a:off x="5856407" y="0"/>
          <a:ext cx="2168137" cy="524800"/>
        </a:xfrm>
        <a:prstGeom prst="chevron">
          <a:avLst/>
        </a:prstGeom>
        <a:solidFill>
          <a:schemeClr val="accent5">
            <a:hueOff val="-1160363"/>
            <a:satOff val="7603"/>
            <a:lumOff val="220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Execution</a:t>
          </a:r>
          <a:endParaRPr lang="en-SG" sz="1600" kern="1200" dirty="0"/>
        </a:p>
      </dsp:txBody>
      <dsp:txXfrm>
        <a:off x="6118807" y="0"/>
        <a:ext cx="1643337" cy="524800"/>
      </dsp:txXfrm>
    </dsp:sp>
    <dsp:sp modelId="{2DF33185-BA3F-4994-8C96-F8135617E30F}">
      <dsp:nvSpPr>
        <dsp:cNvPr id="0" name=""/>
        <dsp:cNvSpPr/>
      </dsp:nvSpPr>
      <dsp:spPr>
        <a:xfrm>
          <a:off x="7807731" y="0"/>
          <a:ext cx="2168137" cy="524800"/>
        </a:xfrm>
        <a:prstGeom prst="chevron">
          <a:avLst/>
        </a:prstGeom>
        <a:solidFill>
          <a:schemeClr val="accent5">
            <a:hueOff val="-1547150"/>
            <a:satOff val="10137"/>
            <a:lumOff val="294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Cleanup</a:t>
          </a:r>
          <a:endParaRPr lang="en-SG" sz="1600" kern="1200" dirty="0"/>
        </a:p>
      </dsp:txBody>
      <dsp:txXfrm>
        <a:off x="8070131" y="0"/>
        <a:ext cx="1643337" cy="5248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295400" y="4701464"/>
            <a:ext cx="8952782" cy="1204036"/>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B8B3671-A306-4A69-8480-FA9BE839245D}"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295400" y="952500"/>
            <a:ext cx="8952781" cy="3748824"/>
          </a:xfrm>
          <a:noFill/>
        </p:spPr>
        <p:txBody>
          <a:bodyPr anchor="b">
            <a:normAutofit/>
          </a:bodyPr>
          <a:lstStyle>
            <a:lvl1pPr algn="l">
              <a:defRPr sz="3200" spc="530" baseline="0"/>
            </a:lvl1pPr>
          </a:lstStyle>
          <a:p>
            <a:r>
              <a:rPr lang="en-US"/>
              <a:t>Click to edit Master title style</a:t>
            </a:r>
          </a:p>
        </p:txBody>
      </p:sp>
    </p:spTree>
    <p:extLst>
      <p:ext uri="{BB962C8B-B14F-4D97-AF65-F5344CB8AC3E}">
        <p14:creationId xmlns:p14="http://schemas.microsoft.com/office/powerpoint/2010/main" val="3992173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4012294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295400" y="1618211"/>
            <a:ext cx="8412190" cy="3944389"/>
          </a:xfrm>
        </p:spPr>
        <p:txBody>
          <a:bodyPr anchor="t">
            <a:normAutofit/>
          </a:bodyPr>
          <a:lstStyle>
            <a:lvl1pPr>
              <a:defRPr sz="3200"/>
            </a:lvl1pPr>
          </a:lstStyle>
          <a:p>
            <a:r>
              <a:rPr lang="en-US"/>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295400" y="908858"/>
            <a:ext cx="8412192" cy="676102"/>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816214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295401" y="2260121"/>
            <a:ext cx="4350026" cy="3656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546574" y="2260120"/>
            <a:ext cx="4350025" cy="3656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900981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295400" y="966788"/>
            <a:ext cx="10059988" cy="1051784"/>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295400" y="2018581"/>
            <a:ext cx="4350027"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295400" y="2774756"/>
            <a:ext cx="4350027"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546572" y="2018581"/>
            <a:ext cx="4350028"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546572" y="2774756"/>
            <a:ext cx="4350028"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B8B3671-A306-4A69-8480-FA9BE839245D}"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657975" y="2625552"/>
            <a:ext cx="42386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403684" y="2625552"/>
            <a:ext cx="42417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770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94684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28271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06484" y="1306484"/>
            <a:ext cx="3932237" cy="2122516"/>
          </a:xfrm>
        </p:spPr>
        <p:txBody>
          <a:bodyPr anchor="t">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96000" y="1312026"/>
            <a:ext cx="5143500" cy="456565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95713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06484" y="1307185"/>
            <a:ext cx="3932237" cy="2121813"/>
          </a:xfrm>
        </p:spPr>
        <p:txBody>
          <a:bodyPr anchor="t">
            <a:normAutofit/>
          </a:bodyPr>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857702" y="1307186"/>
            <a:ext cx="5038898" cy="45983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413675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4172612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88334" y="952499"/>
            <a:ext cx="2051165" cy="4953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952500" y="952499"/>
            <a:ext cx="8235834" cy="4953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5DBDDF98-C922-483F-97E9-3E76B0201B42}" type="datetimeFigureOut">
              <a:rPr lang="en-US" smtClean="0"/>
              <a:t>11/21/2024</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639408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957733" y="985833"/>
            <a:ext cx="9014800" cy="1143200"/>
          </a:xfrm>
          <a:prstGeom prst="rect">
            <a:avLst/>
          </a:prstGeom>
        </p:spPr>
        <p:txBody>
          <a:bodyPr spcFirstLastPara="1" wrap="square" lIns="91425" tIns="91425" rIns="91425" bIns="91425" anchor="b" anchorCtr="0"/>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957733" y="2311400"/>
            <a:ext cx="9014800" cy="3974000"/>
          </a:xfrm>
          <a:prstGeom prst="rect">
            <a:avLst/>
          </a:prstGeom>
        </p:spPr>
        <p:txBody>
          <a:bodyPr spcFirstLastPara="1" wrap="square" lIns="91425" tIns="91425" rIns="91425" bIns="91425" anchor="t" anchorCtr="0"/>
          <a:lstStyle>
            <a:lvl1pPr marL="609585" lvl="0" indent="-507987">
              <a:spcBef>
                <a:spcPts val="800"/>
              </a:spcBef>
              <a:spcAft>
                <a:spcPts val="0"/>
              </a:spcAft>
              <a:buSzPts val="24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a:lvl4pPr>
            <a:lvl5pPr marL="3047924" lvl="4" indent="-507987">
              <a:spcBef>
                <a:spcPts val="0"/>
              </a:spcBef>
              <a:spcAft>
                <a:spcPts val="0"/>
              </a:spcAft>
              <a:buSzPts val="2400"/>
              <a:buChar char="▫"/>
              <a:defRPr/>
            </a:lvl5pPr>
            <a:lvl6pPr marL="3657509" lvl="5" indent="-507987">
              <a:spcBef>
                <a:spcPts val="0"/>
              </a:spcBef>
              <a:spcAft>
                <a:spcPts val="0"/>
              </a:spcAft>
              <a:buSzPts val="2400"/>
              <a:buChar char="▫"/>
              <a:defRPr/>
            </a:lvl6pPr>
            <a:lvl7pPr marL="4267093" lvl="6" indent="-507987">
              <a:spcBef>
                <a:spcPts val="0"/>
              </a:spcBef>
              <a:spcAft>
                <a:spcPts val="0"/>
              </a:spcAft>
              <a:buSzPts val="2400"/>
              <a:buChar char="●"/>
              <a:defRPr/>
            </a:lvl7pPr>
            <a:lvl8pPr marL="4876678" lvl="7" indent="-507987">
              <a:spcBef>
                <a:spcPts val="0"/>
              </a:spcBef>
              <a:spcAft>
                <a:spcPts val="0"/>
              </a:spcAft>
              <a:buSzPts val="2400"/>
              <a:buChar char="○"/>
              <a:defRPr/>
            </a:lvl8pPr>
            <a:lvl9pPr marL="5486263" lvl="8" indent="-507987">
              <a:spcBef>
                <a:spcPts val="0"/>
              </a:spcBef>
              <a:spcAft>
                <a:spcPts val="0"/>
              </a:spcAft>
              <a:buSzPts val="2400"/>
              <a:buChar char="■"/>
              <a:defRPr/>
            </a:lvl9pPr>
          </a:lstStyle>
          <a:p>
            <a:endParaRPr/>
          </a:p>
        </p:txBody>
      </p:sp>
      <p:grpSp>
        <p:nvGrpSpPr>
          <p:cNvPr id="1566" name="Google Shape;1566;p5"/>
          <p:cNvGrpSpPr/>
          <p:nvPr/>
        </p:nvGrpSpPr>
        <p:grpSpPr>
          <a:xfrm rot="10800000">
            <a:off x="11801983" y="38276"/>
            <a:ext cx="352016" cy="6781736"/>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24" name="Google Shape;1624;p5"/>
          <p:cNvGrpSpPr/>
          <p:nvPr/>
        </p:nvGrpSpPr>
        <p:grpSpPr>
          <a:xfrm rot="10800000">
            <a:off x="10438095" y="38276"/>
            <a:ext cx="1521044" cy="6781736"/>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87" name="Google Shape;1687;p5"/>
          <p:cNvGrpSpPr/>
          <p:nvPr/>
        </p:nvGrpSpPr>
        <p:grpSpPr>
          <a:xfrm rot="10800000">
            <a:off x="10243269" y="38276"/>
            <a:ext cx="1326185" cy="6586909"/>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789" name="Google Shape;1789;p5"/>
          <p:cNvGrpSpPr/>
          <p:nvPr/>
        </p:nvGrpSpPr>
        <p:grpSpPr>
          <a:xfrm rot="10800000">
            <a:off x="10243269" y="38276"/>
            <a:ext cx="1521044" cy="6781736"/>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840" name="Google Shape;1840;p5"/>
          <p:cNvSpPr txBox="1">
            <a:spLocks noGrp="1"/>
          </p:cNvSpPr>
          <p:nvPr>
            <p:ph type="sldNum" idx="12"/>
          </p:nvPr>
        </p:nvSpPr>
        <p:spPr>
          <a:xfrm>
            <a:off x="122041" y="629360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119603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295400" y="842963"/>
            <a:ext cx="9601200" cy="130968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295400" y="2262188"/>
            <a:ext cx="9601200" cy="3643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j-lt"/>
              </a:defRPr>
            </a:lvl1pPr>
          </a:lstStyle>
          <a:p>
            <a:fld id="{5DBDDF98-C922-483F-97E9-3E76B0201B42}" type="datetimeFigureOut">
              <a:rPr lang="en-US" smtClean="0"/>
              <a:pPr/>
              <a:t>11/21/2024</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728107" y="6199188"/>
            <a:ext cx="619125" cy="365125"/>
          </a:xfrm>
          <a:prstGeom prst="rect">
            <a:avLst/>
          </a:prstGeom>
        </p:spPr>
        <p:txBody>
          <a:bodyPr vert="horz" lIns="91440" tIns="45720" rIns="91440" bIns="45720" rtlCol="0" anchor="ctr"/>
          <a:lstStyle>
            <a:lvl1pPr algn="r">
              <a:defRPr sz="1050">
                <a:solidFill>
                  <a:schemeClr val="tx1"/>
                </a:solidFill>
                <a:latin typeface="+mj-l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83469499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 id="2147483699" r:id="rId12"/>
  </p:sldLayoutIdLst>
  <p:txStyles>
    <p:titleStyle>
      <a:lvl1pPr algn="l" defTabSz="914400" rtl="0" eaLnBrk="1" latinLnBrk="0" hangingPunct="1">
        <a:lnSpc>
          <a:spcPct val="120000"/>
        </a:lnSpc>
        <a:spcBef>
          <a:spcPct val="0"/>
        </a:spcBef>
        <a:buNone/>
        <a:defRPr sz="2800"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623FB3B-24E7-5304-70D8-3CA40290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7081EE3-B6BE-9584-F5AF-E5F6484D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7C03F1D4-2525-3E49-6884-8E54F9111EBC}"/>
              </a:ext>
            </a:extLst>
          </p:cNvPr>
          <p:cNvPicPr>
            <a:picLocks noChangeAspect="1"/>
          </p:cNvPicPr>
          <p:nvPr/>
        </p:nvPicPr>
        <p:blipFill>
          <a:blip r:embed="rId2">
            <a:alphaModFix amt="60000"/>
          </a:blip>
          <a:srcRect t="20332" r="-2" b="-2"/>
          <a:stretch/>
        </p:blipFill>
        <p:spPr>
          <a:xfrm>
            <a:off x="-149" y="-5291"/>
            <a:ext cx="12192001" cy="6858000"/>
          </a:xfrm>
          <a:prstGeom prst="rect">
            <a:avLst/>
          </a:prstGeom>
        </p:spPr>
      </p:pic>
      <p:sp>
        <p:nvSpPr>
          <p:cNvPr id="25" name="Freeform: Shape 24">
            <a:extLst>
              <a:ext uri="{FF2B5EF4-FFF2-40B4-BE49-F238E27FC236}">
                <a16:creationId xmlns:a16="http://schemas.microsoft.com/office/drawing/2014/main" id="{4711BF64-C99B-2F90-ADA1-0C08F9BE8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00" y="952500"/>
            <a:ext cx="10287000" cy="4953000"/>
          </a:xfrm>
          <a:custGeom>
            <a:avLst/>
            <a:gdLst>
              <a:gd name="connsiteX0" fmla="*/ 0 w 9985794"/>
              <a:gd name="connsiteY0" fmla="*/ 0 h 4920343"/>
              <a:gd name="connsiteX1" fmla="*/ 9985794 w 9985794"/>
              <a:gd name="connsiteY1" fmla="*/ 0 h 4920343"/>
              <a:gd name="connsiteX2" fmla="*/ 9985794 w 9985794"/>
              <a:gd name="connsiteY2" fmla="*/ 4920343 h 4920343"/>
              <a:gd name="connsiteX3" fmla="*/ 0 w 9985794"/>
              <a:gd name="connsiteY3" fmla="*/ 4920343 h 4920343"/>
              <a:gd name="connsiteX4" fmla="*/ 0 w 9985794"/>
              <a:gd name="connsiteY4" fmla="*/ 4119525 h 4920343"/>
              <a:gd name="connsiteX5" fmla="*/ 4905554 w 9985794"/>
              <a:gd name="connsiteY5" fmla="*/ 4119525 h 4920343"/>
              <a:gd name="connsiteX6" fmla="*/ 4905554 w 9985794"/>
              <a:gd name="connsiteY6" fmla="*/ 1451087 h 4920343"/>
              <a:gd name="connsiteX7" fmla="*/ 0 w 9985794"/>
              <a:gd name="connsiteY7" fmla="*/ 1451087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8" fmla="*/ 4996994 w 9985794"/>
              <a:gd name="connsiteY8" fmla="*/ 4210965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0" fmla="*/ 4905554 w 9985794"/>
              <a:gd name="connsiteY0" fmla="*/ 1451087 h 4920343"/>
              <a:gd name="connsiteX1" fmla="*/ 0 w 9985794"/>
              <a:gd name="connsiteY1" fmla="*/ 1451087 h 4920343"/>
              <a:gd name="connsiteX2" fmla="*/ 0 w 9985794"/>
              <a:gd name="connsiteY2" fmla="*/ 0 h 4920343"/>
              <a:gd name="connsiteX3" fmla="*/ 9985794 w 9985794"/>
              <a:gd name="connsiteY3" fmla="*/ 0 h 4920343"/>
              <a:gd name="connsiteX4" fmla="*/ 9985794 w 9985794"/>
              <a:gd name="connsiteY4" fmla="*/ 4920343 h 4920343"/>
              <a:gd name="connsiteX5" fmla="*/ 0 w 9985794"/>
              <a:gd name="connsiteY5" fmla="*/ 4920343 h 4920343"/>
              <a:gd name="connsiteX6" fmla="*/ 0 w 9985794"/>
              <a:gd name="connsiteY6" fmla="*/ 4119525 h 4920343"/>
              <a:gd name="connsiteX0" fmla="*/ 0 w 9985794"/>
              <a:gd name="connsiteY0" fmla="*/ 1451087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5794" h="4920343">
                <a:moveTo>
                  <a:pt x="0" y="1451087"/>
                </a:moveTo>
                <a:lnTo>
                  <a:pt x="0" y="0"/>
                </a:lnTo>
                <a:lnTo>
                  <a:pt x="9985794" y="0"/>
                </a:lnTo>
                <a:lnTo>
                  <a:pt x="9985794" y="4920343"/>
                </a:lnTo>
                <a:lnTo>
                  <a:pt x="0" y="4920343"/>
                </a:lnTo>
                <a:lnTo>
                  <a:pt x="0" y="4119525"/>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776882" y="2398143"/>
            <a:ext cx="5143500" cy="2116348"/>
          </a:xfrm>
          <a:noFill/>
        </p:spPr>
        <p:txBody>
          <a:bodyPr anchor="b">
            <a:normAutofit/>
          </a:bodyPr>
          <a:lstStyle/>
          <a:p>
            <a:r>
              <a:rPr lang="en-US" err="1">
                <a:solidFill>
                  <a:srgbClr val="FFFFFF"/>
                </a:solidFill>
              </a:rPr>
              <a:t>Minishell</a:t>
            </a:r>
          </a:p>
        </p:txBody>
      </p:sp>
      <p:sp>
        <p:nvSpPr>
          <p:cNvPr id="3" name="Subtitle 2"/>
          <p:cNvSpPr>
            <a:spLocks noGrp="1"/>
          </p:cNvSpPr>
          <p:nvPr>
            <p:ph type="subTitle" idx="1"/>
          </p:nvPr>
        </p:nvSpPr>
        <p:spPr>
          <a:xfrm>
            <a:off x="776882" y="4514492"/>
            <a:ext cx="4709518" cy="753372"/>
          </a:xfrm>
          <a:noFill/>
        </p:spPr>
        <p:txBody>
          <a:bodyPr vert="horz" lIns="91440" tIns="45720" rIns="91440" bIns="45720" rtlCol="0" anchor="t">
            <a:normAutofit/>
          </a:bodyPr>
          <a:lstStyle/>
          <a:p>
            <a:r>
              <a:rPr lang="en-US">
                <a:solidFill>
                  <a:srgbClr val="FFFFFF"/>
                </a:solidFill>
              </a:rPr>
              <a:t>Approach to a complex project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B2EEF-1EB8-366B-944F-BA86CC0C588D}"/>
              </a:ext>
            </a:extLst>
          </p:cNvPr>
          <p:cNvSpPr>
            <a:spLocks noGrp="1"/>
          </p:cNvSpPr>
          <p:nvPr>
            <p:ph type="title"/>
          </p:nvPr>
        </p:nvSpPr>
        <p:spPr/>
        <p:txBody>
          <a:bodyPr vert="horz" lIns="91440" tIns="45720" rIns="91440" bIns="45720" rtlCol="0" anchor="t">
            <a:normAutofit/>
          </a:bodyPr>
          <a:lstStyle/>
          <a:p>
            <a:r>
              <a:rPr lang="en-US"/>
              <a:t>Overview</a:t>
            </a:r>
          </a:p>
        </p:txBody>
      </p:sp>
      <p:sp>
        <p:nvSpPr>
          <p:cNvPr id="3" name="Content Placeholder 2">
            <a:extLst>
              <a:ext uri="{FF2B5EF4-FFF2-40B4-BE49-F238E27FC236}">
                <a16:creationId xmlns:a16="http://schemas.microsoft.com/office/drawing/2014/main" id="{52B41A04-95CB-8B0A-801F-5DE109069B74}"/>
              </a:ext>
            </a:extLst>
          </p:cNvPr>
          <p:cNvSpPr>
            <a:spLocks noGrp="1"/>
          </p:cNvSpPr>
          <p:nvPr>
            <p:ph idx="1"/>
          </p:nvPr>
        </p:nvSpPr>
        <p:spPr/>
        <p:txBody>
          <a:bodyPr vert="horz" lIns="91440" tIns="45720" rIns="91440" bIns="45720" rtlCol="0" anchor="t">
            <a:normAutofit/>
          </a:bodyPr>
          <a:lstStyle/>
          <a:p>
            <a:r>
              <a:rPr lang="en-US"/>
              <a:t>Knowing how shell works</a:t>
            </a:r>
          </a:p>
          <a:p>
            <a:r>
              <a:rPr lang="en-US"/>
              <a:t>Breaking into components</a:t>
            </a:r>
          </a:p>
          <a:p>
            <a:r>
              <a:rPr lang="en-US"/>
              <a:t>Starting the project..</a:t>
            </a:r>
          </a:p>
          <a:p>
            <a:endParaRPr lang="en-US"/>
          </a:p>
        </p:txBody>
      </p:sp>
    </p:spTree>
    <p:extLst>
      <p:ext uri="{BB962C8B-B14F-4D97-AF65-F5344CB8AC3E}">
        <p14:creationId xmlns:p14="http://schemas.microsoft.com/office/powerpoint/2010/main" val="168794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B731E-D081-4CF0-9438-937FC930CDFC}"/>
              </a:ext>
            </a:extLst>
          </p:cNvPr>
          <p:cNvSpPr>
            <a:spLocks noGrp="1"/>
          </p:cNvSpPr>
          <p:nvPr>
            <p:ph type="title"/>
          </p:nvPr>
        </p:nvSpPr>
        <p:spPr>
          <a:xfrm>
            <a:off x="957733" y="117689"/>
            <a:ext cx="9014800" cy="1143200"/>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SG" sz="1850" dirty="0"/>
              <a:t>General flow: </a:t>
            </a:r>
            <a:r>
              <a:rPr lang="en-SG" sz="1850" dirty="0" err="1"/>
              <a:t>Minishell</a:t>
            </a:r>
          </a:p>
        </p:txBody>
      </p:sp>
      <p:sp>
        <p:nvSpPr>
          <p:cNvPr id="4" name="Slide Number Placeholder 3">
            <a:extLst>
              <a:ext uri="{FF2B5EF4-FFF2-40B4-BE49-F238E27FC236}">
                <a16:creationId xmlns:a16="http://schemas.microsoft.com/office/drawing/2014/main" id="{6D47A72C-D154-458D-B71A-C14E7FB59D13}"/>
              </a:ext>
            </a:extLst>
          </p:cNvPr>
          <p:cNvSpPr>
            <a:spLocks noGrp="1"/>
          </p:cNvSpPr>
          <p:nvPr>
            <p:ph type="sldNum" idx="12"/>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smtClean="0"/>
              <a:pPr marL="0" lvl="0" indent="0" algn="l" rtl="0">
                <a:spcBef>
                  <a:spcPts val="0"/>
                </a:spcBef>
                <a:spcAft>
                  <a:spcPts val="0"/>
                </a:spcAft>
                <a:buNone/>
              </a:pPr>
              <a:t>3</a:t>
            </a:fld>
            <a:endParaRPr lang="en"/>
          </a:p>
        </p:txBody>
      </p:sp>
      <p:graphicFrame>
        <p:nvGraphicFramePr>
          <p:cNvPr id="8" name="Diagram 7">
            <a:extLst>
              <a:ext uri="{FF2B5EF4-FFF2-40B4-BE49-F238E27FC236}">
                <a16:creationId xmlns:a16="http://schemas.microsoft.com/office/drawing/2014/main" id="{3F28D3CE-F213-44C5-B860-1BC820D9F505}"/>
              </a:ext>
            </a:extLst>
          </p:cNvPr>
          <p:cNvGraphicFramePr/>
          <p:nvPr/>
        </p:nvGraphicFramePr>
        <p:xfrm>
          <a:off x="622757" y="1403821"/>
          <a:ext cx="9978305" cy="52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2" name="Group 11">
            <a:extLst>
              <a:ext uri="{FF2B5EF4-FFF2-40B4-BE49-F238E27FC236}">
                <a16:creationId xmlns:a16="http://schemas.microsoft.com/office/drawing/2014/main" id="{3E1BC58A-766F-4D8C-A577-90C9A10760CD}"/>
              </a:ext>
            </a:extLst>
          </p:cNvPr>
          <p:cNvGrpSpPr/>
          <p:nvPr/>
        </p:nvGrpSpPr>
        <p:grpSpPr>
          <a:xfrm>
            <a:off x="4310234" y="2438601"/>
            <a:ext cx="2168137" cy="524800"/>
            <a:chOff x="1827" y="0"/>
            <a:chExt cx="1626103" cy="393600"/>
          </a:xfrm>
        </p:grpSpPr>
        <p:sp>
          <p:nvSpPr>
            <p:cNvPr id="13" name="Arrow: Chevron 12">
              <a:extLst>
                <a:ext uri="{FF2B5EF4-FFF2-40B4-BE49-F238E27FC236}">
                  <a16:creationId xmlns:a16="http://schemas.microsoft.com/office/drawing/2014/main" id="{4498FC4B-B878-4482-BE72-73CA82D0ECD5}"/>
                </a:ext>
              </a:extLst>
            </p:cNvPr>
            <p:cNvSpPr/>
            <p:nvPr/>
          </p:nvSpPr>
          <p:spPr>
            <a:xfrm>
              <a:off x="1827" y="0"/>
              <a:ext cx="1626103" cy="393600"/>
            </a:xfrm>
            <a:prstGeom prst="chevron">
              <a:avLst/>
            </a:prstGeom>
          </p:spPr>
          <p:style>
            <a:lnRef idx="3">
              <a:schemeClr val="lt1">
                <a:hueOff val="0"/>
                <a:satOff val="0"/>
                <a:lumOff val="0"/>
                <a:alphaOff val="0"/>
              </a:schemeClr>
            </a:lnRef>
            <a:fillRef idx="1">
              <a:schemeClr val="accent5">
                <a:hueOff val="0"/>
                <a:satOff val="0"/>
                <a:lumOff val="0"/>
                <a:alphaOff val="0"/>
              </a:schemeClr>
            </a:fillRef>
            <a:effectRef idx="1">
              <a:schemeClr val="accent5">
                <a:hueOff val="0"/>
                <a:satOff val="0"/>
                <a:lumOff val="0"/>
                <a:alphaOff val="0"/>
              </a:schemeClr>
            </a:effectRef>
            <a:fontRef idx="minor">
              <a:schemeClr val="lt1"/>
            </a:fontRef>
          </p:style>
        </p:sp>
        <p:sp>
          <p:nvSpPr>
            <p:cNvPr id="14" name="Arrow: Chevron 4">
              <a:extLst>
                <a:ext uri="{FF2B5EF4-FFF2-40B4-BE49-F238E27FC236}">
                  <a16:creationId xmlns:a16="http://schemas.microsoft.com/office/drawing/2014/main" id="{97D829CC-BF4D-423F-90DF-BAEE92E553E0}"/>
                </a:ext>
              </a:extLst>
            </p:cNvPr>
            <p:cNvSpPr txBox="1"/>
            <p:nvPr/>
          </p:nvSpPr>
          <p:spPr>
            <a:xfrm>
              <a:off x="198627" y="0"/>
              <a:ext cx="1232503" cy="393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5344" tIns="28448" rIns="28448" bIns="28448" numCol="1" spcCol="127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defTabSz="948243">
                <a:lnSpc>
                  <a:spcPct val="90000"/>
                </a:lnSpc>
                <a:spcBef>
                  <a:spcPct val="0"/>
                </a:spcBef>
                <a:spcAft>
                  <a:spcPct val="35000"/>
                </a:spcAft>
                <a:buNone/>
              </a:pPr>
              <a:r>
                <a:rPr lang="en-US" sz="2133" kern="1200" dirty="0"/>
                <a:t>Get input</a:t>
              </a:r>
              <a:endParaRPr lang="en-SG" sz="2133" kern="1200" dirty="0"/>
            </a:p>
          </p:txBody>
        </p:sp>
      </p:grpSp>
      <p:grpSp>
        <p:nvGrpSpPr>
          <p:cNvPr id="15" name="Group 14">
            <a:extLst>
              <a:ext uri="{FF2B5EF4-FFF2-40B4-BE49-F238E27FC236}">
                <a16:creationId xmlns:a16="http://schemas.microsoft.com/office/drawing/2014/main" id="{03FB53F0-2128-4021-82EA-5D270C410BCF}"/>
              </a:ext>
            </a:extLst>
          </p:cNvPr>
          <p:cNvGrpSpPr/>
          <p:nvPr/>
        </p:nvGrpSpPr>
        <p:grpSpPr>
          <a:xfrm>
            <a:off x="4310234" y="3316864"/>
            <a:ext cx="2168137" cy="524800"/>
            <a:chOff x="1465319" y="0"/>
            <a:chExt cx="1626103" cy="393600"/>
          </a:xfrm>
        </p:grpSpPr>
        <p:sp>
          <p:nvSpPr>
            <p:cNvPr id="16" name="Arrow: Chevron 15">
              <a:extLst>
                <a:ext uri="{FF2B5EF4-FFF2-40B4-BE49-F238E27FC236}">
                  <a16:creationId xmlns:a16="http://schemas.microsoft.com/office/drawing/2014/main" id="{EA949566-B349-460E-B16F-151017B8B0D2}"/>
                </a:ext>
              </a:extLst>
            </p:cNvPr>
            <p:cNvSpPr/>
            <p:nvPr/>
          </p:nvSpPr>
          <p:spPr>
            <a:xfrm>
              <a:off x="1465319" y="0"/>
              <a:ext cx="1626103" cy="393600"/>
            </a:xfrm>
            <a:prstGeom prst="chevron">
              <a:avLst/>
            </a:prstGeom>
          </p:spPr>
          <p:style>
            <a:lnRef idx="3">
              <a:schemeClr val="lt1">
                <a:hueOff val="0"/>
                <a:satOff val="0"/>
                <a:lumOff val="0"/>
                <a:alphaOff val="0"/>
              </a:schemeClr>
            </a:lnRef>
            <a:fillRef idx="1">
              <a:schemeClr val="accent5">
                <a:hueOff val="1679779"/>
                <a:satOff val="472"/>
                <a:lumOff val="-6765"/>
                <a:alphaOff val="0"/>
              </a:schemeClr>
            </a:fillRef>
            <a:effectRef idx="1">
              <a:schemeClr val="accent5">
                <a:hueOff val="1679779"/>
                <a:satOff val="472"/>
                <a:lumOff val="-6765"/>
                <a:alphaOff val="0"/>
              </a:schemeClr>
            </a:effectRef>
            <a:fontRef idx="minor">
              <a:schemeClr val="lt1"/>
            </a:fontRef>
          </p:style>
        </p:sp>
        <p:sp>
          <p:nvSpPr>
            <p:cNvPr id="17" name="Arrow: Chevron 4">
              <a:extLst>
                <a:ext uri="{FF2B5EF4-FFF2-40B4-BE49-F238E27FC236}">
                  <a16:creationId xmlns:a16="http://schemas.microsoft.com/office/drawing/2014/main" id="{0F7822A9-EBED-4B6B-9448-64C2E7638309}"/>
                </a:ext>
              </a:extLst>
            </p:cNvPr>
            <p:cNvSpPr txBox="1"/>
            <p:nvPr/>
          </p:nvSpPr>
          <p:spPr>
            <a:xfrm>
              <a:off x="1662119" y="0"/>
              <a:ext cx="1232503" cy="393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5344" tIns="28448" rIns="28448" bIns="28448" numCol="1" spcCol="127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defTabSz="948243">
                <a:lnSpc>
                  <a:spcPct val="90000"/>
                </a:lnSpc>
                <a:spcBef>
                  <a:spcPct val="0"/>
                </a:spcBef>
                <a:spcAft>
                  <a:spcPct val="35000"/>
                </a:spcAft>
                <a:buNone/>
              </a:pPr>
              <a:r>
                <a:rPr lang="en-US" sz="2133" kern="1200" dirty="0" err="1"/>
                <a:t>Lexing</a:t>
              </a:r>
              <a:endParaRPr lang="en-SG" sz="2133" kern="1200" dirty="0"/>
            </a:p>
          </p:txBody>
        </p:sp>
      </p:grpSp>
      <p:grpSp>
        <p:nvGrpSpPr>
          <p:cNvPr id="18" name="Group 17">
            <a:extLst>
              <a:ext uri="{FF2B5EF4-FFF2-40B4-BE49-F238E27FC236}">
                <a16:creationId xmlns:a16="http://schemas.microsoft.com/office/drawing/2014/main" id="{56CF1D02-85D0-4E84-AEBD-4E215227C2F5}"/>
              </a:ext>
            </a:extLst>
          </p:cNvPr>
          <p:cNvGrpSpPr/>
          <p:nvPr/>
        </p:nvGrpSpPr>
        <p:grpSpPr>
          <a:xfrm>
            <a:off x="4310234" y="4195127"/>
            <a:ext cx="2168137" cy="524800"/>
            <a:chOff x="2928812" y="0"/>
            <a:chExt cx="1626103" cy="393600"/>
          </a:xfrm>
        </p:grpSpPr>
        <p:sp>
          <p:nvSpPr>
            <p:cNvPr id="19" name="Arrow: Chevron 18">
              <a:extLst>
                <a:ext uri="{FF2B5EF4-FFF2-40B4-BE49-F238E27FC236}">
                  <a16:creationId xmlns:a16="http://schemas.microsoft.com/office/drawing/2014/main" id="{3436D361-C2F5-4C8E-955C-0079FAB45071}"/>
                </a:ext>
              </a:extLst>
            </p:cNvPr>
            <p:cNvSpPr/>
            <p:nvPr/>
          </p:nvSpPr>
          <p:spPr>
            <a:xfrm>
              <a:off x="2928812" y="0"/>
              <a:ext cx="1626103" cy="393600"/>
            </a:xfrm>
            <a:prstGeom prst="chevron">
              <a:avLst/>
            </a:prstGeom>
          </p:spPr>
          <p:style>
            <a:lnRef idx="3">
              <a:schemeClr val="lt1">
                <a:hueOff val="0"/>
                <a:satOff val="0"/>
                <a:lumOff val="0"/>
                <a:alphaOff val="0"/>
              </a:schemeClr>
            </a:lnRef>
            <a:fillRef idx="1">
              <a:schemeClr val="accent5">
                <a:hueOff val="3359558"/>
                <a:satOff val="945"/>
                <a:lumOff val="-13530"/>
                <a:alphaOff val="0"/>
              </a:schemeClr>
            </a:fillRef>
            <a:effectRef idx="1">
              <a:schemeClr val="accent5">
                <a:hueOff val="3359558"/>
                <a:satOff val="945"/>
                <a:lumOff val="-13530"/>
                <a:alphaOff val="0"/>
              </a:schemeClr>
            </a:effectRef>
            <a:fontRef idx="minor">
              <a:schemeClr val="lt1"/>
            </a:fontRef>
          </p:style>
        </p:sp>
        <p:sp>
          <p:nvSpPr>
            <p:cNvPr id="20" name="Arrow: Chevron 4">
              <a:extLst>
                <a:ext uri="{FF2B5EF4-FFF2-40B4-BE49-F238E27FC236}">
                  <a16:creationId xmlns:a16="http://schemas.microsoft.com/office/drawing/2014/main" id="{E2228914-6B66-4EE2-944D-CAACE11E7423}"/>
                </a:ext>
              </a:extLst>
            </p:cNvPr>
            <p:cNvSpPr txBox="1"/>
            <p:nvPr/>
          </p:nvSpPr>
          <p:spPr>
            <a:xfrm>
              <a:off x="3125612" y="0"/>
              <a:ext cx="1232503" cy="393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5344" tIns="28448" rIns="28448" bIns="28448" numCol="1" spcCol="127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defTabSz="948243">
                <a:lnSpc>
                  <a:spcPct val="90000"/>
                </a:lnSpc>
                <a:spcBef>
                  <a:spcPct val="0"/>
                </a:spcBef>
                <a:spcAft>
                  <a:spcPct val="35000"/>
                </a:spcAft>
                <a:buNone/>
              </a:pPr>
              <a:r>
                <a:rPr lang="en-US" sz="2133" kern="1200" dirty="0"/>
                <a:t>Parsing</a:t>
              </a:r>
              <a:endParaRPr lang="en-SG" sz="2133" kern="1200" dirty="0"/>
            </a:p>
          </p:txBody>
        </p:sp>
      </p:grpSp>
      <p:grpSp>
        <p:nvGrpSpPr>
          <p:cNvPr id="22" name="Group 21">
            <a:extLst>
              <a:ext uri="{FF2B5EF4-FFF2-40B4-BE49-F238E27FC236}">
                <a16:creationId xmlns:a16="http://schemas.microsoft.com/office/drawing/2014/main" id="{2919D100-F416-465C-9BB5-FDF26B3CA886}"/>
              </a:ext>
            </a:extLst>
          </p:cNvPr>
          <p:cNvGrpSpPr/>
          <p:nvPr/>
        </p:nvGrpSpPr>
        <p:grpSpPr>
          <a:xfrm>
            <a:off x="4310234" y="5073389"/>
            <a:ext cx="2168137" cy="524800"/>
            <a:chOff x="4392305" y="0"/>
            <a:chExt cx="1626103" cy="393600"/>
          </a:xfrm>
        </p:grpSpPr>
        <p:sp>
          <p:nvSpPr>
            <p:cNvPr id="23" name="Arrow: Chevron 22">
              <a:extLst>
                <a:ext uri="{FF2B5EF4-FFF2-40B4-BE49-F238E27FC236}">
                  <a16:creationId xmlns:a16="http://schemas.microsoft.com/office/drawing/2014/main" id="{E3CC45ED-70BA-4FB8-977F-AB4FAB67ECDA}"/>
                </a:ext>
              </a:extLst>
            </p:cNvPr>
            <p:cNvSpPr/>
            <p:nvPr/>
          </p:nvSpPr>
          <p:spPr>
            <a:xfrm>
              <a:off x="4392305" y="0"/>
              <a:ext cx="1626103" cy="393600"/>
            </a:xfrm>
            <a:prstGeom prst="chevron">
              <a:avLst/>
            </a:prstGeom>
          </p:spPr>
          <p:style>
            <a:lnRef idx="3">
              <a:schemeClr val="lt1">
                <a:hueOff val="0"/>
                <a:satOff val="0"/>
                <a:lumOff val="0"/>
                <a:alphaOff val="0"/>
              </a:schemeClr>
            </a:lnRef>
            <a:fillRef idx="1">
              <a:schemeClr val="accent5">
                <a:hueOff val="5039337"/>
                <a:satOff val="1417"/>
                <a:lumOff val="-20295"/>
                <a:alphaOff val="0"/>
              </a:schemeClr>
            </a:fillRef>
            <a:effectRef idx="1">
              <a:schemeClr val="accent5">
                <a:hueOff val="5039337"/>
                <a:satOff val="1417"/>
                <a:lumOff val="-20295"/>
                <a:alphaOff val="0"/>
              </a:schemeClr>
            </a:effectRef>
            <a:fontRef idx="minor">
              <a:schemeClr val="lt1"/>
            </a:fontRef>
          </p:style>
        </p:sp>
        <p:sp>
          <p:nvSpPr>
            <p:cNvPr id="24" name="Arrow: Chevron 4">
              <a:extLst>
                <a:ext uri="{FF2B5EF4-FFF2-40B4-BE49-F238E27FC236}">
                  <a16:creationId xmlns:a16="http://schemas.microsoft.com/office/drawing/2014/main" id="{F125BB3F-93C2-4F31-AC22-D196FF6E8328}"/>
                </a:ext>
              </a:extLst>
            </p:cNvPr>
            <p:cNvSpPr txBox="1"/>
            <p:nvPr/>
          </p:nvSpPr>
          <p:spPr>
            <a:xfrm>
              <a:off x="4589105" y="0"/>
              <a:ext cx="1232503" cy="393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5344" tIns="28448" rIns="28448" bIns="28448" numCol="1" spcCol="127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defTabSz="948243">
                <a:lnSpc>
                  <a:spcPct val="90000"/>
                </a:lnSpc>
                <a:spcBef>
                  <a:spcPct val="0"/>
                </a:spcBef>
                <a:spcAft>
                  <a:spcPct val="35000"/>
                </a:spcAft>
                <a:buNone/>
              </a:pPr>
              <a:r>
                <a:rPr lang="en-US" sz="2133" kern="1200" dirty="0"/>
                <a:t>Execution</a:t>
              </a:r>
              <a:endParaRPr lang="en-SG" sz="2133" kern="1200" dirty="0"/>
            </a:p>
          </p:txBody>
        </p:sp>
      </p:grpSp>
      <p:grpSp>
        <p:nvGrpSpPr>
          <p:cNvPr id="25" name="Group 24">
            <a:extLst>
              <a:ext uri="{FF2B5EF4-FFF2-40B4-BE49-F238E27FC236}">
                <a16:creationId xmlns:a16="http://schemas.microsoft.com/office/drawing/2014/main" id="{1258E974-E984-4573-903C-BFEEF16F5301}"/>
              </a:ext>
            </a:extLst>
          </p:cNvPr>
          <p:cNvGrpSpPr/>
          <p:nvPr/>
        </p:nvGrpSpPr>
        <p:grpSpPr>
          <a:xfrm>
            <a:off x="4310234" y="5951653"/>
            <a:ext cx="2168137" cy="524800"/>
            <a:chOff x="5855798" y="0"/>
            <a:chExt cx="1626103" cy="393600"/>
          </a:xfrm>
        </p:grpSpPr>
        <p:sp>
          <p:nvSpPr>
            <p:cNvPr id="26" name="Arrow: Chevron 25">
              <a:extLst>
                <a:ext uri="{FF2B5EF4-FFF2-40B4-BE49-F238E27FC236}">
                  <a16:creationId xmlns:a16="http://schemas.microsoft.com/office/drawing/2014/main" id="{58D68A81-5419-4ECB-B5CD-5086FB821C9C}"/>
                </a:ext>
              </a:extLst>
            </p:cNvPr>
            <p:cNvSpPr/>
            <p:nvPr/>
          </p:nvSpPr>
          <p:spPr>
            <a:xfrm>
              <a:off x="5855798" y="0"/>
              <a:ext cx="1626103" cy="393600"/>
            </a:xfrm>
            <a:prstGeom prst="chevron">
              <a:avLst/>
            </a:prstGeom>
          </p:spPr>
          <p:style>
            <a:lnRef idx="3">
              <a:schemeClr val="lt1">
                <a:hueOff val="0"/>
                <a:satOff val="0"/>
                <a:lumOff val="0"/>
                <a:alphaOff val="0"/>
              </a:schemeClr>
            </a:lnRef>
            <a:fillRef idx="1">
              <a:schemeClr val="accent5">
                <a:hueOff val="6719117"/>
                <a:satOff val="1889"/>
                <a:lumOff val="-27060"/>
                <a:alphaOff val="0"/>
              </a:schemeClr>
            </a:fillRef>
            <a:effectRef idx="1">
              <a:schemeClr val="accent5">
                <a:hueOff val="6719117"/>
                <a:satOff val="1889"/>
                <a:lumOff val="-27060"/>
                <a:alphaOff val="0"/>
              </a:schemeClr>
            </a:effectRef>
            <a:fontRef idx="minor">
              <a:schemeClr val="lt1"/>
            </a:fontRef>
          </p:style>
        </p:sp>
        <p:sp>
          <p:nvSpPr>
            <p:cNvPr id="27" name="Arrow: Chevron 4">
              <a:extLst>
                <a:ext uri="{FF2B5EF4-FFF2-40B4-BE49-F238E27FC236}">
                  <a16:creationId xmlns:a16="http://schemas.microsoft.com/office/drawing/2014/main" id="{9E52F02B-52DD-4D11-B1E7-B1C2669B89FD}"/>
                </a:ext>
              </a:extLst>
            </p:cNvPr>
            <p:cNvSpPr txBox="1"/>
            <p:nvPr/>
          </p:nvSpPr>
          <p:spPr>
            <a:xfrm>
              <a:off x="6052598" y="0"/>
              <a:ext cx="1232503" cy="393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5344" tIns="28448" rIns="28448" bIns="28448" numCol="1" spcCol="127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defTabSz="948243">
                <a:lnSpc>
                  <a:spcPct val="90000"/>
                </a:lnSpc>
                <a:spcBef>
                  <a:spcPct val="0"/>
                </a:spcBef>
                <a:spcAft>
                  <a:spcPct val="35000"/>
                </a:spcAft>
                <a:buNone/>
              </a:pPr>
              <a:r>
                <a:rPr lang="en-US" sz="2133" kern="1200" dirty="0"/>
                <a:t>Cleanup</a:t>
              </a:r>
              <a:endParaRPr lang="en-SG" sz="2133" kern="1200" dirty="0"/>
            </a:p>
          </p:txBody>
        </p:sp>
      </p:grpSp>
      <p:sp>
        <p:nvSpPr>
          <p:cNvPr id="28" name="Parallelogram 27">
            <a:extLst>
              <a:ext uri="{FF2B5EF4-FFF2-40B4-BE49-F238E27FC236}">
                <a16:creationId xmlns:a16="http://schemas.microsoft.com/office/drawing/2014/main" id="{B03ED5BD-21D4-41CB-9631-0C9C9C713D8A}"/>
              </a:ext>
            </a:extLst>
          </p:cNvPr>
          <p:cNvSpPr/>
          <p:nvPr/>
        </p:nvSpPr>
        <p:spPr>
          <a:xfrm>
            <a:off x="2254519" y="2468798"/>
            <a:ext cx="1341997" cy="552757"/>
          </a:xfrm>
          <a:prstGeom prst="parallelogram">
            <a:avLst/>
          </a:prstGeom>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User input</a:t>
            </a:r>
          </a:p>
        </p:txBody>
      </p:sp>
      <p:sp>
        <p:nvSpPr>
          <p:cNvPr id="29" name="Parallelogram 28">
            <a:extLst>
              <a:ext uri="{FF2B5EF4-FFF2-40B4-BE49-F238E27FC236}">
                <a16:creationId xmlns:a16="http://schemas.microsoft.com/office/drawing/2014/main" id="{ADEF749F-44E6-4FC7-8C8E-4C8101F7FAE6}"/>
              </a:ext>
            </a:extLst>
          </p:cNvPr>
          <p:cNvSpPr/>
          <p:nvPr/>
        </p:nvSpPr>
        <p:spPr>
          <a:xfrm>
            <a:off x="6869330" y="2468798"/>
            <a:ext cx="1341997" cy="552757"/>
          </a:xfrm>
          <a:prstGeom prst="parallelogram">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String</a:t>
            </a:r>
          </a:p>
        </p:txBody>
      </p:sp>
      <p:sp>
        <p:nvSpPr>
          <p:cNvPr id="30" name="Parallelogram 29">
            <a:extLst>
              <a:ext uri="{FF2B5EF4-FFF2-40B4-BE49-F238E27FC236}">
                <a16:creationId xmlns:a16="http://schemas.microsoft.com/office/drawing/2014/main" id="{898C3BC2-3D4B-4AF3-9DEC-7DB549AE9424}"/>
              </a:ext>
            </a:extLst>
          </p:cNvPr>
          <p:cNvSpPr/>
          <p:nvPr/>
        </p:nvSpPr>
        <p:spPr>
          <a:xfrm>
            <a:off x="2254519" y="3325100"/>
            <a:ext cx="1341997" cy="552757"/>
          </a:xfrm>
          <a:prstGeom prst="parallelogram">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String</a:t>
            </a:r>
          </a:p>
        </p:txBody>
      </p:sp>
      <p:sp>
        <p:nvSpPr>
          <p:cNvPr id="31" name="Parallelogram 30">
            <a:extLst>
              <a:ext uri="{FF2B5EF4-FFF2-40B4-BE49-F238E27FC236}">
                <a16:creationId xmlns:a16="http://schemas.microsoft.com/office/drawing/2014/main" id="{A61DD121-D268-4103-901A-8FF03FAB2B48}"/>
              </a:ext>
            </a:extLst>
          </p:cNvPr>
          <p:cNvSpPr/>
          <p:nvPr/>
        </p:nvSpPr>
        <p:spPr>
          <a:xfrm>
            <a:off x="6869330" y="3325100"/>
            <a:ext cx="1341997" cy="552757"/>
          </a:xfrm>
          <a:prstGeom prst="parallelogram">
            <a:avLst/>
          </a:prstGeom>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Token list</a:t>
            </a:r>
          </a:p>
        </p:txBody>
      </p:sp>
      <p:sp>
        <p:nvSpPr>
          <p:cNvPr id="32" name="Parallelogram 31">
            <a:extLst>
              <a:ext uri="{FF2B5EF4-FFF2-40B4-BE49-F238E27FC236}">
                <a16:creationId xmlns:a16="http://schemas.microsoft.com/office/drawing/2014/main" id="{49B3454B-A87B-4DEE-910F-B266F051EC67}"/>
              </a:ext>
            </a:extLst>
          </p:cNvPr>
          <p:cNvSpPr/>
          <p:nvPr/>
        </p:nvSpPr>
        <p:spPr>
          <a:xfrm>
            <a:off x="2254519" y="4195127"/>
            <a:ext cx="1341997" cy="552757"/>
          </a:xfrm>
          <a:prstGeom prst="parallelogram">
            <a:avLst/>
          </a:prstGeom>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Token list</a:t>
            </a:r>
          </a:p>
        </p:txBody>
      </p:sp>
      <p:sp>
        <p:nvSpPr>
          <p:cNvPr id="35" name="Parallelogram 34">
            <a:extLst>
              <a:ext uri="{FF2B5EF4-FFF2-40B4-BE49-F238E27FC236}">
                <a16:creationId xmlns:a16="http://schemas.microsoft.com/office/drawing/2014/main" id="{248AE32F-21CF-4495-98F1-9531C8481C78}"/>
              </a:ext>
            </a:extLst>
          </p:cNvPr>
          <p:cNvSpPr/>
          <p:nvPr/>
        </p:nvSpPr>
        <p:spPr>
          <a:xfrm>
            <a:off x="6869330" y="4216095"/>
            <a:ext cx="1341997" cy="552757"/>
          </a:xfrm>
          <a:prstGeom prst="parallelogram">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AST tree</a:t>
            </a:r>
          </a:p>
        </p:txBody>
      </p:sp>
      <p:sp>
        <p:nvSpPr>
          <p:cNvPr id="36" name="Parallelogram 35">
            <a:extLst>
              <a:ext uri="{FF2B5EF4-FFF2-40B4-BE49-F238E27FC236}">
                <a16:creationId xmlns:a16="http://schemas.microsoft.com/office/drawing/2014/main" id="{F0C50F5D-ECD5-472C-9488-9922B55B9F1B}"/>
              </a:ext>
            </a:extLst>
          </p:cNvPr>
          <p:cNvSpPr/>
          <p:nvPr/>
        </p:nvSpPr>
        <p:spPr>
          <a:xfrm>
            <a:off x="2254519" y="5080380"/>
            <a:ext cx="1341997" cy="552757"/>
          </a:xfrm>
          <a:prstGeom prst="parallelogram">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AST tree</a:t>
            </a:r>
          </a:p>
        </p:txBody>
      </p:sp>
      <p:sp>
        <p:nvSpPr>
          <p:cNvPr id="37" name="Rectangle 36">
            <a:extLst>
              <a:ext uri="{FF2B5EF4-FFF2-40B4-BE49-F238E27FC236}">
                <a16:creationId xmlns:a16="http://schemas.microsoft.com/office/drawing/2014/main" id="{5353F5CE-94A2-4ED4-8EDA-94512AB691C0}"/>
              </a:ext>
            </a:extLst>
          </p:cNvPr>
          <p:cNvSpPr/>
          <p:nvPr/>
        </p:nvSpPr>
        <p:spPr>
          <a:xfrm>
            <a:off x="6869330" y="5080380"/>
            <a:ext cx="1341997" cy="552757"/>
          </a:xfrm>
          <a:prstGeom prst="rect">
            <a:avLst/>
          </a:prstGeom>
          <a:ln>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Execution Success</a:t>
            </a:r>
          </a:p>
        </p:txBody>
      </p:sp>
      <p:sp>
        <p:nvSpPr>
          <p:cNvPr id="38" name="Rectangle 37">
            <a:extLst>
              <a:ext uri="{FF2B5EF4-FFF2-40B4-BE49-F238E27FC236}">
                <a16:creationId xmlns:a16="http://schemas.microsoft.com/office/drawing/2014/main" id="{B06B8F0A-BCDC-4CF6-8CC3-1A3E55D2E339}"/>
              </a:ext>
            </a:extLst>
          </p:cNvPr>
          <p:cNvSpPr/>
          <p:nvPr/>
        </p:nvSpPr>
        <p:spPr>
          <a:xfrm>
            <a:off x="2273523" y="5951654"/>
            <a:ext cx="1341997" cy="552757"/>
          </a:xfrm>
          <a:prstGeom prst="rect">
            <a:avLst/>
          </a:prstGeom>
          <a:ln>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Execution Success</a:t>
            </a:r>
          </a:p>
        </p:txBody>
      </p:sp>
      <p:sp>
        <p:nvSpPr>
          <p:cNvPr id="39" name="Rectangle 38">
            <a:extLst>
              <a:ext uri="{FF2B5EF4-FFF2-40B4-BE49-F238E27FC236}">
                <a16:creationId xmlns:a16="http://schemas.microsoft.com/office/drawing/2014/main" id="{5985171E-60A9-4C88-B909-DAA3430F5187}"/>
              </a:ext>
            </a:extLst>
          </p:cNvPr>
          <p:cNvSpPr/>
          <p:nvPr/>
        </p:nvSpPr>
        <p:spPr>
          <a:xfrm>
            <a:off x="6869330" y="5944666"/>
            <a:ext cx="1341997" cy="552757"/>
          </a:xfrm>
          <a:prstGeom prst="rect">
            <a:avLst/>
          </a:prstGeom>
          <a:ln>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SG" sz="1333" dirty="0">
                <a:solidFill>
                  <a:schemeClr val="tx1"/>
                </a:solidFill>
              </a:rPr>
              <a:t>All cleared</a:t>
            </a:r>
          </a:p>
        </p:txBody>
      </p:sp>
    </p:spTree>
    <p:extLst>
      <p:ext uri="{BB962C8B-B14F-4D97-AF65-F5344CB8AC3E}">
        <p14:creationId xmlns:p14="http://schemas.microsoft.com/office/powerpoint/2010/main" val="3874443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802A-D50F-A012-619D-872D9A3D54E0}"/>
              </a:ext>
            </a:extLst>
          </p:cNvPr>
          <p:cNvSpPr>
            <a:spLocks noGrp="1"/>
          </p:cNvSpPr>
          <p:nvPr>
            <p:ph type="title"/>
          </p:nvPr>
        </p:nvSpPr>
        <p:spPr>
          <a:xfrm>
            <a:off x="755650" y="409046"/>
            <a:ext cx="9601200" cy="1309687"/>
          </a:xfrm>
        </p:spPr>
        <p:txBody>
          <a:bodyPr vert="horz" lIns="91440" tIns="45720" rIns="91440" bIns="45720" rtlCol="0" anchor="t">
            <a:normAutofit/>
          </a:bodyPr>
          <a:lstStyle/>
          <a:p>
            <a:r>
              <a:rPr lang="en-US"/>
              <a:t>Lexing (Sequential + concurrent)</a:t>
            </a:r>
          </a:p>
        </p:txBody>
      </p:sp>
      <p:graphicFrame>
        <p:nvGraphicFramePr>
          <p:cNvPr id="24" name="Content Placeholder 23">
            <a:extLst>
              <a:ext uri="{FF2B5EF4-FFF2-40B4-BE49-F238E27FC236}">
                <a16:creationId xmlns:a16="http://schemas.microsoft.com/office/drawing/2014/main" id="{03A66FF5-6CB6-5D72-93E8-7C3F5630DFAA}"/>
              </a:ext>
            </a:extLst>
          </p:cNvPr>
          <p:cNvGraphicFramePr>
            <a:graphicFrameLocks noGrp="1"/>
          </p:cNvGraphicFramePr>
          <p:nvPr>
            <p:ph idx="1"/>
            <p:extLst>
              <p:ext uri="{D42A27DB-BD31-4B8C-83A1-F6EECF244321}">
                <p14:modId xmlns:p14="http://schemas.microsoft.com/office/powerpoint/2010/main" val="4075561131"/>
              </p:ext>
            </p:extLst>
          </p:nvPr>
        </p:nvGraphicFramePr>
        <p:xfrm>
          <a:off x="751416" y="1121833"/>
          <a:ext cx="11067455" cy="5410197"/>
        </p:xfrm>
        <a:graphic>
          <a:graphicData uri="http://schemas.openxmlformats.org/drawingml/2006/table">
            <a:tbl>
              <a:tblPr firstRow="1" bandRow="1">
                <a:tableStyleId>{5C22544A-7EE6-4342-B048-85BDC9FD1C3A}</a:tableStyleId>
              </a:tblPr>
              <a:tblGrid>
                <a:gridCol w="2805545">
                  <a:extLst>
                    <a:ext uri="{9D8B030D-6E8A-4147-A177-3AD203B41FA5}">
                      <a16:colId xmlns:a16="http://schemas.microsoft.com/office/drawing/2014/main" val="2615497210"/>
                    </a:ext>
                  </a:extLst>
                </a:gridCol>
                <a:gridCol w="8261910">
                  <a:extLst>
                    <a:ext uri="{9D8B030D-6E8A-4147-A177-3AD203B41FA5}">
                      <a16:colId xmlns:a16="http://schemas.microsoft.com/office/drawing/2014/main" val="1910558492"/>
                    </a:ext>
                  </a:extLst>
                </a:gridCol>
              </a:tblGrid>
              <a:tr h="370840">
                <a:tc>
                  <a:txBody>
                    <a:bodyPr/>
                    <a:lstStyle/>
                    <a:p>
                      <a:pPr lvl="0">
                        <a:buNone/>
                      </a:pPr>
                      <a:r>
                        <a:rPr lang="en-US" sz="1600" b="0" i="0" u="none" strike="noStrike" noProof="0">
                          <a:latin typeface="Univers Light"/>
                        </a:rPr>
                        <a:t>Step</a:t>
                      </a:r>
                      <a:endParaRPr lang="en-US" sz="1600" b="0">
                        <a:latin typeface="Univers Light"/>
                      </a:endParaRPr>
                    </a:p>
                  </a:txBody>
                  <a:tcPr/>
                </a:tc>
                <a:tc>
                  <a:txBody>
                    <a:bodyPr/>
                    <a:lstStyle/>
                    <a:p>
                      <a:pPr lvl="0">
                        <a:buNone/>
                      </a:pPr>
                      <a:r>
                        <a:rPr lang="en-US" sz="1600" b="0" i="0" u="none" strike="noStrike" noProof="0">
                          <a:latin typeface="Univers Light"/>
                        </a:rPr>
                        <a:t>Description</a:t>
                      </a:r>
                      <a:endParaRPr lang="en-US" sz="1600" b="0">
                        <a:latin typeface="Univers Light"/>
                      </a:endParaRPr>
                    </a:p>
                  </a:txBody>
                  <a:tcPr/>
                </a:tc>
                <a:extLst>
                  <a:ext uri="{0D108BD9-81ED-4DB2-BD59-A6C34878D82A}">
                    <a16:rowId xmlns:a16="http://schemas.microsoft.com/office/drawing/2014/main" val="4275149534"/>
                  </a:ext>
                </a:extLst>
              </a:tr>
              <a:tr h="370840">
                <a:tc>
                  <a:txBody>
                    <a:bodyPr/>
                    <a:lstStyle/>
                    <a:p>
                      <a:pPr lvl="0" algn="l">
                        <a:buNone/>
                      </a:pPr>
                      <a:r>
                        <a:rPr lang="en-US" sz="1400" b="0" i="0" u="none" strike="noStrike" noProof="0">
                          <a:solidFill>
                            <a:srgbClr val="FF0000"/>
                          </a:solidFill>
                        </a:rPr>
                        <a:t>1. Read Input </a:t>
                      </a:r>
                      <a:endParaRPr lang="en-US">
                        <a:solidFill>
                          <a:srgbClr val="FF0000"/>
                        </a:solidFill>
                      </a:endParaRPr>
                    </a:p>
                  </a:txBody>
                  <a:tcPr/>
                </a:tc>
                <a:tc>
                  <a:txBody>
                    <a:bodyPr/>
                    <a:lstStyle/>
                    <a:p>
                      <a:pPr lvl="0">
                        <a:buNone/>
                      </a:pPr>
                      <a:r>
                        <a:rPr lang="en-US" sz="1400" b="0" i="0" u="none" strike="noStrike" noProof="0">
                          <a:solidFill>
                            <a:srgbClr val="FF0000"/>
                          </a:solidFill>
                        </a:rPr>
                        <a:t>Bash reads the input line (from user or script) into memory. </a:t>
                      </a:r>
                    </a:p>
                  </a:txBody>
                  <a:tcPr/>
                </a:tc>
                <a:extLst>
                  <a:ext uri="{0D108BD9-81ED-4DB2-BD59-A6C34878D82A}">
                    <a16:rowId xmlns:a16="http://schemas.microsoft.com/office/drawing/2014/main" val="898591151"/>
                  </a:ext>
                </a:extLst>
              </a:tr>
              <a:tr h="370840">
                <a:tc>
                  <a:txBody>
                    <a:bodyPr/>
                    <a:lstStyle/>
                    <a:p>
                      <a:pPr lvl="0">
                        <a:buNone/>
                      </a:pPr>
                      <a:r>
                        <a:rPr lang="en-US" sz="1400" b="0" i="0" u="none" strike="noStrike" noProof="0"/>
                        <a:t>2. Handle Line Continuation </a:t>
                      </a:r>
                      <a:endParaRPr lang="en-US"/>
                    </a:p>
                  </a:txBody>
                  <a:tcPr/>
                </a:tc>
                <a:tc>
                  <a:txBody>
                    <a:bodyPr/>
                    <a:lstStyle/>
                    <a:p>
                      <a:pPr lvl="0">
                        <a:buNone/>
                      </a:pPr>
                      <a:r>
                        <a:rPr lang="en-US" sz="1400" b="0" i="0" u="none" strike="noStrike" noProof="0"/>
                        <a:t>If the input contains a backslash (\) at the end of a line, Bash treats it as a line continuation and merges lines.</a:t>
                      </a:r>
                    </a:p>
                  </a:txBody>
                  <a:tcPr/>
                </a:tc>
                <a:extLst>
                  <a:ext uri="{0D108BD9-81ED-4DB2-BD59-A6C34878D82A}">
                    <a16:rowId xmlns:a16="http://schemas.microsoft.com/office/drawing/2014/main" val="3345000842"/>
                  </a:ext>
                </a:extLst>
              </a:tr>
              <a:tr h="370840">
                <a:tc>
                  <a:txBody>
                    <a:bodyPr/>
                    <a:lstStyle/>
                    <a:p>
                      <a:pPr lvl="0">
                        <a:buNone/>
                      </a:pPr>
                      <a:r>
                        <a:rPr lang="en-US" sz="1400" b="0" i="0" u="none" strike="noStrike" noProof="0">
                          <a:solidFill>
                            <a:srgbClr val="FF0000"/>
                          </a:solidFill>
                        </a:rPr>
                        <a:t>3. Tokenize Input </a:t>
                      </a:r>
                      <a:endParaRPr lang="en-US"/>
                    </a:p>
                  </a:txBody>
                  <a:tcPr/>
                </a:tc>
                <a:tc>
                  <a:txBody>
                    <a:bodyPr/>
                    <a:lstStyle/>
                    <a:p>
                      <a:pPr lvl="0">
                        <a:buNone/>
                      </a:pPr>
                      <a:r>
                        <a:rPr lang="en-US" sz="1400" b="0" i="0" u="none" strike="noStrike" noProof="0">
                          <a:solidFill>
                            <a:srgbClr val="FF0000"/>
                          </a:solidFill>
                        </a:rPr>
                        <a:t>Bash scans the input to break it into tokens (words, operators, or control structures). </a:t>
                      </a:r>
                      <a:endParaRPr lang="en-US"/>
                    </a:p>
                  </a:txBody>
                  <a:tcPr/>
                </a:tc>
                <a:extLst>
                  <a:ext uri="{0D108BD9-81ED-4DB2-BD59-A6C34878D82A}">
                    <a16:rowId xmlns:a16="http://schemas.microsoft.com/office/drawing/2014/main" val="77957309"/>
                  </a:ext>
                </a:extLst>
              </a:tr>
              <a:tr h="370840">
                <a:tc>
                  <a:txBody>
                    <a:bodyPr/>
                    <a:lstStyle/>
                    <a:p>
                      <a:pPr lvl="0">
                        <a:buNone/>
                      </a:pPr>
                      <a:r>
                        <a:rPr lang="en-US" sz="1400" b="0" i="0" u="none" strike="noStrike" noProof="0">
                          <a:solidFill>
                            <a:srgbClr val="FF0000"/>
                          </a:solidFill>
                        </a:rPr>
                        <a:t>3.1. Handle Quoting </a:t>
                      </a:r>
                      <a:endParaRPr lang="en-US">
                        <a:solidFill>
                          <a:srgbClr val="FF0000"/>
                        </a:solidFill>
                      </a:endParaRPr>
                    </a:p>
                  </a:txBody>
                  <a:tcPr/>
                </a:tc>
                <a:tc>
                  <a:txBody>
                    <a:bodyPr/>
                    <a:lstStyle/>
                    <a:p>
                      <a:pPr lvl="0">
                        <a:buNone/>
                      </a:pPr>
                      <a:r>
                        <a:rPr lang="en-US" sz="1400" b="0" i="0" u="none" strike="noStrike" noProof="0">
                          <a:solidFill>
                            <a:schemeClr val="tx1"/>
                          </a:solidFill>
                        </a:rPr>
                        <a:t>Bash identifies and handles </a:t>
                      </a:r>
                      <a:r>
                        <a:rPr lang="en-US" sz="1400" b="0" i="0" u="none" strike="noStrike" noProof="0">
                          <a:solidFill>
                            <a:srgbClr val="FF0000"/>
                          </a:solidFill>
                        </a:rPr>
                        <a:t>single ('), double (") quotes</a:t>
                      </a:r>
                      <a:r>
                        <a:rPr lang="en-US" sz="1400" b="0" i="0" u="none" strike="noStrike" noProof="0">
                          <a:solidFill>
                            <a:schemeClr val="tx1"/>
                          </a:solidFill>
                        </a:rPr>
                        <a:t>, and backslashes (\), each with different effects on tokenization. </a:t>
                      </a:r>
                      <a:endParaRPr lang="en-US">
                        <a:solidFill>
                          <a:schemeClr val="tx1"/>
                        </a:solidFill>
                      </a:endParaRPr>
                    </a:p>
                  </a:txBody>
                  <a:tcPr/>
                </a:tc>
                <a:extLst>
                  <a:ext uri="{0D108BD9-81ED-4DB2-BD59-A6C34878D82A}">
                    <a16:rowId xmlns:a16="http://schemas.microsoft.com/office/drawing/2014/main" val="2564535257"/>
                  </a:ext>
                </a:extLst>
              </a:tr>
              <a:tr h="370839">
                <a:tc>
                  <a:txBody>
                    <a:bodyPr/>
                    <a:lstStyle/>
                    <a:p>
                      <a:pPr lvl="0">
                        <a:buNone/>
                      </a:pPr>
                      <a:r>
                        <a:rPr lang="en-US" sz="1400" b="0" i="0" u="none" strike="noStrike" noProof="0">
                          <a:solidFill>
                            <a:srgbClr val="FF0000"/>
                          </a:solidFill>
                        </a:rPr>
                        <a:t>3.2 Handle brackets</a:t>
                      </a:r>
                    </a:p>
                  </a:txBody>
                  <a:tcPr/>
                </a:tc>
                <a:tc>
                  <a:txBody>
                    <a:bodyPr/>
                    <a:lstStyle/>
                    <a:p>
                      <a:pPr marL="0" lvl="0" indent="0" algn="l">
                        <a:buNone/>
                      </a:pPr>
                      <a:r>
                        <a:rPr lang="en-US" sz="1400" b="0" i="0" u="none" strike="noStrike" noProof="0">
                          <a:solidFill>
                            <a:srgbClr val="FF0000"/>
                          </a:solidFill>
                        </a:rPr>
                        <a:t>Brackets include </a:t>
                      </a:r>
                      <a:r>
                        <a:rPr lang="en-US" sz="1400" b="0" i="0" u="none" strike="noStrike" noProof="0">
                          <a:solidFill>
                            <a:srgbClr val="FF0000"/>
                          </a:solidFill>
                          <a:latin typeface="Univers Light"/>
                        </a:rPr>
                        <a:t>Parentheses ( ), Square brackets [ ], Curly braces { }, Double square brackets [[ ]]</a:t>
                      </a:r>
                      <a:endParaRPr lang="en-US" sz="1400" b="0" i="0" u="none" strike="noStrike" noProof="0">
                        <a:solidFill>
                          <a:srgbClr val="FF0000"/>
                        </a:solidFill>
                      </a:endParaRPr>
                    </a:p>
                  </a:txBody>
                  <a:tcPr/>
                </a:tc>
                <a:extLst>
                  <a:ext uri="{0D108BD9-81ED-4DB2-BD59-A6C34878D82A}">
                    <a16:rowId xmlns:a16="http://schemas.microsoft.com/office/drawing/2014/main" val="1596510616"/>
                  </a:ext>
                </a:extLst>
              </a:tr>
              <a:tr h="370840">
                <a:tc>
                  <a:txBody>
                    <a:bodyPr/>
                    <a:lstStyle/>
                    <a:p>
                      <a:pPr lvl="0">
                        <a:buNone/>
                      </a:pPr>
                      <a:r>
                        <a:rPr lang="en-US" sz="1400" b="0" i="0" u="none" strike="noStrike" noProof="0"/>
                        <a:t>3.3. Handle Comments </a:t>
                      </a:r>
                      <a:endParaRPr lang="en-US"/>
                    </a:p>
                  </a:txBody>
                  <a:tcPr/>
                </a:tc>
                <a:tc>
                  <a:txBody>
                    <a:bodyPr/>
                    <a:lstStyle/>
                    <a:p>
                      <a:pPr lvl="0">
                        <a:buNone/>
                      </a:pPr>
                      <a:r>
                        <a:rPr lang="en-US" sz="1400" b="0" i="0" u="none" strike="noStrike" noProof="0"/>
                        <a:t>If a # is encountered, Bash ignores the rest of the line (unless within quotes or escaped). </a:t>
                      </a:r>
                      <a:endParaRPr lang="en-US"/>
                    </a:p>
                  </a:txBody>
                  <a:tcPr/>
                </a:tc>
                <a:extLst>
                  <a:ext uri="{0D108BD9-81ED-4DB2-BD59-A6C34878D82A}">
                    <a16:rowId xmlns:a16="http://schemas.microsoft.com/office/drawing/2014/main" val="3178960023"/>
                  </a:ext>
                </a:extLst>
              </a:tr>
              <a:tr h="370840">
                <a:tc>
                  <a:txBody>
                    <a:bodyPr/>
                    <a:lstStyle/>
                    <a:p>
                      <a:pPr lvl="0" algn="l">
                        <a:lnSpc>
                          <a:spcPct val="100000"/>
                        </a:lnSpc>
                        <a:spcBef>
                          <a:spcPts val="0"/>
                        </a:spcBef>
                        <a:spcAft>
                          <a:spcPts val="0"/>
                        </a:spcAft>
                        <a:buNone/>
                      </a:pPr>
                      <a:r>
                        <a:rPr lang="en-US" sz="1400" b="0" i="0" u="none" strike="noStrike" noProof="0"/>
                        <a:t>3.4. Identify Operators</a:t>
                      </a:r>
                      <a:endParaRPr lang="en-US"/>
                    </a:p>
                  </a:txBody>
                  <a:tcPr/>
                </a:tc>
                <a:tc>
                  <a:txBody>
                    <a:bodyPr/>
                    <a:lstStyle/>
                    <a:p>
                      <a:pPr lvl="0">
                        <a:buNone/>
                      </a:pPr>
                      <a:r>
                        <a:rPr lang="en-US" sz="1400" b="0" i="0" u="none" strike="noStrike" noProof="0"/>
                        <a:t>Bash recognizes logical operators like</a:t>
                      </a:r>
                      <a:r>
                        <a:rPr lang="en-US" sz="1400" b="0" i="0" u="none" strike="noStrike" noProof="0">
                          <a:solidFill>
                            <a:srgbClr val="FF0000"/>
                          </a:solidFill>
                        </a:rPr>
                        <a:t> </a:t>
                      </a:r>
                      <a:r>
                        <a:rPr lang="en-US" sz="1400" b="0" i="0" u="none" strike="noStrike" noProof="0">
                          <a:solidFill>
                            <a:srgbClr val="FF0000"/>
                          </a:solidFill>
                          <a:latin typeface="Univers Light"/>
                        </a:rPr>
                        <a:t>&amp;&amp; (AND), || (OR), </a:t>
                      </a:r>
                      <a:r>
                        <a:rPr lang="en-US" sz="1400" b="0" i="0" u="none" strike="noStrike" noProof="0">
                          <a:solidFill>
                            <a:srgbClr val="FF0000"/>
                          </a:solidFill>
                        </a:rPr>
                        <a:t>Pipe operator: |, </a:t>
                      </a:r>
                      <a:r>
                        <a:rPr lang="en-US" sz="1400" b="0" i="0" u="none" strike="noStrike" noProof="0">
                          <a:latin typeface="Univers Light"/>
                        </a:rPr>
                        <a:t>Command separators: ; (sequential execution), &amp; (background execution), </a:t>
                      </a:r>
                      <a:r>
                        <a:rPr lang="en-US" sz="1400" b="0" i="0" u="none" strike="noStrike" noProof="0"/>
                        <a:t>Arithmetic operators: +, -, *, /, %, etc.</a:t>
                      </a:r>
                      <a:endParaRPr lang="en-US"/>
                    </a:p>
                  </a:txBody>
                  <a:tcPr/>
                </a:tc>
                <a:extLst>
                  <a:ext uri="{0D108BD9-81ED-4DB2-BD59-A6C34878D82A}">
                    <a16:rowId xmlns:a16="http://schemas.microsoft.com/office/drawing/2014/main" val="2521532285"/>
                  </a:ext>
                </a:extLst>
              </a:tr>
              <a:tr h="370840">
                <a:tc>
                  <a:txBody>
                    <a:bodyPr/>
                    <a:lstStyle/>
                    <a:p>
                      <a:pPr lvl="0">
                        <a:buNone/>
                      </a:pPr>
                      <a:r>
                        <a:rPr lang="en-US" sz="1400" b="0" i="0" u="none" strike="noStrike" noProof="0"/>
                        <a:t>3.5. Detect Keywords </a:t>
                      </a:r>
                      <a:endParaRPr lang="en-US"/>
                    </a:p>
                  </a:txBody>
                  <a:tcPr/>
                </a:tc>
                <a:tc>
                  <a:txBody>
                    <a:bodyPr/>
                    <a:lstStyle/>
                    <a:p>
                      <a:pPr lvl="0">
                        <a:buNone/>
                      </a:pPr>
                      <a:r>
                        <a:rPr lang="en-US" sz="1400" b="0" i="0" u="none" strike="noStrike" noProof="0"/>
                        <a:t>Certain tokens are recognized as shell keywords (e.g., if, for, while, do, done, case, </a:t>
                      </a:r>
                      <a:r>
                        <a:rPr lang="en-US" sz="1400" b="0" i="0" u="none" strike="noStrike" noProof="0" err="1"/>
                        <a:t>esac</a:t>
                      </a:r>
                      <a:r>
                        <a:rPr lang="en-US" sz="1400" b="0" i="0" u="none" strike="noStrike" noProof="0"/>
                        <a:t>, etc.). </a:t>
                      </a:r>
                      <a:endParaRPr lang="en-US"/>
                    </a:p>
                  </a:txBody>
                  <a:tcPr/>
                </a:tc>
                <a:extLst>
                  <a:ext uri="{0D108BD9-81ED-4DB2-BD59-A6C34878D82A}">
                    <a16:rowId xmlns:a16="http://schemas.microsoft.com/office/drawing/2014/main" val="1899869305"/>
                  </a:ext>
                </a:extLst>
              </a:tr>
              <a:tr h="370840">
                <a:tc>
                  <a:txBody>
                    <a:bodyPr/>
                    <a:lstStyle/>
                    <a:p>
                      <a:pPr lvl="0">
                        <a:buNone/>
                      </a:pPr>
                      <a:r>
                        <a:rPr lang="en-US" sz="1400" b="0" i="0" u="none" strike="noStrike" noProof="0">
                          <a:solidFill>
                            <a:srgbClr val="FF0000"/>
                          </a:solidFill>
                        </a:rPr>
                        <a:t>3.6. Recognize Redirections </a:t>
                      </a:r>
                      <a:endParaRPr lang="en-US"/>
                    </a:p>
                  </a:txBody>
                  <a:tcPr/>
                </a:tc>
                <a:tc>
                  <a:txBody>
                    <a:bodyPr/>
                    <a:lstStyle/>
                    <a:p>
                      <a:pPr lvl="0" algn="l">
                        <a:lnSpc>
                          <a:spcPct val="100000"/>
                        </a:lnSpc>
                        <a:spcBef>
                          <a:spcPts val="0"/>
                        </a:spcBef>
                        <a:spcAft>
                          <a:spcPts val="0"/>
                        </a:spcAft>
                        <a:buNone/>
                      </a:pPr>
                      <a:r>
                        <a:rPr lang="en-US" sz="1400" b="0" i="0" u="none" strike="noStrike" noProof="0">
                          <a:solidFill>
                            <a:srgbClr val="FF0000"/>
                          </a:solidFill>
                        </a:rPr>
                        <a:t>Bash identifies redirection operators (e.g., &gt;, &gt;&gt;, &lt;, &lt;&lt;, 2&gt;, etc.) and treats them as </a:t>
                      </a:r>
                      <a:r>
                        <a:rPr lang="en-US" sz="1400" b="0" i="0" u="none" strike="noStrike" noProof="0">
                          <a:solidFill>
                            <a:srgbClr val="FF0000"/>
                          </a:solidFill>
                          <a:latin typeface="Univers Light"/>
                        </a:rPr>
                        <a:t>special </a:t>
                      </a:r>
                      <a:r>
                        <a:rPr lang="en-US" sz="1400" b="0" i="0" u="none" strike="noStrike" noProof="0">
                          <a:solidFill>
                            <a:srgbClr val="FF0000"/>
                          </a:solidFill>
                        </a:rPr>
                        <a:t>tokens. </a:t>
                      </a:r>
                      <a:r>
                        <a:rPr lang="en-US" sz="1400" b="0" i="0" u="none" strike="noStrike" noProof="0">
                          <a:solidFill>
                            <a:srgbClr val="FF0000"/>
                          </a:solidFill>
                          <a:latin typeface="Univers Light"/>
                        </a:rPr>
                        <a:t>They affect the execution environment rather than the logic flow, </a:t>
                      </a:r>
                      <a:r>
                        <a:rPr lang="en-US" sz="1400" b="0" i="0" u="none" strike="noStrike" noProof="0">
                          <a:solidFill>
                            <a:srgbClr val="FF0000"/>
                          </a:solidFill>
                        </a:rPr>
                        <a:t>often require additional parsing</a:t>
                      </a:r>
                      <a:endParaRPr lang="en-US"/>
                    </a:p>
                  </a:txBody>
                  <a:tcPr/>
                </a:tc>
                <a:extLst>
                  <a:ext uri="{0D108BD9-81ED-4DB2-BD59-A6C34878D82A}">
                    <a16:rowId xmlns:a16="http://schemas.microsoft.com/office/drawing/2014/main" val="3346116072"/>
                  </a:ext>
                </a:extLst>
              </a:tr>
              <a:tr h="370840">
                <a:tc>
                  <a:txBody>
                    <a:bodyPr/>
                    <a:lstStyle/>
                    <a:p>
                      <a:pPr lvl="0">
                        <a:buNone/>
                      </a:pPr>
                      <a:r>
                        <a:rPr lang="en-US" sz="1400" b="0" i="0" u="none" strike="noStrike" noProof="0">
                          <a:solidFill>
                            <a:schemeClr val="tx1"/>
                          </a:solidFill>
                        </a:rPr>
                        <a:t>3.6. Handle Escape Characters </a:t>
                      </a:r>
                      <a:endParaRPr lang="en-US">
                        <a:solidFill>
                          <a:schemeClr val="tx1"/>
                        </a:solidFill>
                      </a:endParaRPr>
                    </a:p>
                  </a:txBody>
                  <a:tcPr/>
                </a:tc>
                <a:tc>
                  <a:txBody>
                    <a:bodyPr/>
                    <a:lstStyle/>
                    <a:p>
                      <a:pPr lvl="0">
                        <a:buNone/>
                      </a:pPr>
                      <a:r>
                        <a:rPr lang="en-US" sz="1400" b="0" i="0" u="none" strike="noStrike" noProof="0">
                          <a:solidFill>
                            <a:schemeClr val="tx1"/>
                          </a:solidFill>
                        </a:rPr>
                        <a:t>Escape characters (\) are processed to prevent special characters from being interpreted by the shell. </a:t>
                      </a:r>
                      <a:endParaRPr lang="en-US" sz="1400" b="1" i="0" u="none" strike="noStrike" noProof="0">
                        <a:solidFill>
                          <a:schemeClr val="tx1"/>
                        </a:solidFill>
                        <a:latin typeface="Univers Light"/>
                      </a:endParaRPr>
                    </a:p>
                  </a:txBody>
                  <a:tcPr/>
                </a:tc>
                <a:extLst>
                  <a:ext uri="{0D108BD9-81ED-4DB2-BD59-A6C34878D82A}">
                    <a16:rowId xmlns:a16="http://schemas.microsoft.com/office/drawing/2014/main" val="3108345156"/>
                  </a:ext>
                </a:extLst>
              </a:tr>
              <a:tr h="370839">
                <a:tc>
                  <a:txBody>
                    <a:bodyPr/>
                    <a:lstStyle/>
                    <a:p>
                      <a:pPr lvl="0">
                        <a:buNone/>
                      </a:pPr>
                      <a:r>
                        <a:rPr lang="en-US" sz="1400" b="0" i="0" u="none" strike="noStrike" noProof="0">
                          <a:solidFill>
                            <a:srgbClr val="FF0000"/>
                          </a:solidFill>
                        </a:rPr>
                        <a:t>4. Variable Expansion Check </a:t>
                      </a:r>
                      <a:endParaRPr lang="en-US"/>
                    </a:p>
                  </a:txBody>
                  <a:tcPr/>
                </a:tc>
                <a:tc>
                  <a:txBody>
                    <a:bodyPr/>
                    <a:lstStyle/>
                    <a:p>
                      <a:pPr lvl="0">
                        <a:buNone/>
                      </a:pPr>
                      <a:r>
                        <a:rPr lang="en-US" sz="1400" b="0" i="0" u="none" strike="noStrike" noProof="0">
                          <a:solidFill>
                            <a:srgbClr val="FF0000"/>
                          </a:solidFill>
                        </a:rPr>
                        <a:t>After tokens are identified, Bash checks if any token requires variable expansion. </a:t>
                      </a:r>
                      <a:endParaRPr lang="en-US"/>
                    </a:p>
                  </a:txBody>
                  <a:tcPr/>
                </a:tc>
                <a:extLst>
                  <a:ext uri="{0D108BD9-81ED-4DB2-BD59-A6C34878D82A}">
                    <a16:rowId xmlns:a16="http://schemas.microsoft.com/office/drawing/2014/main" val="2778069372"/>
                  </a:ext>
                </a:extLst>
              </a:tr>
              <a:tr h="370839">
                <a:tc>
                  <a:txBody>
                    <a:bodyPr/>
                    <a:lstStyle/>
                    <a:p>
                      <a:pPr lvl="0">
                        <a:buNone/>
                      </a:pPr>
                      <a:r>
                        <a:rPr lang="en-US" sz="1400" b="0" i="0" u="none" strike="noStrike" noProof="0">
                          <a:solidFill>
                            <a:srgbClr val="FF0000"/>
                          </a:solidFill>
                        </a:rPr>
                        <a:t>5. Handle Special Characters </a:t>
                      </a:r>
                      <a:endParaRPr lang="en-US"/>
                    </a:p>
                  </a:txBody>
                  <a:tcPr/>
                </a:tc>
                <a:tc>
                  <a:txBody>
                    <a:bodyPr/>
                    <a:lstStyle/>
                    <a:p>
                      <a:pPr lvl="0">
                        <a:buNone/>
                      </a:pPr>
                      <a:r>
                        <a:rPr lang="en-US" sz="1400" b="0" i="0" u="none" strike="noStrike" noProof="0">
                          <a:solidFill>
                            <a:srgbClr val="FF0000"/>
                          </a:solidFill>
                        </a:rPr>
                        <a:t>Bash identifies and treats special characters (e.g., $, !, ~) as tokens with specific meanings. </a:t>
                      </a:r>
                      <a:endParaRPr lang="en-US"/>
                    </a:p>
                  </a:txBody>
                  <a:tcPr/>
                </a:tc>
                <a:extLst>
                  <a:ext uri="{0D108BD9-81ED-4DB2-BD59-A6C34878D82A}">
                    <a16:rowId xmlns:a16="http://schemas.microsoft.com/office/drawing/2014/main" val="60259059"/>
                  </a:ext>
                </a:extLst>
              </a:tr>
            </a:tbl>
          </a:graphicData>
        </a:graphic>
      </p:graphicFrame>
    </p:spTree>
    <p:extLst>
      <p:ext uri="{BB962C8B-B14F-4D97-AF65-F5344CB8AC3E}">
        <p14:creationId xmlns:p14="http://schemas.microsoft.com/office/powerpoint/2010/main" val="633236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F20A2-C688-D85E-46A7-7F5F1C84154A}"/>
              </a:ext>
            </a:extLst>
          </p:cNvPr>
          <p:cNvSpPr>
            <a:spLocks noGrp="1"/>
          </p:cNvSpPr>
          <p:nvPr>
            <p:ph type="title"/>
          </p:nvPr>
        </p:nvSpPr>
        <p:spPr/>
        <p:txBody>
          <a:bodyPr/>
          <a:lstStyle/>
          <a:p>
            <a:r>
              <a:rPr lang="en-US"/>
              <a:t>Problem: Prompts in color</a:t>
            </a:r>
          </a:p>
        </p:txBody>
      </p:sp>
      <p:sp>
        <p:nvSpPr>
          <p:cNvPr id="3" name="Content Placeholder 2">
            <a:extLst>
              <a:ext uri="{FF2B5EF4-FFF2-40B4-BE49-F238E27FC236}">
                <a16:creationId xmlns:a16="http://schemas.microsoft.com/office/drawing/2014/main" id="{80BF48F0-D4C4-8145-45BA-CE38FB54CA47}"/>
              </a:ext>
            </a:extLst>
          </p:cNvPr>
          <p:cNvSpPr>
            <a:spLocks noGrp="1"/>
          </p:cNvSpPr>
          <p:nvPr>
            <p:ph idx="1"/>
          </p:nvPr>
        </p:nvSpPr>
        <p:spPr/>
        <p:txBody>
          <a:bodyPr vert="horz" lIns="91440" tIns="45720" rIns="91440" bIns="45720" rtlCol="0" anchor="t">
            <a:normAutofit fontScale="92500" lnSpcReduction="10000"/>
          </a:bodyPr>
          <a:lstStyle/>
          <a:p>
            <a:r>
              <a:rPr lang="en-US"/>
              <a:t>Text in the </a:t>
            </a:r>
            <a:r>
              <a:rPr lang="en-US" err="1"/>
              <a:t>promptline</a:t>
            </a:r>
            <a:r>
              <a:rPr lang="en-US"/>
              <a:t> extends past the last character, and overwrites the front of the prompt.</a:t>
            </a:r>
          </a:p>
          <a:p>
            <a:r>
              <a:rPr lang="en-US">
                <a:ea typeface="+mn-lt"/>
                <a:cs typeface="+mn-lt"/>
              </a:rPr>
              <a:t>The issue is related to the prompt string containing non-printing characters (such as ANSI escape codes for color) that affect the terminal's handling of line wrapping. When these non-printing characters are not properly accounted for, </a:t>
            </a:r>
            <a:r>
              <a:rPr lang="en-US" err="1">
                <a:latin typeface="Consolas"/>
              </a:rPr>
              <a:t>readline</a:t>
            </a:r>
            <a:r>
              <a:rPr lang="en-US">
                <a:ea typeface="+mn-lt"/>
                <a:cs typeface="+mn-lt"/>
              </a:rPr>
              <a:t> might calculate the cursor position incorrectly, leading to the prompt being overwritten when the input wraps to the next line.</a:t>
            </a:r>
            <a:endParaRPr lang="en-US"/>
          </a:p>
          <a:p>
            <a:r>
              <a:rPr lang="en-US">
                <a:ea typeface="+mn-lt"/>
                <a:cs typeface="+mn-lt"/>
              </a:rPr>
              <a:t>To fix this, need to inform </a:t>
            </a:r>
            <a:r>
              <a:rPr lang="en-US" err="1">
                <a:latin typeface="Consolas"/>
              </a:rPr>
              <a:t>readline</a:t>
            </a:r>
            <a:r>
              <a:rPr lang="en-US">
                <a:ea typeface="+mn-lt"/>
                <a:cs typeface="+mn-lt"/>
              </a:rPr>
              <a:t> that certain characters in the prompt (such as the ANSI color codes) do not consume space in the terminal. This can be done using special escape sequences, which </a:t>
            </a:r>
            <a:r>
              <a:rPr lang="en-US" err="1">
                <a:latin typeface="Consolas"/>
              </a:rPr>
              <a:t>readline</a:t>
            </a:r>
            <a:r>
              <a:rPr lang="en-US">
                <a:ea typeface="+mn-lt"/>
                <a:cs typeface="+mn-lt"/>
              </a:rPr>
              <a:t> understands:</a:t>
            </a:r>
            <a:endParaRPr lang="en-US"/>
          </a:p>
          <a:p>
            <a:r>
              <a:rPr lang="en-US">
                <a:latin typeface="Consolas"/>
              </a:rPr>
              <a:t>\001</a:t>
            </a:r>
            <a:r>
              <a:rPr lang="en-US">
                <a:ea typeface="+mn-lt"/>
                <a:cs typeface="+mn-lt"/>
              </a:rPr>
              <a:t> (Start of a non-printing sequence)</a:t>
            </a:r>
            <a:endParaRPr lang="en-US"/>
          </a:p>
          <a:p>
            <a:r>
              <a:rPr lang="en-US">
                <a:latin typeface="Consolas"/>
              </a:rPr>
              <a:t>\002</a:t>
            </a:r>
            <a:r>
              <a:rPr lang="en-US">
                <a:ea typeface="+mn-lt"/>
                <a:cs typeface="+mn-lt"/>
              </a:rPr>
              <a:t> (End of a non-printing sequence)</a:t>
            </a:r>
            <a:endParaRPr lang="en-US"/>
          </a:p>
          <a:p>
            <a:endParaRPr lang="en-US"/>
          </a:p>
        </p:txBody>
      </p:sp>
    </p:spTree>
    <p:extLst>
      <p:ext uri="{BB962C8B-B14F-4D97-AF65-F5344CB8AC3E}">
        <p14:creationId xmlns:p14="http://schemas.microsoft.com/office/powerpoint/2010/main" val="134869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3FB2D-626C-3B0D-2DEA-B08BE2F8200C}"/>
              </a:ext>
            </a:extLst>
          </p:cNvPr>
          <p:cNvSpPr>
            <a:spLocks noGrp="1"/>
          </p:cNvSpPr>
          <p:nvPr>
            <p:ph type="title"/>
          </p:nvPr>
        </p:nvSpPr>
        <p:spPr/>
        <p:txBody>
          <a:bodyPr/>
          <a:lstStyle/>
          <a:p>
            <a:r>
              <a:rPr lang="en-US"/>
              <a:t>Test Cases: expansion check</a:t>
            </a:r>
          </a:p>
        </p:txBody>
      </p:sp>
      <p:sp>
        <p:nvSpPr>
          <p:cNvPr id="3" name="Content Placeholder 2">
            <a:extLst>
              <a:ext uri="{FF2B5EF4-FFF2-40B4-BE49-F238E27FC236}">
                <a16:creationId xmlns:a16="http://schemas.microsoft.com/office/drawing/2014/main" id="{B8E6BD3C-09EB-3754-511E-2CA761C9F8ED}"/>
              </a:ext>
            </a:extLst>
          </p:cNvPr>
          <p:cNvSpPr>
            <a:spLocks noGrp="1"/>
          </p:cNvSpPr>
          <p:nvPr>
            <p:ph idx="1"/>
          </p:nvPr>
        </p:nvSpPr>
        <p:spPr/>
        <p:txBody>
          <a:bodyPr vert="horz" lIns="91440" tIns="45720" rIns="91440" bIns="45720" rtlCol="0" anchor="t">
            <a:normAutofit/>
          </a:bodyPr>
          <a:lstStyle/>
          <a:p>
            <a:pPr marL="0" indent="0">
              <a:buNone/>
            </a:pPr>
            <a:r>
              <a:rPr lang="en-US"/>
              <a:t>Export a=ls; export b=" -ls"; export c="ls –l"; export d="-l"; (with a space for b)</a:t>
            </a:r>
          </a:p>
          <a:p>
            <a:pPr marL="0" indent="0">
              <a:buNone/>
            </a:pPr>
            <a:r>
              <a:rPr lang="en-US"/>
              <a:t>executes: $</a:t>
            </a:r>
            <a:r>
              <a:rPr lang="en-US" err="1"/>
              <a:t>a$b</a:t>
            </a:r>
            <a:r>
              <a:rPr lang="en-US"/>
              <a:t>, $a $b, $c, $a $d,</a:t>
            </a:r>
          </a:p>
          <a:p>
            <a:pPr marL="0" indent="0">
              <a:buNone/>
            </a:pPr>
            <a:r>
              <a:rPr lang="en-US"/>
              <a:t>Should not execute: $</a:t>
            </a:r>
            <a:r>
              <a:rPr lang="en-US" err="1"/>
              <a:t>a"$b</a:t>
            </a:r>
            <a:r>
              <a:rPr lang="en-US"/>
              <a:t>", $</a:t>
            </a:r>
            <a:r>
              <a:rPr lang="en-US" err="1"/>
              <a:t>a$d</a:t>
            </a:r>
            <a:r>
              <a:rPr lang="en-US"/>
              <a:t>, "$</a:t>
            </a:r>
            <a:r>
              <a:rPr lang="en-US" err="1"/>
              <a:t>a$b</a:t>
            </a:r>
            <a:r>
              <a:rPr lang="en-US"/>
              <a:t>", $a' -l', </a:t>
            </a:r>
          </a:p>
          <a:p>
            <a:pPr marL="0" indent="0">
              <a:buNone/>
            </a:pPr>
            <a:endParaRPr lang="en-US"/>
          </a:p>
          <a:p>
            <a:pPr marL="0" indent="0">
              <a:buNone/>
            </a:pPr>
            <a:r>
              <a:rPr lang="en-US"/>
              <a:t>Export a=e; export b=c; export c="ho "; export d="hello"; (with a space for b)</a:t>
            </a:r>
          </a:p>
          <a:p>
            <a:pPr marL="0" indent="0">
              <a:buNone/>
            </a:pPr>
            <a:r>
              <a:rPr lang="en-US" dirty="0"/>
              <a:t>Executes "$</a:t>
            </a:r>
            <a:r>
              <a:rPr lang="en-US" dirty="0" err="1"/>
              <a:t>a$b</a:t>
            </a:r>
            <a:r>
              <a:rPr lang="en-US" dirty="0"/>
              <a:t>"$c, "$a"$</a:t>
            </a:r>
            <a:r>
              <a:rPr lang="en-US" dirty="0" err="1"/>
              <a:t>b$c</a:t>
            </a:r>
            <a:r>
              <a:rPr lang="en-US" dirty="0"/>
              <a:t>, $</a:t>
            </a:r>
            <a:r>
              <a:rPr lang="en-US" dirty="0" err="1"/>
              <a:t>a$b$c</a:t>
            </a:r>
            <a:r>
              <a:rPr lang="en-US" dirty="0"/>
              <a:t>, $</a:t>
            </a:r>
            <a:r>
              <a:rPr lang="en-US" dirty="0" err="1"/>
              <a:t>a$b$c$d</a:t>
            </a:r>
            <a:r>
              <a:rPr lang="en-US" dirty="0"/>
              <a:t> </a:t>
            </a:r>
            <a:r>
              <a:rPr lang="en-US" dirty="0">
                <a:ea typeface="+mn-lt"/>
                <a:cs typeface="+mn-lt"/>
              </a:rPr>
              <a:t>"$</a:t>
            </a:r>
            <a:r>
              <a:rPr lang="en-US" dirty="0" err="1">
                <a:ea typeface="+mn-lt"/>
                <a:cs typeface="+mn-lt"/>
              </a:rPr>
              <a:t>a$b</a:t>
            </a:r>
            <a:r>
              <a:rPr lang="en-US" dirty="0">
                <a:ea typeface="+mn-lt"/>
                <a:cs typeface="+mn-lt"/>
              </a:rPr>
              <a:t>""$</a:t>
            </a:r>
            <a:r>
              <a:rPr lang="en-US" dirty="0" err="1">
                <a:ea typeface="+mn-lt"/>
                <a:cs typeface="+mn-lt"/>
              </a:rPr>
              <a:t>c$d</a:t>
            </a:r>
            <a:r>
              <a:rPr lang="en-US">
                <a:ea typeface="+mn-lt"/>
                <a:cs typeface="+mn-lt"/>
              </a:rPr>
              <a:t>" ("echo hello")</a:t>
            </a:r>
            <a:endParaRPr lang="en-US" dirty="0"/>
          </a:p>
          <a:p>
            <a:pPr marL="0" indent="0">
              <a:buNone/>
            </a:pPr>
            <a:r>
              <a:rPr lang="en-US"/>
              <a:t>Should not execute: $</a:t>
            </a:r>
            <a:r>
              <a:rPr lang="en-US" err="1"/>
              <a:t>a$b</a:t>
            </a:r>
            <a:r>
              <a:rPr lang="en-US"/>
              <a:t>"$c"</a:t>
            </a:r>
          </a:p>
        </p:txBody>
      </p:sp>
    </p:spTree>
    <p:extLst>
      <p:ext uri="{BB962C8B-B14F-4D97-AF65-F5344CB8AC3E}">
        <p14:creationId xmlns:p14="http://schemas.microsoft.com/office/powerpoint/2010/main" val="1378026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BE1F-CCBC-27BC-F745-4E9DDDF4718E}"/>
              </a:ext>
            </a:extLst>
          </p:cNvPr>
          <p:cNvSpPr>
            <a:spLocks noGrp="1"/>
          </p:cNvSpPr>
          <p:nvPr>
            <p:ph type="title"/>
          </p:nvPr>
        </p:nvSpPr>
        <p:spPr/>
        <p:txBody>
          <a:bodyPr/>
          <a:lstStyle/>
          <a:p>
            <a:r>
              <a:rPr lang="en-US"/>
              <a:t>Implementation: Expansion logic</a:t>
            </a:r>
          </a:p>
        </p:txBody>
      </p:sp>
      <p:sp>
        <p:nvSpPr>
          <p:cNvPr id="3" name="Content Placeholder 2">
            <a:extLst>
              <a:ext uri="{FF2B5EF4-FFF2-40B4-BE49-F238E27FC236}">
                <a16:creationId xmlns:a16="http://schemas.microsoft.com/office/drawing/2014/main" id="{9B789141-0BAA-AC18-24AE-59CBAB2FE359}"/>
              </a:ext>
            </a:extLst>
          </p:cNvPr>
          <p:cNvSpPr>
            <a:spLocks noGrp="1"/>
          </p:cNvSpPr>
          <p:nvPr>
            <p:ph idx="1"/>
          </p:nvPr>
        </p:nvSpPr>
        <p:spPr/>
        <p:txBody>
          <a:bodyPr vert="horz" lIns="91440" tIns="45720" rIns="91440" bIns="45720" rtlCol="0" anchor="t">
            <a:normAutofit/>
          </a:bodyPr>
          <a:lstStyle/>
          <a:p>
            <a:pPr marL="342900" indent="-342900">
              <a:buAutoNum type="arabicPeriod"/>
            </a:pPr>
            <a:r>
              <a:rPr lang="en-US"/>
              <a:t>Simple substitution of all variables (inside and outside quotes)</a:t>
            </a:r>
          </a:p>
          <a:p>
            <a:pPr marL="342900" indent="-342900">
              <a:buAutoNum type="arabicPeriod"/>
            </a:pPr>
            <a:r>
              <a:rPr lang="en-US" dirty="0"/>
              <a:t>Split the tokens further, with the quotes in place</a:t>
            </a:r>
          </a:p>
          <a:p>
            <a:pPr marL="342900" indent="-342900">
              <a:buAutoNum type="arabicPeriod"/>
            </a:pPr>
            <a:r>
              <a:rPr lang="en-US"/>
              <a:t>Parse into tokens</a:t>
            </a:r>
            <a:endParaRPr lang="en-US" dirty="0"/>
          </a:p>
          <a:p>
            <a:pPr marL="342900" indent="-342900">
              <a:buAutoNum type="arabicPeriod"/>
            </a:pPr>
            <a:r>
              <a:rPr lang="en-US" dirty="0"/>
              <a:t>Do wildcard </a:t>
            </a:r>
            <a:r>
              <a:rPr lang="en-US" err="1"/>
              <a:t>globbing</a:t>
            </a:r>
            <a:r>
              <a:rPr lang="en-US"/>
              <a:t> (removing quotes before this will cause problems)</a:t>
            </a:r>
            <a:endParaRPr lang="en-US" dirty="0"/>
          </a:p>
          <a:p>
            <a:pPr marL="342900" indent="-342900">
              <a:buAutoNum type="arabicPeriod"/>
            </a:pPr>
            <a:r>
              <a:rPr lang="en-US"/>
              <a:t>Remove all the quotes</a:t>
            </a:r>
          </a:p>
          <a:p>
            <a:pPr marL="0" indent="0">
              <a:buNone/>
            </a:pPr>
            <a:r>
              <a:rPr lang="en-US"/>
              <a:t>This should provide tokens in line with bash output</a:t>
            </a:r>
          </a:p>
        </p:txBody>
      </p:sp>
    </p:spTree>
    <p:extLst>
      <p:ext uri="{BB962C8B-B14F-4D97-AF65-F5344CB8AC3E}">
        <p14:creationId xmlns:p14="http://schemas.microsoft.com/office/powerpoint/2010/main" val="411565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F20A2-C688-D85E-46A7-7F5F1C84154A}"/>
              </a:ext>
            </a:extLst>
          </p:cNvPr>
          <p:cNvSpPr>
            <a:spLocks noGrp="1"/>
          </p:cNvSpPr>
          <p:nvPr>
            <p:ph type="title"/>
          </p:nvPr>
        </p:nvSpPr>
        <p:spPr/>
        <p:txBody>
          <a:bodyPr/>
          <a:lstStyle/>
          <a:p>
            <a:r>
              <a:rPr lang="en-US"/>
              <a:t>Implementation: Lexing/expansion problems</a:t>
            </a:r>
          </a:p>
        </p:txBody>
      </p:sp>
      <p:sp>
        <p:nvSpPr>
          <p:cNvPr id="3" name="Content Placeholder 2">
            <a:extLst>
              <a:ext uri="{FF2B5EF4-FFF2-40B4-BE49-F238E27FC236}">
                <a16:creationId xmlns:a16="http://schemas.microsoft.com/office/drawing/2014/main" id="{80BF48F0-D4C4-8145-45BA-CE38FB54CA47}"/>
              </a:ext>
            </a:extLst>
          </p:cNvPr>
          <p:cNvSpPr>
            <a:spLocks noGrp="1"/>
          </p:cNvSpPr>
          <p:nvPr>
            <p:ph idx="1"/>
          </p:nvPr>
        </p:nvSpPr>
        <p:spPr/>
        <p:txBody>
          <a:bodyPr vert="horz" lIns="91440" tIns="45720" rIns="91440" bIns="45720" rtlCol="0" anchor="t">
            <a:normAutofit/>
          </a:bodyPr>
          <a:lstStyle/>
          <a:p>
            <a:r>
              <a:rPr lang="en-US"/>
              <a:t>$a = '|' $b = ls, echo $a $b or echo $</a:t>
            </a:r>
            <a:r>
              <a:rPr lang="en-US" err="1"/>
              <a:t>a$b</a:t>
            </a:r>
            <a:r>
              <a:rPr lang="en-US"/>
              <a:t> will print the characters, $</a:t>
            </a:r>
            <a:r>
              <a:rPr lang="en-US" err="1"/>
              <a:t>a$b</a:t>
            </a:r>
            <a:r>
              <a:rPr lang="en-US"/>
              <a:t> will run |ls not pipe</a:t>
            </a:r>
          </a:p>
          <a:p>
            <a:r>
              <a:rPr lang="en-US"/>
              <a:t>d$ will run d| </a:t>
            </a:r>
          </a:p>
          <a:p>
            <a:r>
              <a:rPr lang="en-US">
                <a:ea typeface="+mn-lt"/>
                <a:cs typeface="+mn-lt"/>
              </a:rPr>
              <a:t>Lexing splits into the following: T_PIPE (|), T_REDIRECT_IN (&lt;), T_REDIRECT_OUT (&gt;), T_REDIRECT_APPEND (&gt;&gt;), T_REDIRECT_HEREDOC (&lt;&lt;), T_AND (&amp;&amp;), T_OR (||), T_LPAREN ('('), T_RPAREN (')'), T_VARIABLE ($), T_WORD (everything else), T_EOF</a:t>
            </a:r>
          </a:p>
          <a:p>
            <a:pPr marL="474980" lvl="1">
              <a:buFont typeface="Courier New" panose="020B0604020202020204" pitchFamily="34" charset="0"/>
              <a:buChar char="o"/>
            </a:pPr>
            <a:r>
              <a:rPr lang="en-US">
                <a:ea typeface="+mn-lt"/>
                <a:cs typeface="+mn-lt"/>
              </a:rPr>
              <a:t>This ignores $ inside "" and ''</a:t>
            </a:r>
          </a:p>
          <a:p>
            <a:pPr marL="474980" lvl="1">
              <a:buFont typeface="Courier New" panose="020B0604020202020204" pitchFamily="34" charset="0"/>
              <a:buChar char="o"/>
            </a:pPr>
            <a:r>
              <a:rPr lang="en-US">
                <a:ea typeface="+mn-lt"/>
                <a:cs typeface="+mn-lt"/>
              </a:rPr>
              <a:t>$</a:t>
            </a:r>
            <a:r>
              <a:rPr lang="en-US" err="1">
                <a:ea typeface="+mn-lt"/>
                <a:cs typeface="+mn-lt"/>
              </a:rPr>
              <a:t>a$b</a:t>
            </a:r>
            <a:r>
              <a:rPr lang="en-US">
                <a:ea typeface="+mn-lt"/>
                <a:cs typeface="+mn-lt"/>
              </a:rPr>
              <a:t> is handled as 1 variable so that it can be expanded in place</a:t>
            </a:r>
          </a:p>
        </p:txBody>
      </p:sp>
    </p:spTree>
    <p:extLst>
      <p:ext uri="{BB962C8B-B14F-4D97-AF65-F5344CB8AC3E}">
        <p14:creationId xmlns:p14="http://schemas.microsoft.com/office/powerpoint/2010/main" val="2904450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0407-900C-626C-F77F-D4239AD25B0A}"/>
              </a:ext>
            </a:extLst>
          </p:cNvPr>
          <p:cNvSpPr>
            <a:spLocks noGrp="1"/>
          </p:cNvSpPr>
          <p:nvPr>
            <p:ph type="title"/>
          </p:nvPr>
        </p:nvSpPr>
        <p:spPr/>
        <p:txBody>
          <a:bodyPr/>
          <a:lstStyle/>
          <a:p>
            <a:r>
              <a:rPr lang="en-US"/>
              <a:t>Theory: Link between </a:t>
            </a:r>
            <a:r>
              <a:rPr lang="en-US" err="1"/>
              <a:t>lexer</a:t>
            </a:r>
            <a:r>
              <a:rPr lang="en-US"/>
              <a:t> and parser </a:t>
            </a:r>
          </a:p>
        </p:txBody>
      </p:sp>
      <p:sp>
        <p:nvSpPr>
          <p:cNvPr id="3" name="Content Placeholder 2">
            <a:extLst>
              <a:ext uri="{FF2B5EF4-FFF2-40B4-BE49-F238E27FC236}">
                <a16:creationId xmlns:a16="http://schemas.microsoft.com/office/drawing/2014/main" id="{18FE0558-36DB-1C0E-1EDC-6CB412CF0EAD}"/>
              </a:ext>
            </a:extLst>
          </p:cNvPr>
          <p:cNvSpPr>
            <a:spLocks noGrp="1"/>
          </p:cNvSpPr>
          <p:nvPr>
            <p:ph idx="1"/>
          </p:nvPr>
        </p:nvSpPr>
        <p:spPr/>
        <p:txBody>
          <a:bodyPr vert="horz" lIns="91440" tIns="45720" rIns="91440" bIns="45720" rtlCol="0" anchor="t">
            <a:normAutofit/>
          </a:bodyPr>
          <a:lstStyle/>
          <a:p>
            <a:r>
              <a:rPr lang="en-US" b="1">
                <a:ea typeface="+mn-lt"/>
                <a:cs typeface="+mn-lt"/>
              </a:rPr>
              <a:t>Store Tokens in a Data Structure First (Batch Lexing)</a:t>
            </a:r>
          </a:p>
          <a:p>
            <a:pPr marL="474980" lvl="1">
              <a:buFont typeface="Courier New" panose="020B0604020202020204" pitchFamily="34" charset="0"/>
              <a:buChar char="o"/>
            </a:pPr>
            <a:r>
              <a:rPr lang="en-US">
                <a:ea typeface="+mn-lt"/>
                <a:cs typeface="+mn-lt"/>
              </a:rPr>
              <a:t>All input is converted to tokens, stored then passed to parser</a:t>
            </a:r>
          </a:p>
          <a:p>
            <a:pPr marL="474980" lvl="1">
              <a:buFont typeface="Courier New" panose="020B0604020202020204" pitchFamily="34" charset="0"/>
              <a:buChar char="o"/>
            </a:pPr>
            <a:r>
              <a:rPr lang="en-US">
                <a:ea typeface="+mn-lt"/>
                <a:cs typeface="+mn-lt"/>
              </a:rPr>
              <a:t>The </a:t>
            </a:r>
            <a:r>
              <a:rPr lang="en-US" err="1">
                <a:ea typeface="+mn-lt"/>
                <a:cs typeface="+mn-lt"/>
              </a:rPr>
              <a:t>lexer</a:t>
            </a:r>
            <a:r>
              <a:rPr lang="en-US">
                <a:ea typeface="+mn-lt"/>
                <a:cs typeface="+mn-lt"/>
              </a:rPr>
              <a:t> and parser are decoupled</a:t>
            </a:r>
            <a:endParaRPr lang="en-US" b="1">
              <a:ea typeface="+mn-lt"/>
              <a:cs typeface="+mn-lt"/>
            </a:endParaRPr>
          </a:p>
          <a:p>
            <a:pPr marL="474980" lvl="1">
              <a:buFont typeface="Courier New" panose="020B0604020202020204" pitchFamily="34" charset="0"/>
              <a:buChar char="o"/>
            </a:pPr>
            <a:r>
              <a:rPr lang="en-US">
                <a:ea typeface="+mn-lt"/>
                <a:cs typeface="+mn-lt"/>
              </a:rPr>
              <a:t>Parser can detect and handle errors based on the entire token stream</a:t>
            </a:r>
          </a:p>
          <a:p>
            <a:pPr marL="474980" lvl="1">
              <a:buFont typeface="Courier New" panose="020B0604020202020204" pitchFamily="34" charset="0"/>
              <a:buChar char="o"/>
            </a:pPr>
            <a:r>
              <a:rPr lang="en-US">
                <a:ea typeface="+mn-lt"/>
                <a:cs typeface="+mn-lt"/>
              </a:rPr>
              <a:t>can potentially make multiple passes over the tokens</a:t>
            </a:r>
          </a:p>
          <a:p>
            <a:r>
              <a:rPr lang="en-US" b="1">
                <a:ea typeface="+mn-lt"/>
                <a:cs typeface="+mn-lt"/>
              </a:rPr>
              <a:t>Feed Tokens to the Parser as They Are Generated (Streaming Lexing)</a:t>
            </a:r>
          </a:p>
          <a:p>
            <a:pPr marL="474980" lvl="1">
              <a:buFont typeface="Courier New" panose="020B0604020202020204" pitchFamily="34" charset="0"/>
              <a:buChar char="o"/>
            </a:pPr>
            <a:r>
              <a:rPr lang="en-US">
                <a:ea typeface="+mn-lt"/>
                <a:cs typeface="+mn-lt"/>
              </a:rPr>
              <a:t>Lexer generates token, and immediately pass to parser</a:t>
            </a:r>
          </a:p>
          <a:p>
            <a:pPr marL="474980" lvl="1">
              <a:buFont typeface="Courier New" panose="020B0604020202020204" pitchFamily="34" charset="0"/>
              <a:buChar char="o"/>
            </a:pPr>
            <a:r>
              <a:rPr lang="en-US">
                <a:ea typeface="+mn-lt"/>
                <a:cs typeface="+mn-lt"/>
              </a:rPr>
              <a:t>Less memory use, more interactive, </a:t>
            </a:r>
          </a:p>
        </p:txBody>
      </p:sp>
    </p:spTree>
    <p:extLst>
      <p:ext uri="{BB962C8B-B14F-4D97-AF65-F5344CB8AC3E}">
        <p14:creationId xmlns:p14="http://schemas.microsoft.com/office/powerpoint/2010/main" val="90665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B9FE6-39B5-64EE-499D-0AC752C1C381}"/>
              </a:ext>
            </a:extLst>
          </p:cNvPr>
          <p:cNvSpPr>
            <a:spLocks noGrp="1"/>
          </p:cNvSpPr>
          <p:nvPr>
            <p:ph type="title"/>
          </p:nvPr>
        </p:nvSpPr>
        <p:spPr/>
        <p:txBody>
          <a:bodyPr/>
          <a:lstStyle/>
          <a:p>
            <a:r>
              <a:rPr lang="en-US" dirty="0" err="1"/>
              <a:t>ParSING</a:t>
            </a:r>
            <a:r>
              <a:rPr lang="en-US" dirty="0"/>
              <a:t> THEORY – Top 5 strategies</a:t>
            </a:r>
          </a:p>
        </p:txBody>
      </p:sp>
      <p:sp>
        <p:nvSpPr>
          <p:cNvPr id="3" name="Content Placeholder 2">
            <a:extLst>
              <a:ext uri="{FF2B5EF4-FFF2-40B4-BE49-F238E27FC236}">
                <a16:creationId xmlns:a16="http://schemas.microsoft.com/office/drawing/2014/main" id="{02A55B0F-966B-506E-61AC-8FB57DB703FD}"/>
              </a:ext>
            </a:extLst>
          </p:cNvPr>
          <p:cNvSpPr>
            <a:spLocks noGrp="1"/>
          </p:cNvSpPr>
          <p:nvPr>
            <p:ph idx="1"/>
          </p:nvPr>
        </p:nvSpPr>
        <p:spPr>
          <a:xfrm>
            <a:off x="1295400" y="1840073"/>
            <a:ext cx="9601200" cy="4065427"/>
          </a:xfrm>
        </p:spPr>
        <p:txBody>
          <a:bodyPr vert="horz" lIns="91440" tIns="45720" rIns="91440" bIns="45720" rtlCol="0" anchor="t">
            <a:noAutofit/>
          </a:bodyPr>
          <a:lstStyle/>
          <a:p>
            <a:pPr marL="0" indent="0">
              <a:spcBef>
                <a:spcPts val="0"/>
              </a:spcBef>
              <a:buNone/>
            </a:pPr>
            <a:r>
              <a:rPr lang="en-US" sz="1000" b="1" dirty="0">
                <a:ea typeface="+mn-lt"/>
                <a:cs typeface="+mn-lt"/>
              </a:rPr>
              <a:t>1. Top-Down Operator Precedence Parsing (Pratt Parsing)</a:t>
            </a:r>
            <a:endParaRPr lang="en-US" sz="1000" b="1"/>
          </a:p>
          <a:p>
            <a:pPr marL="0" indent="0">
              <a:spcBef>
                <a:spcPts val="0"/>
              </a:spcBef>
              <a:buNone/>
            </a:pPr>
            <a:r>
              <a:rPr lang="en-US" sz="1000" dirty="0">
                <a:ea typeface="+mn-lt"/>
                <a:cs typeface="+mn-lt"/>
              </a:rPr>
              <a:t>    Why: Shell commands often include operators (e.g., &amp;&amp;, ||, |, redirection operators), so parsing expressions with different precedence levels is crucial. Top-Down Operator Precedence Parsing (also known as Pratt Parsing) is particularly well-suited for these cases because it makes handling operator precedence intuitive and flexible.</a:t>
            </a:r>
            <a:endParaRPr lang="en-US" sz="1000" dirty="0"/>
          </a:p>
          <a:p>
            <a:pPr marL="0" indent="0">
              <a:spcBef>
                <a:spcPts val="0"/>
              </a:spcBef>
              <a:buNone/>
            </a:pPr>
            <a:r>
              <a:rPr lang="en-US" sz="1000" dirty="0">
                <a:ea typeface="+mn-lt"/>
                <a:cs typeface="+mn-lt"/>
              </a:rPr>
              <a:t>    Use Case in Shell: Handling compound commands with logical operators (&amp;&amp;, ||), pipelines (|), and command precedence (grouping with ()).</a:t>
            </a:r>
            <a:endParaRPr lang="en-US" sz="1000" dirty="0"/>
          </a:p>
          <a:p>
            <a:pPr marL="0" indent="0">
              <a:spcBef>
                <a:spcPts val="0"/>
              </a:spcBef>
              <a:buNone/>
            </a:pPr>
            <a:r>
              <a:rPr lang="en-US" sz="1000" dirty="0">
                <a:ea typeface="+mn-lt"/>
                <a:cs typeface="+mn-lt"/>
              </a:rPr>
              <a:t>    Advantages:</a:t>
            </a:r>
            <a:endParaRPr lang="en-US" sz="1000" dirty="0"/>
          </a:p>
          <a:p>
            <a:pPr marL="0" indent="0">
              <a:spcBef>
                <a:spcPts val="0"/>
              </a:spcBef>
              <a:buNone/>
            </a:pPr>
            <a:r>
              <a:rPr lang="en-US" sz="1000" dirty="0">
                <a:ea typeface="+mn-lt"/>
                <a:cs typeface="+mn-lt"/>
              </a:rPr>
              <a:t>        Easy to extend for additional operators.</a:t>
            </a:r>
            <a:endParaRPr lang="en-US" sz="1000" dirty="0"/>
          </a:p>
          <a:p>
            <a:pPr marL="0" indent="0">
              <a:spcBef>
                <a:spcPts val="0"/>
              </a:spcBef>
              <a:buNone/>
            </a:pPr>
            <a:r>
              <a:rPr lang="en-US" sz="1000" dirty="0">
                <a:ea typeface="+mn-lt"/>
                <a:cs typeface="+mn-lt"/>
              </a:rPr>
              <a:t>        Simple and elegant for parsing command sequences.</a:t>
            </a:r>
            <a:endParaRPr lang="en-US" sz="1000" dirty="0"/>
          </a:p>
          <a:p>
            <a:pPr marL="0" indent="0">
              <a:spcBef>
                <a:spcPts val="0"/>
              </a:spcBef>
              <a:buNone/>
            </a:pPr>
            <a:endParaRPr lang="en-US" sz="1000" dirty="0"/>
          </a:p>
          <a:p>
            <a:pPr marL="0" indent="0">
              <a:spcBef>
                <a:spcPts val="0"/>
              </a:spcBef>
              <a:buNone/>
            </a:pPr>
            <a:r>
              <a:rPr lang="en-US" sz="1000" b="1" dirty="0">
                <a:ea typeface="+mn-lt"/>
                <a:cs typeface="+mn-lt"/>
              </a:rPr>
              <a:t>2. Recursive Descent Parsing</a:t>
            </a:r>
            <a:endParaRPr lang="en-US" sz="1000" b="1"/>
          </a:p>
          <a:p>
            <a:pPr marL="0" indent="0">
              <a:spcBef>
                <a:spcPts val="0"/>
              </a:spcBef>
              <a:buNone/>
            </a:pPr>
            <a:r>
              <a:rPr lang="en-US" sz="1000" dirty="0">
                <a:ea typeface="+mn-lt"/>
                <a:cs typeface="+mn-lt"/>
              </a:rPr>
              <a:t>    Why: Recursive Descent Parsing is a top-down method that breaks down the grammar into recursive functions. It is easy to implement for small languages and can handle the hierarchical structure of shell commands.</a:t>
            </a:r>
            <a:endParaRPr lang="en-US" sz="1000" dirty="0"/>
          </a:p>
          <a:p>
            <a:pPr marL="0" indent="0">
              <a:spcBef>
                <a:spcPts val="0"/>
              </a:spcBef>
              <a:buNone/>
            </a:pPr>
            <a:r>
              <a:rPr lang="en-US" sz="1000" dirty="0">
                <a:ea typeface="+mn-lt"/>
                <a:cs typeface="+mn-lt"/>
              </a:rPr>
              <a:t>    Use Case in Shell: Parsing individual shell commands, handling pipelines, command lists (e.g., cmd1; cmd2), and subshells (e.g., $(command) or (command)).</a:t>
            </a:r>
            <a:endParaRPr lang="en-US" sz="1000" dirty="0"/>
          </a:p>
          <a:p>
            <a:pPr marL="0" indent="0">
              <a:spcBef>
                <a:spcPts val="0"/>
              </a:spcBef>
              <a:buNone/>
            </a:pPr>
            <a:r>
              <a:rPr lang="en-US" sz="1000" dirty="0">
                <a:ea typeface="+mn-lt"/>
                <a:cs typeface="+mn-lt"/>
              </a:rPr>
              <a:t>    Advantages:</a:t>
            </a:r>
            <a:endParaRPr lang="en-US" sz="1000" dirty="0"/>
          </a:p>
          <a:p>
            <a:pPr marL="0" indent="0">
              <a:spcBef>
                <a:spcPts val="0"/>
              </a:spcBef>
              <a:buNone/>
            </a:pPr>
            <a:r>
              <a:rPr lang="en-US" sz="1000" dirty="0">
                <a:ea typeface="+mn-lt"/>
                <a:cs typeface="+mn-lt"/>
              </a:rPr>
              <a:t>        Simple to implement and easy to understand.</a:t>
            </a:r>
            <a:endParaRPr lang="en-US" sz="1000" dirty="0"/>
          </a:p>
          <a:p>
            <a:pPr marL="0" indent="0">
              <a:spcBef>
                <a:spcPts val="0"/>
              </a:spcBef>
              <a:buNone/>
            </a:pPr>
            <a:r>
              <a:rPr lang="en-US" sz="1000" dirty="0">
                <a:ea typeface="+mn-lt"/>
                <a:cs typeface="+mn-lt"/>
              </a:rPr>
              <a:t>        Suitable for the limited scope of shell grammar.</a:t>
            </a:r>
            <a:endParaRPr lang="en-US" sz="1000" dirty="0"/>
          </a:p>
        </p:txBody>
      </p:sp>
    </p:spTree>
    <p:extLst>
      <p:ext uri="{BB962C8B-B14F-4D97-AF65-F5344CB8AC3E}">
        <p14:creationId xmlns:p14="http://schemas.microsoft.com/office/powerpoint/2010/main" val="1515656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B9FE6-39B5-64EE-499D-0AC752C1C381}"/>
              </a:ext>
            </a:extLst>
          </p:cNvPr>
          <p:cNvSpPr>
            <a:spLocks noGrp="1"/>
          </p:cNvSpPr>
          <p:nvPr>
            <p:ph type="title"/>
          </p:nvPr>
        </p:nvSpPr>
        <p:spPr/>
        <p:txBody>
          <a:bodyPr/>
          <a:lstStyle/>
          <a:p>
            <a:r>
              <a:rPr lang="en-US" dirty="0" err="1"/>
              <a:t>ParSING</a:t>
            </a:r>
            <a:r>
              <a:rPr lang="en-US" dirty="0"/>
              <a:t> THEORY – Top 5 strategies</a:t>
            </a:r>
          </a:p>
        </p:txBody>
      </p:sp>
      <p:sp>
        <p:nvSpPr>
          <p:cNvPr id="3" name="Content Placeholder 2">
            <a:extLst>
              <a:ext uri="{FF2B5EF4-FFF2-40B4-BE49-F238E27FC236}">
                <a16:creationId xmlns:a16="http://schemas.microsoft.com/office/drawing/2014/main" id="{02A55B0F-966B-506E-61AC-8FB57DB703FD}"/>
              </a:ext>
            </a:extLst>
          </p:cNvPr>
          <p:cNvSpPr>
            <a:spLocks noGrp="1"/>
          </p:cNvSpPr>
          <p:nvPr>
            <p:ph idx="1"/>
          </p:nvPr>
        </p:nvSpPr>
        <p:spPr>
          <a:xfrm>
            <a:off x="1295400" y="1840073"/>
            <a:ext cx="9601200" cy="4065427"/>
          </a:xfrm>
        </p:spPr>
        <p:txBody>
          <a:bodyPr vert="horz" lIns="91440" tIns="45720" rIns="91440" bIns="45720" rtlCol="0" anchor="t">
            <a:noAutofit/>
          </a:bodyPr>
          <a:lstStyle/>
          <a:p>
            <a:pPr marL="0" indent="0">
              <a:spcBef>
                <a:spcPts val="0"/>
              </a:spcBef>
              <a:buNone/>
            </a:pPr>
            <a:r>
              <a:rPr lang="en-US" sz="1000" b="1" dirty="0">
                <a:ea typeface="+mn-lt"/>
                <a:cs typeface="+mn-lt"/>
              </a:rPr>
              <a:t>3. LL(1) Parsing</a:t>
            </a:r>
            <a:endParaRPr lang="en-US" sz="1000" b="1" dirty="0"/>
          </a:p>
          <a:p>
            <a:pPr marL="0" indent="0">
              <a:spcBef>
                <a:spcPts val="0"/>
              </a:spcBef>
              <a:buNone/>
            </a:pPr>
            <a:r>
              <a:rPr lang="en-US" sz="1000" dirty="0">
                <a:ea typeface="+mn-lt"/>
                <a:cs typeface="+mn-lt"/>
              </a:rPr>
              <a:t>    Why: LL(1) parsers are top-down, predictive parsers that process input one token at a time. This works well for the simple structure of shell command syntax.</a:t>
            </a:r>
            <a:endParaRPr lang="en-US" sz="1000" dirty="0"/>
          </a:p>
          <a:p>
            <a:pPr marL="0" indent="0">
              <a:spcBef>
                <a:spcPts val="0"/>
              </a:spcBef>
              <a:buNone/>
            </a:pPr>
            <a:r>
              <a:rPr lang="en-US" sz="1000" dirty="0">
                <a:ea typeface="+mn-lt"/>
                <a:cs typeface="+mn-lt"/>
              </a:rPr>
              <a:t>    Use Case in Shell: Parsing commands where decisions can be made based on a single lookahead token, such as distinguishing between different operators (|, &gt;, &amp;&amp;, etc.).</a:t>
            </a:r>
            <a:endParaRPr lang="en-US" sz="1000" dirty="0"/>
          </a:p>
          <a:p>
            <a:pPr marL="0" indent="0">
              <a:spcBef>
                <a:spcPts val="0"/>
              </a:spcBef>
              <a:buNone/>
            </a:pPr>
            <a:r>
              <a:rPr lang="en-US" sz="1000" dirty="0">
                <a:ea typeface="+mn-lt"/>
                <a:cs typeface="+mn-lt"/>
              </a:rPr>
              <a:t>    Advantages:</a:t>
            </a:r>
            <a:endParaRPr lang="en-US" sz="1000" dirty="0"/>
          </a:p>
          <a:p>
            <a:pPr marL="0" indent="0">
              <a:spcBef>
                <a:spcPts val="0"/>
              </a:spcBef>
              <a:buNone/>
            </a:pPr>
            <a:r>
              <a:rPr lang="en-US" sz="1000" dirty="0">
                <a:ea typeface="+mn-lt"/>
                <a:cs typeface="+mn-lt"/>
              </a:rPr>
              <a:t>        Efficient and fast for grammars where lookahead is sufficient.</a:t>
            </a:r>
            <a:endParaRPr lang="en-US" sz="1000" dirty="0"/>
          </a:p>
          <a:p>
            <a:pPr marL="0" indent="0">
              <a:spcBef>
                <a:spcPts val="0"/>
              </a:spcBef>
              <a:buNone/>
            </a:pPr>
            <a:r>
              <a:rPr lang="en-US" sz="1000" dirty="0">
                <a:ea typeface="+mn-lt"/>
                <a:cs typeface="+mn-lt"/>
              </a:rPr>
              <a:t>        Handles simple control flow and command structures.</a:t>
            </a:r>
            <a:endParaRPr lang="en-US" sz="1000" dirty="0"/>
          </a:p>
          <a:p>
            <a:pPr marL="0" indent="0">
              <a:spcBef>
                <a:spcPts val="0"/>
              </a:spcBef>
              <a:buNone/>
            </a:pPr>
            <a:endParaRPr lang="en-US" sz="1000" dirty="0"/>
          </a:p>
          <a:p>
            <a:pPr marL="0" indent="0">
              <a:spcBef>
                <a:spcPts val="0"/>
              </a:spcBef>
              <a:buNone/>
            </a:pPr>
            <a:r>
              <a:rPr lang="en-US" sz="1000" b="1" dirty="0">
                <a:ea typeface="+mn-lt"/>
                <a:cs typeface="+mn-lt"/>
              </a:rPr>
              <a:t>4. Shift-Reduce Parsing</a:t>
            </a:r>
            <a:endParaRPr lang="en-US" sz="1000" b="1" dirty="0"/>
          </a:p>
          <a:p>
            <a:pPr marL="0" indent="0">
              <a:spcBef>
                <a:spcPts val="0"/>
              </a:spcBef>
              <a:buNone/>
            </a:pPr>
            <a:r>
              <a:rPr lang="en-US" sz="1000" dirty="0">
                <a:ea typeface="+mn-lt"/>
                <a:cs typeface="+mn-lt"/>
              </a:rPr>
              <a:t>    Why: Shift-Reduce Parsing is a common bottom-up parsing strategy used for handling operator precedence and reducing sequences of tokens into grammar rules. It's often used in LR parsers and works well for managing complex shell expressions.</a:t>
            </a:r>
            <a:endParaRPr lang="en-US" sz="1000" dirty="0"/>
          </a:p>
          <a:p>
            <a:pPr marL="0" indent="0">
              <a:spcBef>
                <a:spcPts val="0"/>
              </a:spcBef>
              <a:buNone/>
            </a:pPr>
            <a:r>
              <a:rPr lang="en-US" sz="1000" dirty="0">
                <a:ea typeface="+mn-lt"/>
                <a:cs typeface="+mn-lt"/>
              </a:rPr>
              <a:t>    Use Case in Shell: Handling more complex command sequences, such as nested pipelines, redirections, and subshells.</a:t>
            </a:r>
            <a:endParaRPr lang="en-US" sz="1000" dirty="0"/>
          </a:p>
          <a:p>
            <a:pPr marL="0" indent="0">
              <a:spcBef>
                <a:spcPts val="0"/>
              </a:spcBef>
              <a:buNone/>
            </a:pPr>
            <a:r>
              <a:rPr lang="en-US" sz="1000" dirty="0">
                <a:ea typeface="+mn-lt"/>
                <a:cs typeface="+mn-lt"/>
              </a:rPr>
              <a:t>    Advantages:</a:t>
            </a:r>
            <a:endParaRPr lang="en-US" sz="1000" dirty="0"/>
          </a:p>
          <a:p>
            <a:pPr marL="0" indent="0">
              <a:spcBef>
                <a:spcPts val="0"/>
              </a:spcBef>
              <a:buNone/>
            </a:pPr>
            <a:r>
              <a:rPr lang="en-US" sz="1000" dirty="0">
                <a:ea typeface="+mn-lt"/>
                <a:cs typeface="+mn-lt"/>
              </a:rPr>
              <a:t>        Efficient in terms of memory and parsing time.</a:t>
            </a:r>
            <a:endParaRPr lang="en-US" sz="1000" dirty="0"/>
          </a:p>
          <a:p>
            <a:pPr marL="0" indent="0">
              <a:spcBef>
                <a:spcPts val="0"/>
              </a:spcBef>
              <a:buNone/>
            </a:pPr>
            <a:r>
              <a:rPr lang="en-US" sz="1000" dirty="0">
                <a:ea typeface="+mn-lt"/>
                <a:cs typeface="+mn-lt"/>
              </a:rPr>
              <a:t>        Can handle more complex grammars than top-down approaches.</a:t>
            </a:r>
            <a:endParaRPr lang="en-US" sz="1000" dirty="0"/>
          </a:p>
          <a:p>
            <a:pPr marL="0" indent="0">
              <a:spcBef>
                <a:spcPts val="0"/>
              </a:spcBef>
              <a:buNone/>
            </a:pPr>
            <a:endParaRPr lang="en-US" sz="1000" dirty="0"/>
          </a:p>
          <a:p>
            <a:pPr marL="0" indent="0">
              <a:spcBef>
                <a:spcPts val="0"/>
              </a:spcBef>
              <a:buNone/>
            </a:pPr>
            <a:r>
              <a:rPr lang="en-US" sz="1000" b="1" dirty="0">
                <a:ea typeface="+mn-lt"/>
                <a:cs typeface="+mn-lt"/>
              </a:rPr>
              <a:t>5. Packrat Parsing (PEG - Parsing Expression Grammar)</a:t>
            </a:r>
            <a:endParaRPr lang="en-US" sz="1000" b="1" dirty="0"/>
          </a:p>
          <a:p>
            <a:pPr marL="0" indent="0">
              <a:spcBef>
                <a:spcPts val="0"/>
              </a:spcBef>
              <a:buNone/>
            </a:pPr>
            <a:r>
              <a:rPr lang="en-US" sz="1000" dirty="0">
                <a:ea typeface="+mn-lt"/>
                <a:cs typeface="+mn-lt"/>
              </a:rPr>
              <a:t>    Why: PEG-based parsing (Packrat Parsing) guarantees linear time parsing for context-free grammars by using </a:t>
            </a:r>
            <a:r>
              <a:rPr lang="en-US" sz="1000" dirty="0" err="1">
                <a:ea typeface="+mn-lt"/>
                <a:cs typeface="+mn-lt"/>
              </a:rPr>
              <a:t>memoization</a:t>
            </a:r>
            <a:r>
              <a:rPr lang="en-US" sz="1000" dirty="0">
                <a:ea typeface="+mn-lt"/>
                <a:cs typeface="+mn-lt"/>
              </a:rPr>
              <a:t>. This is useful for handling shell commands with arbitrary lookahead, such as complex argument parsing and quoted strings.</a:t>
            </a:r>
            <a:endParaRPr lang="en-US" sz="1000" dirty="0"/>
          </a:p>
          <a:p>
            <a:pPr marL="0" indent="0">
              <a:spcBef>
                <a:spcPts val="0"/>
              </a:spcBef>
              <a:buNone/>
            </a:pPr>
            <a:r>
              <a:rPr lang="en-US" sz="1000" dirty="0">
                <a:ea typeface="+mn-lt"/>
                <a:cs typeface="+mn-lt"/>
              </a:rPr>
              <a:t>    Use Case in Shell: Handling command arguments, quoted strings, and escaping (", ', \), which require lookahead to resolve properly.</a:t>
            </a:r>
            <a:endParaRPr lang="en-US" sz="1000" dirty="0"/>
          </a:p>
          <a:p>
            <a:pPr marL="0" indent="0">
              <a:spcBef>
                <a:spcPts val="0"/>
              </a:spcBef>
              <a:buNone/>
            </a:pPr>
            <a:r>
              <a:rPr lang="en-US" sz="1000" dirty="0">
                <a:ea typeface="+mn-lt"/>
                <a:cs typeface="+mn-lt"/>
              </a:rPr>
              <a:t>    Advantages:</a:t>
            </a:r>
            <a:endParaRPr lang="en-US" sz="1000" dirty="0"/>
          </a:p>
          <a:p>
            <a:pPr marL="0" indent="0">
              <a:spcBef>
                <a:spcPts val="0"/>
              </a:spcBef>
              <a:buNone/>
            </a:pPr>
            <a:r>
              <a:rPr lang="en-US" sz="1000" dirty="0">
                <a:ea typeface="+mn-lt"/>
                <a:cs typeface="+mn-lt"/>
              </a:rPr>
              <a:t>        Handles complex and ambiguous grammars.</a:t>
            </a:r>
            <a:endParaRPr lang="en-US" sz="1000" dirty="0"/>
          </a:p>
          <a:p>
            <a:pPr marL="0" indent="0">
              <a:spcBef>
                <a:spcPts val="0"/>
              </a:spcBef>
              <a:buNone/>
            </a:pPr>
            <a:r>
              <a:rPr lang="en-US" sz="1000" dirty="0">
                <a:ea typeface="+mn-lt"/>
                <a:cs typeface="+mn-lt"/>
              </a:rPr>
              <a:t>        Guarantees linear-time parsing, even for complex shell constructs.</a:t>
            </a:r>
            <a:endParaRPr lang="en-US" sz="1000" dirty="0"/>
          </a:p>
        </p:txBody>
      </p:sp>
    </p:spTree>
    <p:extLst>
      <p:ext uri="{BB962C8B-B14F-4D97-AF65-F5344CB8AC3E}">
        <p14:creationId xmlns:p14="http://schemas.microsoft.com/office/powerpoint/2010/main" val="5635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802A-D50F-A012-619D-872D9A3D54E0}"/>
              </a:ext>
            </a:extLst>
          </p:cNvPr>
          <p:cNvSpPr>
            <a:spLocks noGrp="1"/>
          </p:cNvSpPr>
          <p:nvPr>
            <p:ph type="title"/>
          </p:nvPr>
        </p:nvSpPr>
        <p:spPr>
          <a:xfrm>
            <a:off x="755650" y="409046"/>
            <a:ext cx="9601200" cy="1309687"/>
          </a:xfrm>
        </p:spPr>
        <p:txBody>
          <a:bodyPr vert="horz" lIns="91440" tIns="45720" rIns="91440" bIns="45720" rtlCol="0" anchor="t">
            <a:normAutofit/>
          </a:bodyPr>
          <a:lstStyle/>
          <a:p>
            <a:r>
              <a:rPr lang="en-US"/>
              <a:t>Parsing (Mostly sequential)</a:t>
            </a:r>
          </a:p>
        </p:txBody>
      </p:sp>
      <p:graphicFrame>
        <p:nvGraphicFramePr>
          <p:cNvPr id="24" name="Content Placeholder 23">
            <a:extLst>
              <a:ext uri="{FF2B5EF4-FFF2-40B4-BE49-F238E27FC236}">
                <a16:creationId xmlns:a16="http://schemas.microsoft.com/office/drawing/2014/main" id="{03A66FF5-6CB6-5D72-93E8-7C3F5630DFAA}"/>
              </a:ext>
            </a:extLst>
          </p:cNvPr>
          <p:cNvGraphicFramePr>
            <a:graphicFrameLocks noGrp="1"/>
          </p:cNvGraphicFramePr>
          <p:nvPr>
            <p:ph idx="1"/>
            <p:extLst>
              <p:ext uri="{D42A27DB-BD31-4B8C-83A1-F6EECF244321}">
                <p14:modId xmlns:p14="http://schemas.microsoft.com/office/powerpoint/2010/main" val="1739060488"/>
              </p:ext>
            </p:extLst>
          </p:nvPr>
        </p:nvGraphicFramePr>
        <p:xfrm>
          <a:off x="751416" y="1121833"/>
          <a:ext cx="11067462" cy="4160520"/>
        </p:xfrm>
        <a:graphic>
          <a:graphicData uri="http://schemas.openxmlformats.org/drawingml/2006/table">
            <a:tbl>
              <a:tblPr firstRow="1" bandRow="1">
                <a:tableStyleId>{5C22544A-7EE6-4342-B048-85BDC9FD1C3A}</a:tableStyleId>
              </a:tblPr>
              <a:tblGrid>
                <a:gridCol w="2586180">
                  <a:extLst>
                    <a:ext uri="{9D8B030D-6E8A-4147-A177-3AD203B41FA5}">
                      <a16:colId xmlns:a16="http://schemas.microsoft.com/office/drawing/2014/main" val="2615497210"/>
                    </a:ext>
                  </a:extLst>
                </a:gridCol>
                <a:gridCol w="8481282">
                  <a:extLst>
                    <a:ext uri="{9D8B030D-6E8A-4147-A177-3AD203B41FA5}">
                      <a16:colId xmlns:a16="http://schemas.microsoft.com/office/drawing/2014/main" val="1910558492"/>
                    </a:ext>
                  </a:extLst>
                </a:gridCol>
              </a:tblGrid>
              <a:tr h="370840">
                <a:tc>
                  <a:txBody>
                    <a:bodyPr/>
                    <a:lstStyle/>
                    <a:p>
                      <a:pPr lvl="0">
                        <a:buNone/>
                      </a:pPr>
                      <a:r>
                        <a:rPr lang="en-US" sz="1600" b="0" i="0" u="none" strike="noStrike" noProof="0">
                          <a:latin typeface="Univers Light"/>
                        </a:rPr>
                        <a:t>Step</a:t>
                      </a:r>
                      <a:endParaRPr lang="en-US" sz="1600" b="0">
                        <a:latin typeface="Univers Light"/>
                      </a:endParaRPr>
                    </a:p>
                  </a:txBody>
                  <a:tcPr/>
                </a:tc>
                <a:tc>
                  <a:txBody>
                    <a:bodyPr/>
                    <a:lstStyle/>
                    <a:p>
                      <a:pPr lvl="0">
                        <a:buNone/>
                      </a:pPr>
                      <a:r>
                        <a:rPr lang="en-US" sz="1600" b="0" i="0" u="none" strike="noStrike" noProof="0">
                          <a:latin typeface="Univers Light"/>
                        </a:rPr>
                        <a:t>Description</a:t>
                      </a:r>
                      <a:endParaRPr lang="en-US" sz="1600" b="0">
                        <a:latin typeface="Univers Light"/>
                      </a:endParaRPr>
                    </a:p>
                  </a:txBody>
                  <a:tcPr/>
                </a:tc>
                <a:extLst>
                  <a:ext uri="{0D108BD9-81ED-4DB2-BD59-A6C34878D82A}">
                    <a16:rowId xmlns:a16="http://schemas.microsoft.com/office/drawing/2014/main" val="4275149534"/>
                  </a:ext>
                </a:extLst>
              </a:tr>
              <a:tr h="370840">
                <a:tc>
                  <a:txBody>
                    <a:bodyPr/>
                    <a:lstStyle/>
                    <a:p>
                      <a:pPr lvl="0">
                        <a:buNone/>
                      </a:pPr>
                      <a:r>
                        <a:rPr lang="en-US" sz="1400" b="0" i="0" u="none" strike="noStrike" noProof="0">
                          <a:solidFill>
                            <a:schemeClr val="tx1"/>
                          </a:solidFill>
                          <a:latin typeface="Univers Light"/>
                        </a:rPr>
                        <a:t>1. Building an Abstract Syntax Tree (AST)</a:t>
                      </a:r>
                    </a:p>
                  </a:txBody>
                  <a:tcPr/>
                </a:tc>
                <a:tc>
                  <a:txBody>
                    <a:bodyPr/>
                    <a:lstStyle/>
                    <a:p>
                      <a:pPr lvl="0" algn="l">
                        <a:lnSpc>
                          <a:spcPct val="100000"/>
                        </a:lnSpc>
                        <a:spcBef>
                          <a:spcPts val="0"/>
                        </a:spcBef>
                        <a:spcAft>
                          <a:spcPts val="0"/>
                        </a:spcAft>
                        <a:buNone/>
                      </a:pPr>
                      <a:r>
                        <a:rPr lang="en-US" sz="1400" b="1" i="0" u="none" strike="noStrike" noProof="0">
                          <a:solidFill>
                            <a:schemeClr val="tx1"/>
                          </a:solidFill>
                          <a:latin typeface="Univers Light"/>
                        </a:rPr>
                        <a:t>Nodes</a:t>
                      </a:r>
                      <a:r>
                        <a:rPr lang="en-US" sz="1400" b="0" i="0" u="none" strike="noStrike" noProof="0">
                          <a:solidFill>
                            <a:schemeClr val="tx1"/>
                          </a:solidFill>
                          <a:latin typeface="Univers Light"/>
                        </a:rPr>
                        <a:t> in the AST:</a:t>
                      </a:r>
                      <a:endParaRPr lang="en-US" sz="1400">
                        <a:solidFill>
                          <a:schemeClr val="tx1"/>
                        </a:solidFill>
                        <a:latin typeface="Univers Light"/>
                      </a:endParaRPr>
                    </a:p>
                    <a:p>
                      <a:pPr marL="285750" lvl="0" indent="-285750" algn="l">
                        <a:lnSpc>
                          <a:spcPct val="100000"/>
                        </a:lnSpc>
                        <a:spcBef>
                          <a:spcPts val="0"/>
                        </a:spcBef>
                        <a:spcAft>
                          <a:spcPts val="0"/>
                        </a:spcAft>
                        <a:buFont typeface="Arial"/>
                        <a:buChar char="•"/>
                      </a:pPr>
                      <a:r>
                        <a:rPr lang="en-US" sz="1400" b="0" i="0" u="none" strike="noStrike" noProof="0">
                          <a:solidFill>
                            <a:srgbClr val="FF0000"/>
                          </a:solidFill>
                          <a:latin typeface="Univers Light"/>
                        </a:rPr>
                        <a:t>Command Nodes, </a:t>
                      </a:r>
                      <a:r>
                        <a:rPr lang="en-US" sz="1400" b="0" i="0" u="none" strike="noStrike" noProof="0">
                          <a:solidFill>
                            <a:srgbClr val="FF0000"/>
                          </a:solidFill>
                        </a:rPr>
                        <a:t>Control Structure</a:t>
                      </a:r>
                      <a:r>
                        <a:rPr lang="en-US" sz="1400" b="0" i="0" u="none" strike="noStrike" noProof="0">
                          <a:solidFill>
                            <a:srgbClr val="FF0000"/>
                          </a:solidFill>
                          <a:latin typeface="Univers Light"/>
                        </a:rPr>
                        <a:t>, </a:t>
                      </a:r>
                      <a:r>
                        <a:rPr lang="en-US" sz="1400" b="0" i="0" u="none" strike="noStrike" noProof="0">
                          <a:solidFill>
                            <a:srgbClr val="FF0000"/>
                          </a:solidFill>
                        </a:rPr>
                        <a:t>Redirection Nodes, </a:t>
                      </a:r>
                      <a:r>
                        <a:rPr lang="en-US" sz="1400" b="0" i="0" u="none" strike="noStrike" noProof="0">
                          <a:solidFill>
                            <a:srgbClr val="FF0000"/>
                          </a:solidFill>
                          <a:latin typeface="Univers Light"/>
                        </a:rPr>
                        <a:t>Pipeline Node</a:t>
                      </a:r>
                      <a:r>
                        <a:rPr lang="en-US" sz="1400" b="0" i="0" u="none" strike="noStrike" noProof="0">
                          <a:solidFill>
                            <a:schemeClr val="tx1"/>
                          </a:solidFill>
                          <a:latin typeface="Univers Light"/>
                        </a:rPr>
                        <a:t>, </a:t>
                      </a:r>
                      <a:r>
                        <a:rPr lang="en-US" sz="1400" b="0" i="0" u="none" strike="noStrike" noProof="0">
                          <a:solidFill>
                            <a:schemeClr val="tx1"/>
                          </a:solidFill>
                        </a:rPr>
                        <a:t>Background Node, </a:t>
                      </a:r>
                      <a:r>
                        <a:rPr lang="en-US" sz="1400" b="0" i="0" u="none" strike="noStrike" noProof="0">
                          <a:solidFill>
                            <a:schemeClr val="tx1"/>
                          </a:solidFill>
                          <a:latin typeface="Univers Light"/>
                        </a:rPr>
                        <a:t>List Node, </a:t>
                      </a:r>
                      <a:r>
                        <a:rPr lang="en-US" sz="1400" b="0" i="0" u="none" strike="noStrike" noProof="0">
                          <a:solidFill>
                            <a:schemeClr val="tx1"/>
                          </a:solidFill>
                        </a:rPr>
                        <a:t>Assignment Node, </a:t>
                      </a:r>
                      <a:r>
                        <a:rPr lang="en-US" sz="1400" b="0" i="0" u="none" strike="noStrike" noProof="0">
                          <a:solidFill>
                            <a:schemeClr val="tx1"/>
                          </a:solidFill>
                          <a:latin typeface="Univers Light"/>
                        </a:rPr>
                        <a:t>Command Substitution Node, </a:t>
                      </a:r>
                      <a:r>
                        <a:rPr lang="en-US" sz="1400" b="0" i="0" u="none" strike="noStrike" noProof="0">
                          <a:solidFill>
                            <a:srgbClr val="FF0000"/>
                          </a:solidFill>
                        </a:rPr>
                        <a:t>Here Document Node (</a:t>
                      </a:r>
                      <a:r>
                        <a:rPr lang="en-US" sz="1400" b="0" i="0" u="none" strike="noStrike" noProof="0">
                          <a:solidFill>
                            <a:srgbClr val="FF0000"/>
                          </a:solidFill>
                          <a:latin typeface="Consolas"/>
                        </a:rPr>
                        <a:t>&lt;&lt;</a:t>
                      </a:r>
                      <a:r>
                        <a:rPr lang="en-US" sz="1400" b="0" i="0" u="none" strike="noStrike" noProof="0">
                          <a:solidFill>
                            <a:srgbClr val="FF0000"/>
                          </a:solidFill>
                        </a:rPr>
                        <a:t>), </a:t>
                      </a:r>
                      <a:r>
                        <a:rPr lang="en-US" sz="1400" b="0" i="0" u="none" strike="noStrike" noProof="0">
                          <a:solidFill>
                            <a:srgbClr val="FF0000"/>
                          </a:solidFill>
                          <a:latin typeface="Univers Light"/>
                        </a:rPr>
                        <a:t>Logical Grouping Node (</a:t>
                      </a:r>
                      <a:r>
                        <a:rPr lang="en-US" sz="1400" b="0" i="0" u="none" strike="noStrike" noProof="0">
                          <a:solidFill>
                            <a:srgbClr val="FF0000"/>
                          </a:solidFill>
                          <a:latin typeface="Consolas"/>
                        </a:rPr>
                        <a:t>()</a:t>
                      </a:r>
                      <a:r>
                        <a:rPr lang="en-US" sz="1400" b="0" i="0" u="none" strike="noStrike" noProof="0">
                          <a:solidFill>
                            <a:srgbClr val="FF0000"/>
                          </a:solidFill>
                          <a:latin typeface="Univers Light"/>
                        </a:rPr>
                        <a:t>, </a:t>
                      </a:r>
                      <a:r>
                        <a:rPr lang="en-US" sz="1400" b="0" i="0" u="none" strike="noStrike" noProof="0">
                          <a:solidFill>
                            <a:srgbClr val="FF0000"/>
                          </a:solidFill>
                          <a:latin typeface="Consolas"/>
                        </a:rPr>
                        <a:t>{}</a:t>
                      </a:r>
                      <a:r>
                        <a:rPr lang="en-US" sz="1400" b="0" i="0" u="none" strike="noStrike" noProof="0">
                          <a:solidFill>
                            <a:srgbClr val="FF0000"/>
                          </a:solidFill>
                          <a:latin typeface="Univers Light"/>
                        </a:rPr>
                        <a:t>)</a:t>
                      </a:r>
                      <a:r>
                        <a:rPr lang="en-US" sz="1400" b="0" i="0" u="none" strike="noStrike" noProof="0">
                          <a:solidFill>
                            <a:schemeClr val="tx1"/>
                          </a:solidFill>
                          <a:latin typeface="Univers Light"/>
                        </a:rPr>
                        <a:t>, </a:t>
                      </a:r>
                      <a:r>
                        <a:rPr lang="en-US" sz="1400" b="0" i="0" u="none" strike="noStrike" noProof="0">
                          <a:solidFill>
                            <a:schemeClr val="tx1"/>
                          </a:solidFill>
                        </a:rPr>
                        <a:t>Conditional Expression Node (</a:t>
                      </a:r>
                      <a:r>
                        <a:rPr lang="en-US" sz="1400" b="0" i="0" u="none" strike="noStrike" noProof="0">
                          <a:solidFill>
                            <a:schemeClr val="tx1"/>
                          </a:solidFill>
                          <a:latin typeface="Consolas"/>
                        </a:rPr>
                        <a:t>[[ ]]</a:t>
                      </a:r>
                      <a:r>
                        <a:rPr lang="en-US" sz="1400" b="0" i="0" u="none" strike="noStrike" noProof="0">
                          <a:solidFill>
                            <a:schemeClr val="tx1"/>
                          </a:solidFill>
                        </a:rPr>
                        <a:t>, </a:t>
                      </a:r>
                      <a:r>
                        <a:rPr lang="en-US" sz="1400" b="0" i="0" u="none" strike="noStrike" noProof="0">
                          <a:solidFill>
                            <a:schemeClr val="tx1"/>
                          </a:solidFill>
                          <a:latin typeface="Consolas"/>
                        </a:rPr>
                        <a:t>[ ]</a:t>
                      </a:r>
                      <a:r>
                        <a:rPr lang="en-US" sz="1400" b="0" i="0" u="none" strike="noStrike" noProof="0">
                          <a:solidFill>
                            <a:schemeClr val="tx1"/>
                          </a:solidFill>
                        </a:rPr>
                        <a:t>), </a:t>
                      </a:r>
                      <a:r>
                        <a:rPr lang="en-US" sz="1400" b="0" i="0" u="none" strike="noStrike" noProof="0">
                          <a:solidFill>
                            <a:schemeClr val="tx1"/>
                          </a:solidFill>
                          <a:latin typeface="Univers Light"/>
                        </a:rPr>
                        <a:t>No Operation Node (NOP)</a:t>
                      </a:r>
                      <a:endParaRPr lang="en-US" sz="1400">
                        <a:solidFill>
                          <a:schemeClr val="tx1"/>
                        </a:solidFill>
                        <a:latin typeface="Univers Light"/>
                      </a:endParaRPr>
                    </a:p>
                  </a:txBody>
                  <a:tcPr/>
                </a:tc>
                <a:extLst>
                  <a:ext uri="{0D108BD9-81ED-4DB2-BD59-A6C34878D82A}">
                    <a16:rowId xmlns:a16="http://schemas.microsoft.com/office/drawing/2014/main" val="898591151"/>
                  </a:ext>
                </a:extLst>
              </a:tr>
              <a:tr h="370840">
                <a:tc>
                  <a:txBody>
                    <a:bodyPr/>
                    <a:lstStyle/>
                    <a:p>
                      <a:pPr lvl="0">
                        <a:buNone/>
                      </a:pPr>
                      <a:r>
                        <a:rPr lang="en-US" sz="1400" b="0" i="0" u="none" strike="noStrike" noProof="0">
                          <a:solidFill>
                            <a:schemeClr val="tx1"/>
                          </a:solidFill>
                          <a:latin typeface="Univers Light"/>
                        </a:rPr>
                        <a:t>2. </a:t>
                      </a:r>
                      <a:r>
                        <a:rPr lang="en-US" sz="1400" b="1" i="0" u="none" strike="noStrike" noProof="0">
                          <a:solidFill>
                            <a:schemeClr val="tx1"/>
                          </a:solidFill>
                          <a:latin typeface="Univers Light"/>
                        </a:rPr>
                        <a:t>Handling Control Operators</a:t>
                      </a:r>
                      <a:endParaRPr lang="en-US" sz="1400" b="0">
                        <a:solidFill>
                          <a:schemeClr val="tx1"/>
                        </a:solidFill>
                        <a:latin typeface="Univers Light"/>
                      </a:endParaRPr>
                    </a:p>
                  </a:txBody>
                  <a:tcPr/>
                </a:tc>
                <a:tc>
                  <a:txBody>
                    <a:bodyPr/>
                    <a:lstStyle/>
                    <a:p>
                      <a:pPr marL="285750" lvl="0" indent="-285750" algn="l">
                        <a:lnSpc>
                          <a:spcPct val="100000"/>
                        </a:lnSpc>
                        <a:spcBef>
                          <a:spcPts val="0"/>
                        </a:spcBef>
                        <a:spcAft>
                          <a:spcPts val="0"/>
                        </a:spcAft>
                        <a:buFont typeface="Arial"/>
                        <a:buChar char="•"/>
                      </a:pPr>
                      <a:r>
                        <a:rPr lang="en-US" sz="1400" b="1" i="0" u="none" strike="noStrike" noProof="0">
                          <a:solidFill>
                            <a:srgbClr val="FF0000"/>
                          </a:solidFill>
                          <a:latin typeface="Univers Light"/>
                        </a:rPr>
                        <a:t>Logical AND</a:t>
                      </a:r>
                      <a:r>
                        <a:rPr lang="en-US" sz="1400" b="0" i="0" u="none" strike="noStrike" noProof="0">
                          <a:solidFill>
                            <a:srgbClr val="FF0000"/>
                          </a:solidFill>
                          <a:latin typeface="Univers Light"/>
                        </a:rPr>
                        <a:t> (&amp;&amp;) and </a:t>
                      </a:r>
                      <a:r>
                        <a:rPr lang="en-US" sz="1400" b="1" i="0" u="none" strike="noStrike" noProof="0">
                          <a:solidFill>
                            <a:srgbClr val="FF0000"/>
                          </a:solidFill>
                          <a:latin typeface="Univers Light"/>
                        </a:rPr>
                        <a:t>OR</a:t>
                      </a:r>
                      <a:r>
                        <a:rPr lang="en-US" sz="1400" b="0" i="0" u="none" strike="noStrike" noProof="0">
                          <a:solidFill>
                            <a:srgbClr val="FF0000"/>
                          </a:solidFill>
                          <a:latin typeface="Univers Light"/>
                        </a:rPr>
                        <a:t> (||) are parsed for conditional execution.</a:t>
                      </a:r>
                      <a:endParaRPr lang="en-US" sz="1400">
                        <a:solidFill>
                          <a:srgbClr val="FF0000"/>
                        </a:solidFill>
                        <a:latin typeface="Univers Light"/>
                      </a:endParaRPr>
                    </a:p>
                    <a:p>
                      <a:pPr marL="285750" lvl="0" indent="-285750" algn="l">
                        <a:lnSpc>
                          <a:spcPct val="100000"/>
                        </a:lnSpc>
                        <a:spcBef>
                          <a:spcPts val="0"/>
                        </a:spcBef>
                        <a:spcAft>
                          <a:spcPts val="0"/>
                        </a:spcAft>
                        <a:buFont typeface="Arial"/>
                        <a:buChar char="•"/>
                      </a:pPr>
                      <a:r>
                        <a:rPr lang="en-US" sz="1400" b="1" i="0" u="none" strike="noStrike" noProof="0">
                          <a:solidFill>
                            <a:schemeClr val="tx1"/>
                          </a:solidFill>
                          <a:latin typeface="Univers Light"/>
                        </a:rPr>
                        <a:t>Background operator</a:t>
                      </a:r>
                      <a:r>
                        <a:rPr lang="en-US" sz="1400" b="0" i="0" u="none" strike="noStrike" noProof="0">
                          <a:solidFill>
                            <a:schemeClr val="tx1"/>
                          </a:solidFill>
                          <a:latin typeface="Univers Light"/>
                        </a:rPr>
                        <a:t> (&amp;) is parsed to determine if a command should run in the background.</a:t>
                      </a:r>
                      <a:endParaRPr lang="en-US" sz="1400">
                        <a:solidFill>
                          <a:schemeClr val="tx1"/>
                        </a:solidFill>
                        <a:latin typeface="Univers Light"/>
                      </a:endParaRPr>
                    </a:p>
                    <a:p>
                      <a:pPr marL="285750" lvl="0" indent="-285750" algn="l">
                        <a:lnSpc>
                          <a:spcPct val="100000"/>
                        </a:lnSpc>
                        <a:spcBef>
                          <a:spcPts val="0"/>
                        </a:spcBef>
                        <a:spcAft>
                          <a:spcPts val="0"/>
                        </a:spcAft>
                        <a:buFont typeface="Arial"/>
                        <a:buChar char="•"/>
                      </a:pPr>
                      <a:r>
                        <a:rPr lang="en-US" sz="1400" b="1" i="0" u="none" strike="noStrike" noProof="0">
                          <a:solidFill>
                            <a:schemeClr val="tx1"/>
                          </a:solidFill>
                          <a:latin typeface="Univers Light"/>
                        </a:rPr>
                        <a:t>Sequential commands</a:t>
                      </a:r>
                      <a:r>
                        <a:rPr lang="en-US" sz="1400" b="0" i="0" u="none" strike="noStrike" noProof="0">
                          <a:solidFill>
                            <a:schemeClr val="tx1"/>
                          </a:solidFill>
                          <a:latin typeface="Univers Light"/>
                        </a:rPr>
                        <a:t>: Commands separated by ; or newline are handled as sequential commands in the AST.</a:t>
                      </a:r>
                      <a:endParaRPr lang="en-US" sz="1400">
                        <a:solidFill>
                          <a:schemeClr val="tx1"/>
                        </a:solidFill>
                        <a:latin typeface="Univers Light"/>
                      </a:endParaRPr>
                    </a:p>
                    <a:p>
                      <a:pPr marL="285750" lvl="0" indent="-285750" algn="l">
                        <a:lnSpc>
                          <a:spcPct val="100000"/>
                        </a:lnSpc>
                        <a:spcBef>
                          <a:spcPts val="0"/>
                        </a:spcBef>
                        <a:spcAft>
                          <a:spcPts val="0"/>
                        </a:spcAft>
                        <a:buFont typeface="Arial"/>
                        <a:buChar char="•"/>
                      </a:pPr>
                      <a:r>
                        <a:rPr lang="en-US" sz="1400" b="1" i="0" u="none" strike="noStrike" noProof="0">
                          <a:solidFill>
                            <a:srgbClr val="FF0000"/>
                          </a:solidFill>
                          <a:latin typeface="Univers Light"/>
                        </a:rPr>
                        <a:t>Subshells</a:t>
                      </a:r>
                      <a:r>
                        <a:rPr lang="en-US" sz="1400" b="0" i="0" u="none" strike="noStrike" noProof="0">
                          <a:solidFill>
                            <a:srgbClr val="FF0000"/>
                          </a:solidFill>
                          <a:latin typeface="Univers Light"/>
                        </a:rPr>
                        <a:t>: Commands enclosed in () are parsed as subshells.</a:t>
                      </a:r>
                      <a:endParaRPr lang="en-US" sz="1400">
                        <a:solidFill>
                          <a:srgbClr val="FF0000"/>
                        </a:solidFill>
                        <a:latin typeface="Univers Light"/>
                      </a:endParaRPr>
                    </a:p>
                  </a:txBody>
                  <a:tcPr/>
                </a:tc>
                <a:extLst>
                  <a:ext uri="{0D108BD9-81ED-4DB2-BD59-A6C34878D82A}">
                    <a16:rowId xmlns:a16="http://schemas.microsoft.com/office/drawing/2014/main" val="3345000842"/>
                  </a:ext>
                </a:extLst>
              </a:tr>
              <a:tr h="370840">
                <a:tc>
                  <a:txBody>
                    <a:bodyPr/>
                    <a:lstStyle/>
                    <a:p>
                      <a:pPr lvl="0">
                        <a:buNone/>
                      </a:pPr>
                      <a:r>
                        <a:rPr lang="en-US" sz="1400" b="0" i="0" u="none" strike="noStrike" noProof="0">
                          <a:solidFill>
                            <a:srgbClr val="FF0000"/>
                          </a:solidFill>
                          <a:latin typeface="Univers Light"/>
                        </a:rPr>
                        <a:t>3. </a:t>
                      </a:r>
                      <a:r>
                        <a:rPr lang="en-US" sz="1400" b="1" i="0" u="none" strike="noStrike" noProof="0">
                          <a:solidFill>
                            <a:srgbClr val="FF0000"/>
                          </a:solidFill>
                          <a:latin typeface="Univers Light"/>
                        </a:rPr>
                        <a:t>Redirection Operators</a:t>
                      </a:r>
                      <a:endParaRPr lang="en-US" sz="1400" b="1">
                        <a:solidFill>
                          <a:srgbClr val="FF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redirection operators (&lt;, &gt;, &gt;&gt;, 2&gt;, etc.)</a:t>
                      </a:r>
                      <a:endParaRPr lang="en-US" sz="1400">
                        <a:solidFill>
                          <a:srgbClr val="FF0000"/>
                        </a:solidFill>
                        <a:latin typeface="Univers Light"/>
                      </a:endParaRPr>
                    </a:p>
                  </a:txBody>
                  <a:tcPr/>
                </a:tc>
                <a:extLst>
                  <a:ext uri="{0D108BD9-81ED-4DB2-BD59-A6C34878D82A}">
                    <a16:rowId xmlns:a16="http://schemas.microsoft.com/office/drawing/2014/main" val="77957309"/>
                  </a:ext>
                </a:extLst>
              </a:tr>
              <a:tr h="370840">
                <a:tc>
                  <a:txBody>
                    <a:bodyPr/>
                    <a:lstStyle/>
                    <a:p>
                      <a:pPr lvl="0">
                        <a:buNone/>
                      </a:pPr>
                      <a:r>
                        <a:rPr lang="en-US" sz="1400" b="0" i="0" u="none" strike="noStrike" noProof="0">
                          <a:solidFill>
                            <a:srgbClr val="FF0000"/>
                          </a:solidFill>
                          <a:latin typeface="Univers Light"/>
                        </a:rPr>
                        <a:t>4. Syntax Validation</a:t>
                      </a:r>
                      <a:endParaRPr lang="en-US" sz="1400" b="0">
                        <a:solidFill>
                          <a:srgbClr val="FF0000"/>
                        </a:solidFill>
                        <a:latin typeface="Univers Light"/>
                      </a:endParaRPr>
                    </a:p>
                  </a:txBody>
                  <a:tcPr/>
                </a:tc>
                <a:tc>
                  <a:txBody>
                    <a:bodyPr/>
                    <a:lstStyle/>
                    <a:p>
                      <a:pPr marL="285750" lvl="0" indent="-285750" algn="l">
                        <a:lnSpc>
                          <a:spcPct val="100000"/>
                        </a:lnSpc>
                        <a:spcBef>
                          <a:spcPts val="0"/>
                        </a:spcBef>
                        <a:spcAft>
                          <a:spcPts val="0"/>
                        </a:spcAft>
                        <a:buFont typeface="Arial"/>
                        <a:buChar char="•"/>
                      </a:pPr>
                      <a:r>
                        <a:rPr lang="en-US" sz="1400" b="0" i="0" u="none" strike="noStrike" noProof="0">
                          <a:solidFill>
                            <a:srgbClr val="FF0000"/>
                          </a:solidFill>
                          <a:latin typeface="Univers Light"/>
                        </a:rPr>
                        <a:t>Unclosed quotes.</a:t>
                      </a:r>
                      <a:endParaRPr lang="en-US" sz="1400">
                        <a:solidFill>
                          <a:srgbClr val="FF0000"/>
                        </a:solidFill>
                        <a:latin typeface="Univers Light"/>
                      </a:endParaRPr>
                    </a:p>
                    <a:p>
                      <a:pPr marL="285750" lvl="0" indent="-285750" algn="l">
                        <a:lnSpc>
                          <a:spcPct val="100000"/>
                        </a:lnSpc>
                        <a:spcBef>
                          <a:spcPts val="0"/>
                        </a:spcBef>
                        <a:spcAft>
                          <a:spcPts val="0"/>
                        </a:spcAft>
                        <a:buFont typeface="Arial"/>
                        <a:buChar char="•"/>
                      </a:pPr>
                      <a:r>
                        <a:rPr lang="en-US" sz="1400" b="0" i="0" u="none" strike="noStrike" noProof="0">
                          <a:solidFill>
                            <a:srgbClr val="FF0000"/>
                          </a:solidFill>
                          <a:latin typeface="Univers Light"/>
                        </a:rPr>
                        <a:t>Mismatched parentheses.</a:t>
                      </a:r>
                      <a:endParaRPr lang="en-US" sz="1400">
                        <a:solidFill>
                          <a:srgbClr val="FF0000"/>
                        </a:solidFill>
                        <a:latin typeface="Univers Light"/>
                      </a:endParaRPr>
                    </a:p>
                    <a:p>
                      <a:pPr marL="285750" lvl="0" indent="-285750" algn="l">
                        <a:lnSpc>
                          <a:spcPct val="100000"/>
                        </a:lnSpc>
                        <a:spcBef>
                          <a:spcPts val="0"/>
                        </a:spcBef>
                        <a:spcAft>
                          <a:spcPts val="0"/>
                        </a:spcAft>
                        <a:buFont typeface="Arial"/>
                        <a:buChar char="•"/>
                      </a:pPr>
                      <a:r>
                        <a:rPr lang="en-US" sz="1400" b="0" i="0" u="none" strike="noStrike" noProof="0">
                          <a:solidFill>
                            <a:srgbClr val="FF0000"/>
                          </a:solidFill>
                          <a:latin typeface="Univers Light"/>
                        </a:rPr>
                        <a:t>Incorrect operator usage (e.g., consecutive | without commands between them).</a:t>
                      </a:r>
                      <a:endParaRPr lang="en-US" sz="1400">
                        <a:solidFill>
                          <a:srgbClr val="FF0000"/>
                        </a:solidFill>
                        <a:latin typeface="Univers Light"/>
                      </a:endParaRPr>
                    </a:p>
                    <a:p>
                      <a:pPr marL="0" lvl="0" indent="0" algn="l">
                        <a:lnSpc>
                          <a:spcPct val="100000"/>
                        </a:lnSpc>
                        <a:spcBef>
                          <a:spcPts val="0"/>
                        </a:spcBef>
                        <a:spcAft>
                          <a:spcPts val="0"/>
                        </a:spcAft>
                        <a:buNone/>
                      </a:pPr>
                      <a:r>
                        <a:rPr lang="en-US" sz="1400" b="0" i="0" u="none" strike="noStrike" noProof="0">
                          <a:solidFill>
                            <a:srgbClr val="FF0000"/>
                          </a:solidFill>
                          <a:latin typeface="Univers Light"/>
                        </a:rPr>
                        <a:t>If any syntax errors are found, Bash outputs an error message and halts execution for that command.</a:t>
                      </a:r>
                      <a:endParaRPr lang="en-US" sz="1400">
                        <a:solidFill>
                          <a:srgbClr val="FF0000"/>
                        </a:solidFill>
                        <a:latin typeface="Univers Light"/>
                      </a:endParaRPr>
                    </a:p>
                  </a:txBody>
                  <a:tcPr/>
                </a:tc>
                <a:extLst>
                  <a:ext uri="{0D108BD9-81ED-4DB2-BD59-A6C34878D82A}">
                    <a16:rowId xmlns:a16="http://schemas.microsoft.com/office/drawing/2014/main" val="2564535257"/>
                  </a:ext>
                </a:extLst>
              </a:tr>
              <a:tr h="370840">
                <a:tc>
                  <a:txBody>
                    <a:bodyPr/>
                    <a:lstStyle/>
                    <a:p>
                      <a:pPr lvl="0">
                        <a:buNone/>
                      </a:pPr>
                      <a:r>
                        <a:rPr lang="en-US" sz="1400" b="0" i="0" u="none" strike="noStrike" noProof="0">
                          <a:solidFill>
                            <a:schemeClr val="tx1"/>
                          </a:solidFill>
                          <a:latin typeface="Univers Light"/>
                        </a:rPr>
                        <a:t>5. Final AST Construction</a:t>
                      </a:r>
                      <a:endParaRPr lang="en-US" sz="1400" b="0">
                        <a:solidFill>
                          <a:schemeClr val="tx1"/>
                        </a:solidFill>
                        <a:latin typeface="Univers Light"/>
                      </a:endParaRPr>
                    </a:p>
                  </a:txBody>
                  <a:tcPr/>
                </a:tc>
                <a:tc>
                  <a:txBody>
                    <a:bodyPr/>
                    <a:lstStyle/>
                    <a:p>
                      <a:pPr lvl="0" algn="l">
                        <a:lnSpc>
                          <a:spcPct val="100000"/>
                        </a:lnSpc>
                        <a:spcBef>
                          <a:spcPts val="0"/>
                        </a:spcBef>
                        <a:spcAft>
                          <a:spcPts val="0"/>
                        </a:spcAft>
                        <a:buNone/>
                      </a:pPr>
                      <a:r>
                        <a:rPr lang="en-US" sz="1400" b="0" i="0" u="none" strike="noStrike" noProof="0">
                          <a:solidFill>
                            <a:schemeClr val="tx1"/>
                          </a:solidFill>
                          <a:latin typeface="Univers Light"/>
                        </a:rPr>
                        <a:t>Pass to execution</a:t>
                      </a:r>
                      <a:endParaRPr lang="en-US" sz="1400">
                        <a:solidFill>
                          <a:schemeClr val="tx1"/>
                        </a:solidFill>
                        <a:latin typeface="Univers Light"/>
                      </a:endParaRPr>
                    </a:p>
                  </a:txBody>
                  <a:tcPr/>
                </a:tc>
                <a:extLst>
                  <a:ext uri="{0D108BD9-81ED-4DB2-BD59-A6C34878D82A}">
                    <a16:rowId xmlns:a16="http://schemas.microsoft.com/office/drawing/2014/main" val="3178960023"/>
                  </a:ext>
                </a:extLst>
              </a:tr>
            </a:tbl>
          </a:graphicData>
        </a:graphic>
      </p:graphicFrame>
    </p:spTree>
    <p:extLst>
      <p:ext uri="{BB962C8B-B14F-4D97-AF65-F5344CB8AC3E}">
        <p14:creationId xmlns:p14="http://schemas.microsoft.com/office/powerpoint/2010/main" val="2310981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802A-D50F-A012-619D-872D9A3D54E0}"/>
              </a:ext>
            </a:extLst>
          </p:cNvPr>
          <p:cNvSpPr>
            <a:spLocks noGrp="1"/>
          </p:cNvSpPr>
          <p:nvPr>
            <p:ph type="title"/>
          </p:nvPr>
        </p:nvSpPr>
        <p:spPr>
          <a:xfrm>
            <a:off x="755650" y="409046"/>
            <a:ext cx="9601200" cy="1309687"/>
          </a:xfrm>
        </p:spPr>
        <p:txBody>
          <a:bodyPr vert="horz" lIns="91440" tIns="45720" rIns="91440" bIns="45720" rtlCol="0" anchor="t">
            <a:normAutofit/>
          </a:bodyPr>
          <a:lstStyle/>
          <a:p>
            <a:r>
              <a:rPr lang="en-US"/>
              <a:t>PARSING (</a:t>
            </a:r>
            <a:r>
              <a:rPr lang="en-US" err="1"/>
              <a:t>GRammar</a:t>
            </a:r>
            <a:r>
              <a:rPr lang="en-US"/>
              <a:t> Check)</a:t>
            </a:r>
          </a:p>
        </p:txBody>
      </p:sp>
      <p:graphicFrame>
        <p:nvGraphicFramePr>
          <p:cNvPr id="24" name="Content Placeholder 23">
            <a:extLst>
              <a:ext uri="{FF2B5EF4-FFF2-40B4-BE49-F238E27FC236}">
                <a16:creationId xmlns:a16="http://schemas.microsoft.com/office/drawing/2014/main" id="{03A66FF5-6CB6-5D72-93E8-7C3F5630DFAA}"/>
              </a:ext>
            </a:extLst>
          </p:cNvPr>
          <p:cNvGraphicFramePr>
            <a:graphicFrameLocks noGrp="1"/>
          </p:cNvGraphicFramePr>
          <p:nvPr>
            <p:ph idx="1"/>
            <p:extLst>
              <p:ext uri="{D42A27DB-BD31-4B8C-83A1-F6EECF244321}">
                <p14:modId xmlns:p14="http://schemas.microsoft.com/office/powerpoint/2010/main" val="2636586380"/>
              </p:ext>
            </p:extLst>
          </p:nvPr>
        </p:nvGraphicFramePr>
        <p:xfrm>
          <a:off x="751416" y="1121833"/>
          <a:ext cx="11060538" cy="4373877"/>
        </p:xfrm>
        <a:graphic>
          <a:graphicData uri="http://schemas.openxmlformats.org/drawingml/2006/table">
            <a:tbl>
              <a:tblPr firstRow="1" bandRow="1">
                <a:tableStyleId>{5C22544A-7EE6-4342-B048-85BDC9FD1C3A}</a:tableStyleId>
              </a:tblPr>
              <a:tblGrid>
                <a:gridCol w="2586180">
                  <a:extLst>
                    <a:ext uri="{9D8B030D-6E8A-4147-A177-3AD203B41FA5}">
                      <a16:colId xmlns:a16="http://schemas.microsoft.com/office/drawing/2014/main" val="2615497210"/>
                    </a:ext>
                  </a:extLst>
                </a:gridCol>
                <a:gridCol w="2824786">
                  <a:extLst>
                    <a:ext uri="{9D8B030D-6E8A-4147-A177-3AD203B41FA5}">
                      <a16:colId xmlns:a16="http://schemas.microsoft.com/office/drawing/2014/main" val="1910558492"/>
                    </a:ext>
                  </a:extLst>
                </a:gridCol>
                <a:gridCol w="2824786">
                  <a:extLst>
                    <a:ext uri="{9D8B030D-6E8A-4147-A177-3AD203B41FA5}">
                      <a16:colId xmlns:a16="http://schemas.microsoft.com/office/drawing/2014/main" val="139926339"/>
                    </a:ext>
                  </a:extLst>
                </a:gridCol>
                <a:gridCol w="2824786">
                  <a:extLst>
                    <a:ext uri="{9D8B030D-6E8A-4147-A177-3AD203B41FA5}">
                      <a16:colId xmlns:a16="http://schemas.microsoft.com/office/drawing/2014/main" val="3546818988"/>
                    </a:ext>
                  </a:extLst>
                </a:gridCol>
              </a:tblGrid>
              <a:tr h="370840">
                <a:tc>
                  <a:txBody>
                    <a:bodyPr/>
                    <a:lstStyle/>
                    <a:p>
                      <a:pPr lvl="0">
                        <a:buNone/>
                      </a:pPr>
                      <a:r>
                        <a:rPr lang="en-US" sz="1600" b="0" i="0" u="none" strike="noStrike" noProof="0">
                          <a:latin typeface="Univers Light"/>
                        </a:rPr>
                        <a:t>Step</a:t>
                      </a:r>
                      <a:endParaRPr lang="en-US" sz="1600" b="0">
                        <a:latin typeface="Univers Light"/>
                      </a:endParaRPr>
                    </a:p>
                  </a:txBody>
                  <a:tcPr/>
                </a:tc>
                <a:tc>
                  <a:txBody>
                    <a:bodyPr/>
                    <a:lstStyle/>
                    <a:p>
                      <a:pPr lvl="0">
                        <a:buNone/>
                      </a:pPr>
                      <a:r>
                        <a:rPr lang="en-US" sz="1600" b="0" i="0" u="none" strike="noStrike" noProof="0">
                          <a:latin typeface="Univers Light"/>
                        </a:rPr>
                        <a:t>Appear at start</a:t>
                      </a:r>
                      <a:endParaRPr lang="en-US" sz="1600" b="0">
                        <a:latin typeface="Univers Light"/>
                      </a:endParaRPr>
                    </a:p>
                  </a:txBody>
                  <a:tcPr/>
                </a:tc>
                <a:tc>
                  <a:txBody>
                    <a:bodyPr/>
                    <a:lstStyle/>
                    <a:p>
                      <a:pPr lvl="0">
                        <a:buNone/>
                      </a:pPr>
                      <a:r>
                        <a:rPr lang="en-US" sz="1600" b="0" i="0" u="none" strike="noStrike" noProof="0">
                          <a:latin typeface="Univers Light"/>
                        </a:rPr>
                        <a:t>Appear at end</a:t>
                      </a:r>
                    </a:p>
                  </a:txBody>
                  <a:tcPr/>
                </a:tc>
                <a:tc>
                  <a:txBody>
                    <a:bodyPr/>
                    <a:lstStyle/>
                    <a:p>
                      <a:pPr lvl="0">
                        <a:buNone/>
                      </a:pPr>
                      <a:r>
                        <a:rPr lang="en-US" sz="1600" b="0" i="0" u="none" strike="noStrike" noProof="0">
                          <a:latin typeface="Univers Light"/>
                        </a:rPr>
                        <a:t>Subsequent token</a:t>
                      </a:r>
                    </a:p>
                  </a:txBody>
                  <a:tcPr/>
                </a:tc>
                <a:extLst>
                  <a:ext uri="{0D108BD9-81ED-4DB2-BD59-A6C34878D82A}">
                    <a16:rowId xmlns:a16="http://schemas.microsoft.com/office/drawing/2014/main" val="4275149534"/>
                  </a:ext>
                </a:extLst>
              </a:tr>
              <a:tr h="370840">
                <a:tc>
                  <a:txBody>
                    <a:bodyPr/>
                    <a:lstStyle/>
                    <a:p>
                      <a:pPr lvl="0">
                        <a:buNone/>
                      </a:pPr>
                      <a:r>
                        <a:rPr lang="en-US" sz="1400" b="1" i="0" u="none" strike="noStrike" noProof="0">
                          <a:solidFill>
                            <a:srgbClr val="000000"/>
                          </a:solidFill>
                          <a:latin typeface="Univers Light"/>
                        </a:rPr>
                        <a:t>Pipes (|)</a:t>
                      </a:r>
                      <a:endParaRPr lang="en-US"/>
                    </a:p>
                  </a:txBody>
                  <a:tcPr/>
                </a:tc>
                <a:tc>
                  <a:txBody>
                    <a:bodyPr/>
                    <a:lstStyle/>
                    <a:p>
                      <a:pPr marL="0" lvl="0" indent="0" algn="l">
                        <a:lnSpc>
                          <a:spcPct val="100000"/>
                        </a:lnSpc>
                        <a:spcBef>
                          <a:spcPts val="0"/>
                        </a:spcBef>
                        <a:spcAft>
                          <a:spcPts val="0"/>
                        </a:spcAft>
                        <a:buNone/>
                      </a:pPr>
                      <a:r>
                        <a:rPr lang="en-US" sz="1400" b="0" i="0" u="none" strike="noStrike" noProof="0">
                          <a:latin typeface="Univers Light"/>
                        </a:rPr>
                        <a:t>No at start</a:t>
                      </a:r>
                      <a:endParaRPr lang="en-US" b="0"/>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No at end</a:t>
                      </a:r>
                      <a:endParaRPr lang="en-US" sz="1400" b="0" i="0" u="none" strike="noStrike" noProof="0">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cannot be a pipe, || or &amp;&amp;</a:t>
                      </a:r>
                    </a:p>
                    <a:p>
                      <a:pPr marL="0" lvl="0" indent="0" algn="l">
                        <a:lnSpc>
                          <a:spcPct val="100000"/>
                        </a:lnSpc>
                        <a:spcBef>
                          <a:spcPts val="0"/>
                        </a:spcBef>
                        <a:spcAft>
                          <a:spcPts val="0"/>
                        </a:spcAft>
                        <a:buNone/>
                      </a:pPr>
                      <a:r>
                        <a:rPr lang="en-US" sz="1400" b="0" i="0" u="none" strike="noStrike" noProof="0">
                          <a:solidFill>
                            <a:srgbClr val="FF0000"/>
                          </a:solidFill>
                          <a:latin typeface="Univers Light"/>
                        </a:rPr>
                        <a:t>can be &lt; &gt; &lt;&lt; &gt;&gt; ( WORD</a:t>
                      </a:r>
                    </a:p>
                  </a:txBody>
                  <a:tcPr/>
                </a:tc>
                <a:extLst>
                  <a:ext uri="{0D108BD9-81ED-4DB2-BD59-A6C34878D82A}">
                    <a16:rowId xmlns:a16="http://schemas.microsoft.com/office/drawing/2014/main" val="898591151"/>
                  </a:ext>
                </a:extLst>
              </a:tr>
              <a:tr h="370840">
                <a:tc>
                  <a:txBody>
                    <a:bodyPr/>
                    <a:lstStyle/>
                    <a:p>
                      <a:pPr lvl="0">
                        <a:buNone/>
                      </a:pPr>
                      <a:r>
                        <a:rPr lang="en-US" sz="1400" b="0" i="0" u="none" strike="noStrike" noProof="0"/>
                        <a:t>Input redirection (</a:t>
                      </a:r>
                      <a:r>
                        <a:rPr lang="en-US" sz="1400" b="0" i="0" u="none" strike="noStrike" noProof="0">
                          <a:latin typeface="Consolas"/>
                        </a:rPr>
                        <a:t>&lt;</a:t>
                      </a:r>
                      <a:r>
                        <a:rPr lang="en-US" sz="1400" b="0" i="0" u="none" strike="noStrike" noProof="0"/>
                        <a:t>)</a:t>
                      </a:r>
                      <a:endParaRPr lang="en-US"/>
                    </a:p>
                  </a:txBody>
                  <a:tcPr/>
                </a:tc>
                <a:tc>
                  <a:txBody>
                    <a:bodyPr/>
                    <a:lstStyle/>
                    <a:p>
                      <a:pPr marL="0" lvl="0" indent="0" algn="l">
                        <a:lnSpc>
                          <a:spcPct val="100000"/>
                        </a:lnSpc>
                        <a:spcBef>
                          <a:spcPts val="0"/>
                        </a:spcBef>
                        <a:spcAft>
                          <a:spcPts val="0"/>
                        </a:spcAft>
                        <a:buClr>
                          <a:srgbClr val="000000"/>
                        </a:buClr>
                        <a:buNone/>
                      </a:pPr>
                      <a:r>
                        <a:rPr lang="en-US" sz="1400" b="0" i="0" u="none" strike="noStrike" noProof="0">
                          <a:solidFill>
                            <a:srgbClr val="000000"/>
                          </a:solidFill>
                          <a:latin typeface="Univers Light"/>
                        </a:rPr>
                        <a:t>Yes at start</a:t>
                      </a:r>
                      <a:endParaRPr lang="en-US" b="0"/>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No at end</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WORD</a:t>
                      </a:r>
                      <a:endParaRPr lang="en-US" sz="1400" b="0" i="0" u="none" strike="noStrike" noProof="0">
                        <a:solidFill>
                          <a:srgbClr val="000000"/>
                        </a:solidFill>
                      </a:endParaRPr>
                    </a:p>
                  </a:txBody>
                  <a:tcPr/>
                </a:tc>
                <a:extLst>
                  <a:ext uri="{0D108BD9-81ED-4DB2-BD59-A6C34878D82A}">
                    <a16:rowId xmlns:a16="http://schemas.microsoft.com/office/drawing/2014/main" val="3345000842"/>
                  </a:ext>
                </a:extLst>
              </a:tr>
              <a:tr h="370840">
                <a:tc>
                  <a:txBody>
                    <a:bodyPr/>
                    <a:lstStyle/>
                    <a:p>
                      <a:pPr lvl="0">
                        <a:buNone/>
                      </a:pPr>
                      <a:r>
                        <a:rPr lang="en-US" sz="1400" b="0" i="0" u="none" strike="noStrike" noProof="0">
                          <a:solidFill>
                            <a:schemeClr val="tx1"/>
                          </a:solidFill>
                        </a:rPr>
                        <a:t>Output redirection (</a:t>
                      </a:r>
                      <a:r>
                        <a:rPr lang="en-US" sz="1400" b="0" i="0" u="none" strike="noStrike" noProof="0">
                          <a:solidFill>
                            <a:schemeClr val="tx1"/>
                          </a:solidFill>
                          <a:latin typeface="Consolas"/>
                        </a:rPr>
                        <a:t>&gt;</a:t>
                      </a:r>
                      <a:r>
                        <a:rPr lang="en-US" sz="1400" b="0" i="0" u="none" strike="noStrike" noProof="0">
                          <a:solidFill>
                            <a:schemeClr val="tx1"/>
                          </a:solidFill>
                        </a:rPr>
                        <a:t>)</a:t>
                      </a:r>
                      <a:endParaRPr lang="en-US">
                        <a:solidFill>
                          <a:schemeClr val="tx1"/>
                        </a:solidFill>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Yes at start</a:t>
                      </a:r>
                      <a:endParaRPr lang="en-US" b="0"/>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No at end</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WORD</a:t>
                      </a:r>
                      <a:endParaRPr lang="en-US" sz="1400" b="0" i="0" u="none" strike="noStrike" noProof="0">
                        <a:solidFill>
                          <a:srgbClr val="000000"/>
                        </a:solidFill>
                      </a:endParaRPr>
                    </a:p>
                  </a:txBody>
                  <a:tcPr/>
                </a:tc>
                <a:extLst>
                  <a:ext uri="{0D108BD9-81ED-4DB2-BD59-A6C34878D82A}">
                    <a16:rowId xmlns:a16="http://schemas.microsoft.com/office/drawing/2014/main" val="77957309"/>
                  </a:ext>
                </a:extLst>
              </a:tr>
              <a:tr h="370840">
                <a:tc>
                  <a:txBody>
                    <a:bodyPr/>
                    <a:lstStyle/>
                    <a:p>
                      <a:pPr lvl="0">
                        <a:buNone/>
                      </a:pPr>
                      <a:r>
                        <a:rPr lang="en-US" sz="1400" b="0" i="0" u="none" strike="noStrike" noProof="0">
                          <a:solidFill>
                            <a:schemeClr val="tx1"/>
                          </a:solidFill>
                        </a:rPr>
                        <a:t>Append (</a:t>
                      </a:r>
                      <a:r>
                        <a:rPr lang="en-US" sz="1400" b="0" i="0" u="none" strike="noStrike" noProof="0">
                          <a:solidFill>
                            <a:schemeClr val="tx1"/>
                          </a:solidFill>
                          <a:latin typeface="Consolas"/>
                        </a:rPr>
                        <a:t>&gt;&gt;</a:t>
                      </a:r>
                      <a:r>
                        <a:rPr lang="en-US" sz="1400" b="0" i="0" u="none" strike="noStrike" noProof="0">
                          <a:solidFill>
                            <a:schemeClr val="tx1"/>
                          </a:solidFill>
                        </a:rPr>
                        <a:t>)</a:t>
                      </a:r>
                      <a:endParaRPr lang="en-US">
                        <a:solidFill>
                          <a:schemeClr val="tx1"/>
                        </a:solidFill>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Yes at start</a:t>
                      </a:r>
                      <a:endParaRPr lang="en-US" b="0"/>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No at end</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WORD</a:t>
                      </a:r>
                      <a:endParaRPr lang="en-US" sz="1400" b="0" i="0" u="none" strike="noStrike" noProof="0">
                        <a:solidFill>
                          <a:srgbClr val="000000"/>
                        </a:solidFill>
                      </a:endParaRPr>
                    </a:p>
                  </a:txBody>
                  <a:tcPr/>
                </a:tc>
                <a:extLst>
                  <a:ext uri="{0D108BD9-81ED-4DB2-BD59-A6C34878D82A}">
                    <a16:rowId xmlns:a16="http://schemas.microsoft.com/office/drawing/2014/main" val="2564535257"/>
                  </a:ext>
                </a:extLst>
              </a:tr>
              <a:tr h="370840">
                <a:tc>
                  <a:txBody>
                    <a:bodyPr/>
                    <a:lstStyle/>
                    <a:p>
                      <a:pPr lvl="0">
                        <a:buNone/>
                      </a:pPr>
                      <a:r>
                        <a:rPr lang="en-US" sz="1400" b="0" i="0" u="none" strike="noStrike" noProof="0"/>
                        <a:t>Heredoc (</a:t>
                      </a:r>
                      <a:r>
                        <a:rPr lang="en-US" sz="1400" b="0" i="0" u="none" strike="noStrike" noProof="0">
                          <a:latin typeface="Consolas"/>
                        </a:rPr>
                        <a:t>&lt;&lt;</a:t>
                      </a:r>
                      <a:r>
                        <a:rPr lang="en-US" sz="1400" b="0" i="0" u="none" strike="noStrike" noProof="0"/>
                        <a:t>)</a:t>
                      </a:r>
                      <a:endParaRPr lang="en-US"/>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Yes at start</a:t>
                      </a:r>
                      <a:endParaRPr lang="en-US" b="0"/>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No at end</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WORD</a:t>
                      </a:r>
                      <a:endParaRPr lang="en-US" sz="1400" b="0" i="0" u="none" strike="noStrike" noProof="0">
                        <a:solidFill>
                          <a:srgbClr val="000000"/>
                        </a:solidFill>
                      </a:endParaRPr>
                    </a:p>
                  </a:txBody>
                  <a:tcPr/>
                </a:tc>
                <a:extLst>
                  <a:ext uri="{0D108BD9-81ED-4DB2-BD59-A6C34878D82A}">
                    <a16:rowId xmlns:a16="http://schemas.microsoft.com/office/drawing/2014/main" val="3178960023"/>
                  </a:ext>
                </a:extLst>
              </a:tr>
              <a:tr h="370840">
                <a:tc>
                  <a:txBody>
                    <a:bodyPr/>
                    <a:lstStyle/>
                    <a:p>
                      <a:pPr lvl="0" algn="l">
                        <a:lnSpc>
                          <a:spcPct val="100000"/>
                        </a:lnSpc>
                        <a:spcBef>
                          <a:spcPts val="0"/>
                        </a:spcBef>
                        <a:spcAft>
                          <a:spcPts val="0"/>
                        </a:spcAft>
                        <a:buNone/>
                      </a:pPr>
                      <a:r>
                        <a:rPr lang="en-US" sz="1400" b="0" i="0" u="none" strike="noStrike" noProof="0"/>
                        <a:t>Logical OR (</a:t>
                      </a:r>
                      <a:r>
                        <a:rPr lang="en-US" sz="1400" b="0" i="0" u="none" strike="noStrike" noProof="0">
                          <a:latin typeface="Consolas"/>
                        </a:rPr>
                        <a:t>||</a:t>
                      </a:r>
                      <a:r>
                        <a:rPr lang="en-US" sz="1400" b="0" i="0" u="none" strike="noStrike" noProof="0"/>
                        <a:t>)</a:t>
                      </a:r>
                      <a:endParaRPr lang="en-US"/>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No at start</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No at end</a:t>
                      </a:r>
                      <a:endParaRPr lang="en-US" sz="1400" b="0" i="0" u="none" strike="noStrike" noProof="0">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WORD or a T_RPAREN</a:t>
                      </a:r>
                      <a:r>
                        <a:rPr lang="en-US" sz="1400" b="0" i="0" u="none" strike="noStrike" noProof="0">
                          <a:solidFill>
                            <a:srgbClr val="FF0000"/>
                          </a:solidFill>
                          <a:latin typeface="Univers Light"/>
                        </a:rPr>
                        <a:t>!!</a:t>
                      </a:r>
                      <a:endParaRPr lang="en-US" sz="1400" b="0" i="0" u="none" strike="noStrike" noProof="0">
                        <a:latin typeface="Univers Light"/>
                      </a:endParaRPr>
                    </a:p>
                  </a:txBody>
                  <a:tcPr/>
                </a:tc>
                <a:extLst>
                  <a:ext uri="{0D108BD9-81ED-4DB2-BD59-A6C34878D82A}">
                    <a16:rowId xmlns:a16="http://schemas.microsoft.com/office/drawing/2014/main" val="2521532285"/>
                  </a:ext>
                </a:extLst>
              </a:tr>
              <a:tr h="370840">
                <a:tc>
                  <a:txBody>
                    <a:bodyPr/>
                    <a:lstStyle/>
                    <a:p>
                      <a:pPr lvl="0" algn="l">
                        <a:buNone/>
                      </a:pPr>
                      <a:r>
                        <a:rPr lang="en-US" sz="1400" b="0" i="0" u="none" strike="noStrike" noProof="0"/>
                        <a:t>Logical AND (</a:t>
                      </a:r>
                      <a:r>
                        <a:rPr lang="en-US" sz="1400" b="0" i="0" u="none" strike="noStrike" noProof="0">
                          <a:latin typeface="Consolas"/>
                        </a:rPr>
                        <a:t>&amp;&amp;</a:t>
                      </a:r>
                      <a:r>
                        <a:rPr lang="en-US" sz="1400" b="0" i="0" u="none" strike="noStrike" noProof="0"/>
                        <a:t>)</a:t>
                      </a:r>
                      <a:endParaRPr lang="en-US"/>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No at start</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No at end</a:t>
                      </a:r>
                      <a:endParaRPr lang="en-US" sz="1400" b="0" i="0" u="none" strike="noStrike" noProof="0">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WORD or a T_RPAREN</a:t>
                      </a:r>
                      <a:r>
                        <a:rPr lang="en-US" sz="1400" b="0" i="0" u="none" strike="noStrike" noProof="0">
                          <a:solidFill>
                            <a:srgbClr val="FF0000"/>
                          </a:solidFill>
                          <a:latin typeface="Univers Light"/>
                        </a:rPr>
                        <a:t>!!</a:t>
                      </a:r>
                      <a:endParaRPr lang="en-US" sz="1400" b="0" i="0" u="none" strike="noStrike" noProof="0">
                        <a:latin typeface="Univers Light"/>
                      </a:endParaRPr>
                    </a:p>
                  </a:txBody>
                  <a:tcPr/>
                </a:tc>
                <a:extLst>
                  <a:ext uri="{0D108BD9-81ED-4DB2-BD59-A6C34878D82A}">
                    <a16:rowId xmlns:a16="http://schemas.microsoft.com/office/drawing/2014/main" val="1899869305"/>
                  </a:ext>
                </a:extLst>
              </a:tr>
              <a:tr h="370839">
                <a:tc>
                  <a:txBody>
                    <a:bodyPr/>
                    <a:lstStyle/>
                    <a:p>
                      <a:pPr lvl="0" algn="l">
                        <a:buNone/>
                      </a:pPr>
                      <a:r>
                        <a:rPr lang="en-US" sz="1400" b="0" i="0" u="none" strike="noStrike" noProof="0"/>
                        <a:t>WORD</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Yes at start</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Yes at end</a:t>
                      </a: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CANNOT BE (</a:t>
                      </a:r>
                    </a:p>
                  </a:txBody>
                  <a:tcPr/>
                </a:tc>
                <a:extLst>
                  <a:ext uri="{0D108BD9-81ED-4DB2-BD59-A6C34878D82A}">
                    <a16:rowId xmlns:a16="http://schemas.microsoft.com/office/drawing/2014/main" val="1083148201"/>
                  </a:ext>
                </a:extLst>
              </a:tr>
              <a:tr h="370838">
                <a:tc>
                  <a:txBody>
                    <a:bodyPr/>
                    <a:lstStyle/>
                    <a:p>
                      <a:pPr lvl="0" algn="l">
                        <a:buNone/>
                      </a:pPr>
                      <a:r>
                        <a:rPr lang="en-US" sz="1400" b="0" i="0" u="none" strike="noStrike" noProof="0"/>
                        <a:t>(</a:t>
                      </a: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Univers Light"/>
                        </a:rPr>
                        <a:t>Yes at start</a:t>
                      </a:r>
                      <a:endParaRPr lang="en-US" sz="1400" b="0" i="0" u="none" strike="noStrike" noProof="0">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000000"/>
                          </a:solidFill>
                        </a:rPr>
                        <a:t>No at end</a:t>
                      </a:r>
                      <a:endParaRPr lang="en-US" sz="1400" b="0" i="0" u="none" strike="noStrike" noProof="0">
                        <a:solidFill>
                          <a:srgbClr val="00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Same as new string</a:t>
                      </a:r>
                    </a:p>
                  </a:txBody>
                  <a:tcPr/>
                </a:tc>
                <a:extLst>
                  <a:ext uri="{0D108BD9-81ED-4DB2-BD59-A6C34878D82A}">
                    <a16:rowId xmlns:a16="http://schemas.microsoft.com/office/drawing/2014/main" val="2213606948"/>
                  </a:ext>
                </a:extLst>
              </a:tr>
              <a:tr h="370838">
                <a:tc>
                  <a:txBody>
                    <a:bodyPr/>
                    <a:lstStyle/>
                    <a:p>
                      <a:pPr lvl="0" algn="l">
                        <a:buNone/>
                      </a:pPr>
                      <a:r>
                        <a:rPr lang="en-US" sz="1400" b="0" i="0" u="none" strike="noStrike" noProof="0"/>
                        <a:t>)</a:t>
                      </a:r>
                    </a:p>
                  </a:txBody>
                  <a:tcPr/>
                </a:tc>
                <a:tc>
                  <a:txBody>
                    <a:bodyPr/>
                    <a:lstStyle/>
                    <a:p>
                      <a:pPr marL="0" lvl="0" indent="0" algn="l">
                        <a:lnSpc>
                          <a:spcPct val="100000"/>
                        </a:lnSpc>
                        <a:spcBef>
                          <a:spcPts val="0"/>
                        </a:spcBef>
                        <a:spcAft>
                          <a:spcPts val="0"/>
                        </a:spcAft>
                        <a:buNone/>
                      </a:pPr>
                      <a:r>
                        <a:rPr lang="en-US" sz="1400" b="0" i="0" u="none" strike="noStrike" noProof="0">
                          <a:latin typeface="Univers Light"/>
                        </a:rPr>
                        <a:t>No</a:t>
                      </a:r>
                    </a:p>
                  </a:txBody>
                  <a:tcPr/>
                </a:tc>
                <a:tc>
                  <a:txBody>
                    <a:bodyPr/>
                    <a:lstStyle/>
                    <a:p>
                      <a:pPr marL="0" lvl="0" indent="0" algn="l">
                        <a:lnSpc>
                          <a:spcPct val="100000"/>
                        </a:lnSpc>
                        <a:spcBef>
                          <a:spcPts val="0"/>
                        </a:spcBef>
                        <a:spcAft>
                          <a:spcPts val="0"/>
                        </a:spcAft>
                        <a:buNone/>
                      </a:pPr>
                      <a:r>
                        <a:rPr lang="en-US" sz="1400" b="0" i="0" u="none" strike="noStrike" noProof="0">
                          <a:latin typeface="Univers Light"/>
                        </a:rPr>
                        <a:t>Yes</a:t>
                      </a:r>
                    </a:p>
                  </a:txBody>
                  <a:tcPr/>
                </a:tc>
                <a:tc>
                  <a:txBody>
                    <a:bodyPr/>
                    <a:lstStyle/>
                    <a:p>
                      <a:pPr marL="0" lvl="0" indent="0" algn="l">
                        <a:lnSpc>
                          <a:spcPct val="100000"/>
                        </a:lnSpc>
                        <a:spcBef>
                          <a:spcPts val="0"/>
                        </a:spcBef>
                        <a:spcAft>
                          <a:spcPts val="0"/>
                        </a:spcAft>
                        <a:buNone/>
                      </a:pPr>
                      <a:r>
                        <a:rPr lang="en-US" sz="1400" b="0" i="0" u="none" strike="noStrike" noProof="0" dirty="0">
                          <a:solidFill>
                            <a:srgbClr val="FF0000"/>
                          </a:solidFill>
                          <a:latin typeface="Univers Light"/>
                        </a:rPr>
                        <a:t>CANNOT BE WORD</a:t>
                      </a:r>
                    </a:p>
                    <a:p>
                      <a:pPr marL="0" lvl="0" indent="0" algn="l">
                        <a:lnSpc>
                          <a:spcPct val="100000"/>
                        </a:lnSpc>
                        <a:spcBef>
                          <a:spcPts val="0"/>
                        </a:spcBef>
                        <a:spcAft>
                          <a:spcPts val="0"/>
                        </a:spcAft>
                        <a:buNone/>
                      </a:pPr>
                      <a:r>
                        <a:rPr lang="en-US" sz="1400" b="0" i="0" u="none" strike="noStrike" noProof="0">
                          <a:solidFill>
                            <a:srgbClr val="FF0000"/>
                          </a:solidFill>
                          <a:latin typeface="Univers Light"/>
                        </a:rPr>
                        <a:t>* cannot be redirect, ( or pipe</a:t>
                      </a:r>
                      <a:endParaRPr lang="en-US" sz="1400" b="0" i="0" u="none" strike="noStrike" noProof="0" dirty="0">
                        <a:solidFill>
                          <a:srgbClr val="FF0000"/>
                        </a:solidFill>
                        <a:latin typeface="Univers Light"/>
                      </a:endParaRPr>
                    </a:p>
                  </a:txBody>
                  <a:tcPr/>
                </a:tc>
                <a:extLst>
                  <a:ext uri="{0D108BD9-81ED-4DB2-BD59-A6C34878D82A}">
                    <a16:rowId xmlns:a16="http://schemas.microsoft.com/office/drawing/2014/main" val="321177605"/>
                  </a:ext>
                </a:extLst>
              </a:tr>
            </a:tbl>
          </a:graphicData>
        </a:graphic>
      </p:graphicFrame>
      <p:sp>
        <p:nvSpPr>
          <p:cNvPr id="3" name="TextBox 2">
            <a:extLst>
              <a:ext uri="{FF2B5EF4-FFF2-40B4-BE49-F238E27FC236}">
                <a16:creationId xmlns:a16="http://schemas.microsoft.com/office/drawing/2014/main" id="{4F2D521E-1382-059E-DA6D-2E52AA13EE09}"/>
              </a:ext>
            </a:extLst>
          </p:cNvPr>
          <p:cNvSpPr txBox="1"/>
          <p:nvPr/>
        </p:nvSpPr>
        <p:spPr>
          <a:xfrm>
            <a:off x="956733" y="5454650"/>
            <a:ext cx="861695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0000"/>
                </a:solidFill>
              </a:rPr>
              <a:t>!! Note: ( ) needs to be evaluated before parsing. () should evaluate to NULL and removed from tokens for easier processing. ("") should not be touch, will eventually be evaluated to "", but is valid in bash.</a:t>
            </a:r>
          </a:p>
          <a:p>
            <a:r>
              <a:rPr lang="en-US" sz="1400" dirty="0">
                <a:solidFill>
                  <a:srgbClr val="FF0000"/>
                </a:solidFill>
              </a:rPr>
              <a:t>!!! updated: ( ) is treated as priority, not group. Hence, ) cannot be followed by </a:t>
            </a:r>
            <a:r>
              <a:rPr lang="en-US" sz="1400" dirty="0" err="1">
                <a:solidFill>
                  <a:srgbClr val="FF0000"/>
                </a:solidFill>
              </a:rPr>
              <a:t>redir</a:t>
            </a:r>
            <a:r>
              <a:rPr lang="en-US" sz="1400" dirty="0">
                <a:solidFill>
                  <a:srgbClr val="FF0000"/>
                </a:solidFill>
              </a:rPr>
              <a:t>, pipes</a:t>
            </a:r>
          </a:p>
        </p:txBody>
      </p:sp>
    </p:spTree>
    <p:extLst>
      <p:ext uri="{BB962C8B-B14F-4D97-AF65-F5344CB8AC3E}">
        <p14:creationId xmlns:p14="http://schemas.microsoft.com/office/powerpoint/2010/main" val="579176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A6D37-580D-80C0-B291-84FFFBC269CB}"/>
              </a:ext>
            </a:extLst>
          </p:cNvPr>
          <p:cNvSpPr>
            <a:spLocks noGrp="1"/>
          </p:cNvSpPr>
          <p:nvPr>
            <p:ph type="title"/>
          </p:nvPr>
        </p:nvSpPr>
        <p:spPr/>
        <p:txBody>
          <a:bodyPr/>
          <a:lstStyle/>
          <a:p>
            <a:r>
              <a:rPr lang="en-US" dirty="0"/>
              <a:t>Top down vs Bottom Up PARSER</a:t>
            </a:r>
          </a:p>
        </p:txBody>
      </p:sp>
      <p:sp>
        <p:nvSpPr>
          <p:cNvPr id="3" name="Content Placeholder 2">
            <a:extLst>
              <a:ext uri="{FF2B5EF4-FFF2-40B4-BE49-F238E27FC236}">
                <a16:creationId xmlns:a16="http://schemas.microsoft.com/office/drawing/2014/main" id="{FFEE9843-AF65-3FEC-1202-3E161A1E786C}"/>
              </a:ext>
            </a:extLst>
          </p:cNvPr>
          <p:cNvSpPr>
            <a:spLocks noGrp="1"/>
          </p:cNvSpPr>
          <p:nvPr>
            <p:ph idx="1"/>
          </p:nvPr>
        </p:nvSpPr>
        <p:spPr/>
        <p:txBody>
          <a:bodyPr vert="horz" lIns="91440" tIns="45720" rIns="91440" bIns="45720" rtlCol="0" anchor="t">
            <a:normAutofit/>
          </a:bodyPr>
          <a:lstStyle/>
          <a:p>
            <a:r>
              <a:rPr lang="en-US" b="1">
                <a:ea typeface="+mn-lt"/>
                <a:cs typeface="+mn-lt"/>
              </a:rPr>
              <a:t>Direction</a:t>
            </a:r>
            <a:r>
              <a:rPr lang="en-US">
                <a:ea typeface="+mn-lt"/>
                <a:cs typeface="+mn-lt"/>
              </a:rPr>
              <a:t>: </a:t>
            </a:r>
            <a:endParaRPr lang="en-US"/>
          </a:p>
          <a:p>
            <a:pPr marL="474980" lvl="1"/>
            <a:r>
              <a:rPr lang="en-US">
                <a:ea typeface="+mn-lt"/>
                <a:cs typeface="+mn-lt"/>
              </a:rPr>
              <a:t>Top-down starts with the whole expression and breaks it down</a:t>
            </a:r>
            <a:endParaRPr lang="en-US"/>
          </a:p>
          <a:p>
            <a:pPr marL="474980" lvl="1"/>
            <a:r>
              <a:rPr lang="en-US">
                <a:ea typeface="+mn-lt"/>
                <a:cs typeface="+mn-lt"/>
              </a:rPr>
              <a:t>Bottom-up builds from individual tokens upward</a:t>
            </a:r>
            <a:endParaRPr lang="en-US"/>
          </a:p>
          <a:p>
            <a:r>
              <a:rPr lang="en-US" b="1">
                <a:ea typeface="+mn-lt"/>
                <a:cs typeface="+mn-lt"/>
              </a:rPr>
              <a:t>State management</a:t>
            </a:r>
            <a:r>
              <a:rPr lang="en-US">
                <a:ea typeface="+mn-lt"/>
                <a:cs typeface="+mn-lt"/>
              </a:rPr>
              <a:t>: </a:t>
            </a:r>
            <a:endParaRPr lang="en-US"/>
          </a:p>
          <a:p>
            <a:pPr marL="474980" lvl="1"/>
            <a:r>
              <a:rPr lang="en-US">
                <a:ea typeface="+mn-lt"/>
                <a:cs typeface="+mn-lt"/>
              </a:rPr>
              <a:t>Top-down uses recursive function calls to manage state</a:t>
            </a:r>
            <a:endParaRPr lang="en-US"/>
          </a:p>
          <a:p>
            <a:pPr marL="474980" lvl="1"/>
            <a:r>
              <a:rPr lang="en-US">
                <a:ea typeface="+mn-lt"/>
                <a:cs typeface="+mn-lt"/>
              </a:rPr>
              <a:t>Bottom-up uses an explicit stack</a:t>
            </a:r>
            <a:endParaRPr lang="en-US"/>
          </a:p>
          <a:p>
            <a:r>
              <a:rPr lang="en-US" b="1">
                <a:ea typeface="+mn-lt"/>
                <a:cs typeface="+mn-lt"/>
              </a:rPr>
              <a:t>Pattern recognition</a:t>
            </a:r>
            <a:r>
              <a:rPr lang="en-US">
                <a:ea typeface="+mn-lt"/>
                <a:cs typeface="+mn-lt"/>
              </a:rPr>
              <a:t>: </a:t>
            </a:r>
            <a:endParaRPr lang="en-US"/>
          </a:p>
          <a:p>
            <a:pPr marL="474980" lvl="1"/>
            <a:r>
              <a:rPr lang="en-US">
                <a:ea typeface="+mn-lt"/>
                <a:cs typeface="+mn-lt"/>
              </a:rPr>
              <a:t>Top-down looks ahead to decide which rule to apply</a:t>
            </a:r>
            <a:endParaRPr lang="en-US"/>
          </a:p>
          <a:p>
            <a:pPr marL="474980" lvl="1"/>
            <a:r>
              <a:rPr lang="en-US">
                <a:ea typeface="+mn-lt"/>
                <a:cs typeface="+mn-lt"/>
              </a:rPr>
              <a:t>Bottom-up looks at what's already been processed</a:t>
            </a:r>
            <a:endParaRPr lang="en-US"/>
          </a:p>
          <a:p>
            <a:endParaRPr lang="en-US" dirty="0"/>
          </a:p>
        </p:txBody>
      </p:sp>
    </p:spTree>
    <p:extLst>
      <p:ext uri="{BB962C8B-B14F-4D97-AF65-F5344CB8AC3E}">
        <p14:creationId xmlns:p14="http://schemas.microsoft.com/office/powerpoint/2010/main" val="4034831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EAE43-78EB-F948-5FF1-85399F5AB3A5}"/>
              </a:ext>
            </a:extLst>
          </p:cNvPr>
          <p:cNvSpPr>
            <a:spLocks noGrp="1"/>
          </p:cNvSpPr>
          <p:nvPr>
            <p:ph type="title"/>
          </p:nvPr>
        </p:nvSpPr>
        <p:spPr/>
        <p:txBody>
          <a:bodyPr/>
          <a:lstStyle/>
          <a:p>
            <a:r>
              <a:rPr lang="en-US" dirty="0"/>
              <a:t>Recursive Descent</a:t>
            </a:r>
          </a:p>
        </p:txBody>
      </p:sp>
      <p:sp>
        <p:nvSpPr>
          <p:cNvPr id="3" name="Content Placeholder 2">
            <a:extLst>
              <a:ext uri="{FF2B5EF4-FFF2-40B4-BE49-F238E27FC236}">
                <a16:creationId xmlns:a16="http://schemas.microsoft.com/office/drawing/2014/main" id="{53E30B4D-4B2F-046B-C4DC-4D243B62E473}"/>
              </a:ext>
            </a:extLst>
          </p:cNvPr>
          <p:cNvSpPr>
            <a:spLocks noGrp="1"/>
          </p:cNvSpPr>
          <p:nvPr>
            <p:ph idx="1"/>
          </p:nvPr>
        </p:nvSpPr>
        <p:spPr/>
        <p:txBody>
          <a:bodyPr vert="horz" lIns="91440" tIns="45720" rIns="91440" bIns="45720" rtlCol="0" anchor="t">
            <a:normAutofit/>
          </a:bodyPr>
          <a:lstStyle/>
          <a:p>
            <a:r>
              <a:rPr lang="en-US" dirty="0">
                <a:ea typeface="+mn-lt"/>
                <a:cs typeface="+mn-lt"/>
              </a:rPr>
              <a:t>The parser follows operator precedence, starting with the lowest precedence operators and working its way up.</a:t>
            </a:r>
          </a:p>
          <a:p>
            <a:r>
              <a:rPr lang="en-US" dirty="0">
                <a:ea typeface="+mn-lt"/>
                <a:cs typeface="+mn-lt"/>
              </a:rPr>
              <a:t>The precedence order (from lowest to highest):</a:t>
            </a:r>
            <a:endParaRPr lang="en-US" dirty="0"/>
          </a:p>
          <a:p>
            <a:pPr marL="474980" lvl="1">
              <a:buFont typeface="Courier New" panose="020B0604020202020204" pitchFamily="34" charset="0"/>
              <a:buChar char="o"/>
            </a:pPr>
            <a:r>
              <a:rPr lang="en-US" dirty="0">
                <a:ea typeface="+mn-lt"/>
                <a:cs typeface="+mn-lt"/>
              </a:rPr>
              <a:t>Logical operators (AND, OR)</a:t>
            </a:r>
            <a:endParaRPr lang="en-US"/>
          </a:p>
          <a:p>
            <a:pPr marL="474980" lvl="1">
              <a:buFont typeface="Courier New" panose="020B0604020202020204" pitchFamily="34" charset="0"/>
              <a:buChar char="o"/>
            </a:pPr>
            <a:r>
              <a:rPr lang="en-US" dirty="0">
                <a:ea typeface="+mn-lt"/>
                <a:cs typeface="+mn-lt"/>
              </a:rPr>
              <a:t>Pipes</a:t>
            </a:r>
            <a:endParaRPr lang="en-US" dirty="0"/>
          </a:p>
          <a:p>
            <a:pPr marL="474980" lvl="1">
              <a:buFont typeface="Courier New" panose="020B0604020202020204" pitchFamily="34" charset="0"/>
              <a:buChar char="o"/>
            </a:pPr>
            <a:r>
              <a:rPr lang="en-US" dirty="0">
                <a:ea typeface="+mn-lt"/>
                <a:cs typeface="+mn-lt"/>
              </a:rPr>
              <a:t>Commands and redirections</a:t>
            </a:r>
            <a:endParaRPr lang="en-US"/>
          </a:p>
          <a:p>
            <a:pPr marL="474980" lvl="1">
              <a:buFont typeface="Courier New" panose="020B0604020202020204" pitchFamily="34" charset="0"/>
              <a:buChar char="o"/>
            </a:pPr>
            <a:r>
              <a:rPr lang="en-US" dirty="0">
                <a:ea typeface="+mn-lt"/>
                <a:cs typeface="+mn-lt"/>
              </a:rPr>
              <a:t>Parentheses groups</a:t>
            </a:r>
            <a:endParaRPr lang="en-US" dirty="0"/>
          </a:p>
          <a:p>
            <a:endParaRPr lang="en-US" dirty="0"/>
          </a:p>
        </p:txBody>
      </p:sp>
    </p:spTree>
    <p:extLst>
      <p:ext uri="{BB962C8B-B14F-4D97-AF65-F5344CB8AC3E}">
        <p14:creationId xmlns:p14="http://schemas.microsoft.com/office/powerpoint/2010/main" val="843819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A7888C-31D4-D781-87FB-32BBEC44E385}"/>
              </a:ext>
            </a:extLst>
          </p:cNvPr>
          <p:cNvSpPr>
            <a:spLocks noGrp="1"/>
          </p:cNvSpPr>
          <p:nvPr>
            <p:ph idx="1"/>
          </p:nvPr>
        </p:nvSpPr>
        <p:spPr>
          <a:xfrm>
            <a:off x="1157817" y="1468438"/>
            <a:ext cx="5060951" cy="4479395"/>
          </a:xfrm>
        </p:spPr>
        <p:txBody>
          <a:bodyPr vert="horz" lIns="91440" tIns="45720" rIns="91440" bIns="45720" rtlCol="0" anchor="t">
            <a:normAutofit lnSpcReduction="10000"/>
          </a:bodyPr>
          <a:lstStyle/>
          <a:p>
            <a:pPr marL="0" indent="0">
              <a:spcBef>
                <a:spcPts val="0"/>
              </a:spcBef>
              <a:buNone/>
            </a:pPr>
            <a:r>
              <a:rPr lang="en-US" sz="1200" dirty="0">
                <a:ea typeface="+mn-lt"/>
                <a:cs typeface="+mn-lt"/>
              </a:rPr>
              <a:t>1. </a:t>
            </a:r>
            <a:r>
              <a:rPr lang="en-US" sz="1200" dirty="0" err="1">
                <a:ea typeface="+mn-lt"/>
                <a:cs typeface="+mn-lt"/>
              </a:rPr>
              <a:t>parse_tokens</a:t>
            </a:r>
            <a:r>
              <a:rPr lang="en-US" sz="1200" dirty="0">
                <a:ea typeface="+mn-lt"/>
                <a:cs typeface="+mn-lt"/>
              </a:rPr>
              <a:t> calls </a:t>
            </a:r>
            <a:r>
              <a:rPr lang="en-US" sz="1200" dirty="0" err="1">
                <a:ea typeface="+mn-lt"/>
                <a:cs typeface="+mn-lt"/>
              </a:rPr>
              <a:t>parse_and_or</a:t>
            </a:r>
            <a:endParaRPr lang="en-US" sz="1200" dirty="0"/>
          </a:p>
          <a:p>
            <a:pPr marL="0" indent="0">
              <a:spcBef>
                <a:spcPts val="0"/>
              </a:spcBef>
              <a:buNone/>
            </a:pPr>
            <a:endParaRPr lang="en-US" sz="1200" dirty="0"/>
          </a:p>
          <a:p>
            <a:pPr marL="0" indent="0">
              <a:spcBef>
                <a:spcPts val="0"/>
              </a:spcBef>
              <a:buNone/>
            </a:pPr>
            <a:r>
              <a:rPr lang="en-US" sz="1200" dirty="0">
                <a:ea typeface="+mn-lt"/>
                <a:cs typeface="+mn-lt"/>
              </a:rPr>
              <a:t>2. </a:t>
            </a:r>
            <a:r>
              <a:rPr lang="en-US" sz="1200" dirty="0" err="1">
                <a:ea typeface="+mn-lt"/>
                <a:cs typeface="+mn-lt"/>
              </a:rPr>
              <a:t>parse_and_or</a:t>
            </a:r>
            <a:r>
              <a:rPr lang="en-US" sz="1200" dirty="0">
                <a:ea typeface="+mn-lt"/>
                <a:cs typeface="+mn-lt"/>
              </a:rPr>
              <a:t> calls </a:t>
            </a:r>
            <a:r>
              <a:rPr lang="en-US" sz="1200" dirty="0" err="1">
                <a:ea typeface="+mn-lt"/>
                <a:cs typeface="+mn-lt"/>
              </a:rPr>
              <a:t>parse_pipeline</a:t>
            </a:r>
            <a:endParaRPr lang="en-US" sz="1200" dirty="0"/>
          </a:p>
          <a:p>
            <a:pPr marL="0" indent="0">
              <a:spcBef>
                <a:spcPts val="0"/>
              </a:spcBef>
              <a:buNone/>
            </a:pPr>
            <a:r>
              <a:rPr lang="en-US" sz="1200" dirty="0">
                <a:ea typeface="+mn-lt"/>
                <a:cs typeface="+mn-lt"/>
              </a:rPr>
              <a:t>   - Sees '(', calls </a:t>
            </a:r>
            <a:r>
              <a:rPr lang="en-US" sz="1200" dirty="0" err="1">
                <a:ea typeface="+mn-lt"/>
                <a:cs typeface="+mn-lt"/>
              </a:rPr>
              <a:t>parse_group</a:t>
            </a:r>
            <a:endParaRPr lang="en-US" sz="1200" dirty="0"/>
          </a:p>
          <a:p>
            <a:pPr marL="0" indent="0">
              <a:spcBef>
                <a:spcPts val="0"/>
              </a:spcBef>
              <a:buNone/>
            </a:pPr>
            <a:r>
              <a:rPr lang="en-US" sz="1200" dirty="0">
                <a:ea typeface="+mn-lt"/>
                <a:cs typeface="+mn-lt"/>
              </a:rPr>
              <a:t>   - </a:t>
            </a:r>
            <a:r>
              <a:rPr lang="en-US" sz="1200" dirty="0" err="1">
                <a:ea typeface="+mn-lt"/>
                <a:cs typeface="+mn-lt"/>
              </a:rPr>
              <a:t>parse_group</a:t>
            </a:r>
            <a:r>
              <a:rPr lang="en-US" sz="1200" dirty="0">
                <a:ea typeface="+mn-lt"/>
                <a:cs typeface="+mn-lt"/>
              </a:rPr>
              <a:t> moves past '(' and calls </a:t>
            </a:r>
            <a:r>
              <a:rPr lang="en-US" sz="1200" dirty="0" err="1">
                <a:ea typeface="+mn-lt"/>
                <a:cs typeface="+mn-lt"/>
              </a:rPr>
              <a:t>parse_and_or</a:t>
            </a:r>
            <a:r>
              <a:rPr lang="en-US" sz="1200" dirty="0">
                <a:ea typeface="+mn-lt"/>
                <a:cs typeface="+mn-lt"/>
              </a:rPr>
              <a:t> recursively</a:t>
            </a:r>
            <a:endParaRPr lang="en-US" sz="1200" dirty="0"/>
          </a:p>
          <a:p>
            <a:pPr marL="0" indent="0">
              <a:spcBef>
                <a:spcPts val="0"/>
              </a:spcBef>
              <a:buNone/>
            </a:pPr>
            <a:r>
              <a:rPr lang="en-US" sz="1200" dirty="0">
                <a:ea typeface="+mn-lt"/>
                <a:cs typeface="+mn-lt"/>
              </a:rPr>
              <a:t>   </a:t>
            </a:r>
            <a:endParaRPr lang="en-US" sz="1200" dirty="0"/>
          </a:p>
          <a:p>
            <a:pPr marL="0" indent="0">
              <a:spcBef>
                <a:spcPts val="0"/>
              </a:spcBef>
              <a:buNone/>
            </a:pPr>
            <a:r>
              <a:rPr lang="en-US" sz="1200" dirty="0">
                <a:ea typeface="+mn-lt"/>
                <a:cs typeface="+mn-lt"/>
              </a:rPr>
              <a:t>3. Inside first group: "cat file1.txt | grep "hello""</a:t>
            </a:r>
            <a:endParaRPr lang="en-US" sz="1200" dirty="0"/>
          </a:p>
          <a:p>
            <a:pPr marL="0" indent="0">
              <a:spcBef>
                <a:spcPts val="0"/>
              </a:spcBef>
              <a:buNone/>
            </a:pPr>
            <a:r>
              <a:rPr lang="en-US" sz="1200" dirty="0">
                <a:ea typeface="+mn-lt"/>
                <a:cs typeface="+mn-lt"/>
              </a:rPr>
              <a:t>   - </a:t>
            </a:r>
            <a:r>
              <a:rPr lang="en-US" sz="1200" dirty="0" err="1">
                <a:ea typeface="+mn-lt"/>
                <a:cs typeface="+mn-lt"/>
              </a:rPr>
              <a:t>parse_and_or</a:t>
            </a:r>
            <a:r>
              <a:rPr lang="en-US" sz="1200" dirty="0">
                <a:ea typeface="+mn-lt"/>
                <a:cs typeface="+mn-lt"/>
              </a:rPr>
              <a:t> calls </a:t>
            </a:r>
            <a:r>
              <a:rPr lang="en-US" sz="1200" dirty="0" err="1">
                <a:ea typeface="+mn-lt"/>
                <a:cs typeface="+mn-lt"/>
              </a:rPr>
              <a:t>parse_pipeline</a:t>
            </a:r>
            <a:endParaRPr lang="en-US" sz="1200" dirty="0"/>
          </a:p>
          <a:p>
            <a:pPr marL="0" indent="0">
              <a:spcBef>
                <a:spcPts val="0"/>
              </a:spcBef>
              <a:buNone/>
            </a:pPr>
            <a:r>
              <a:rPr lang="en-US" sz="1200" dirty="0">
                <a:ea typeface="+mn-lt"/>
                <a:cs typeface="+mn-lt"/>
              </a:rPr>
              <a:t>   - </a:t>
            </a:r>
            <a:r>
              <a:rPr lang="en-US" sz="1200" dirty="0" err="1">
                <a:ea typeface="+mn-lt"/>
                <a:cs typeface="+mn-lt"/>
              </a:rPr>
              <a:t>parse_pipeline</a:t>
            </a:r>
            <a:r>
              <a:rPr lang="en-US" sz="1200" dirty="0">
                <a:ea typeface="+mn-lt"/>
                <a:cs typeface="+mn-lt"/>
              </a:rPr>
              <a:t> calls </a:t>
            </a:r>
            <a:r>
              <a:rPr lang="en-US" sz="1200" dirty="0" err="1">
                <a:ea typeface="+mn-lt"/>
                <a:cs typeface="+mn-lt"/>
              </a:rPr>
              <a:t>parse_command</a:t>
            </a:r>
            <a:r>
              <a:rPr lang="en-US" sz="1200" dirty="0">
                <a:ea typeface="+mn-lt"/>
                <a:cs typeface="+mn-lt"/>
              </a:rPr>
              <a:t>, gets "cat file1.txt"</a:t>
            </a:r>
            <a:endParaRPr lang="en-US" sz="1200" dirty="0"/>
          </a:p>
          <a:p>
            <a:pPr marL="0" indent="0">
              <a:spcBef>
                <a:spcPts val="0"/>
              </a:spcBef>
              <a:buNone/>
            </a:pPr>
            <a:r>
              <a:rPr lang="en-US" sz="1200" dirty="0">
                <a:ea typeface="+mn-lt"/>
                <a:cs typeface="+mn-lt"/>
              </a:rPr>
              <a:t>   - Sees '|', creates pipe node</a:t>
            </a:r>
            <a:endParaRPr lang="en-US" sz="1200" dirty="0"/>
          </a:p>
          <a:p>
            <a:pPr marL="0" indent="0">
              <a:spcBef>
                <a:spcPts val="0"/>
              </a:spcBef>
              <a:buNone/>
            </a:pPr>
            <a:r>
              <a:rPr lang="en-US" sz="1200" dirty="0">
                <a:ea typeface="+mn-lt"/>
                <a:cs typeface="+mn-lt"/>
              </a:rPr>
              <a:t>   - Calls </a:t>
            </a:r>
            <a:r>
              <a:rPr lang="en-US" sz="1200" dirty="0" err="1">
                <a:ea typeface="+mn-lt"/>
                <a:cs typeface="+mn-lt"/>
              </a:rPr>
              <a:t>parse_command</a:t>
            </a:r>
            <a:r>
              <a:rPr lang="en-US" sz="1200" dirty="0">
                <a:ea typeface="+mn-lt"/>
                <a:cs typeface="+mn-lt"/>
              </a:rPr>
              <a:t> again, gets "grep "hello""</a:t>
            </a:r>
            <a:endParaRPr lang="en-US" sz="1200" dirty="0"/>
          </a:p>
          <a:p>
            <a:pPr marL="0" indent="0">
              <a:spcBef>
                <a:spcPts val="0"/>
              </a:spcBef>
              <a:buNone/>
            </a:pPr>
            <a:r>
              <a:rPr lang="en-US" sz="1200" dirty="0">
                <a:ea typeface="+mn-lt"/>
                <a:cs typeface="+mn-lt"/>
              </a:rPr>
              <a:t>   - Returns pipe node</a:t>
            </a:r>
            <a:endParaRPr lang="en-US" sz="1200" dirty="0"/>
          </a:p>
          <a:p>
            <a:pPr marL="0" indent="0">
              <a:spcBef>
                <a:spcPts val="0"/>
              </a:spcBef>
              <a:buNone/>
            </a:pPr>
            <a:r>
              <a:rPr lang="en-US" sz="1200" dirty="0">
                <a:ea typeface="+mn-lt"/>
                <a:cs typeface="+mn-lt"/>
              </a:rPr>
              <a:t>   - </a:t>
            </a:r>
            <a:r>
              <a:rPr lang="en-US" sz="1200" dirty="0" err="1">
                <a:ea typeface="+mn-lt"/>
                <a:cs typeface="+mn-lt"/>
              </a:rPr>
              <a:t>parse_group</a:t>
            </a:r>
            <a:r>
              <a:rPr lang="en-US" sz="1200" dirty="0">
                <a:ea typeface="+mn-lt"/>
                <a:cs typeface="+mn-lt"/>
              </a:rPr>
              <a:t> wraps this in a group node</a:t>
            </a:r>
            <a:endParaRPr lang="en-US" sz="1200" dirty="0"/>
          </a:p>
          <a:p>
            <a:pPr marL="0" indent="0">
              <a:spcBef>
                <a:spcPts val="0"/>
              </a:spcBef>
              <a:buNone/>
            </a:pPr>
            <a:endParaRPr lang="en-US" sz="1200" dirty="0"/>
          </a:p>
          <a:p>
            <a:pPr marL="0" indent="0">
              <a:spcBef>
                <a:spcPts val="0"/>
              </a:spcBef>
              <a:buNone/>
            </a:pPr>
            <a:r>
              <a:rPr lang="en-US" sz="1200" dirty="0">
                <a:ea typeface="+mn-lt"/>
                <a:cs typeface="+mn-lt"/>
              </a:rPr>
              <a:t>4. Back in top-level </a:t>
            </a:r>
            <a:r>
              <a:rPr lang="en-US" sz="1200" dirty="0" err="1">
                <a:ea typeface="+mn-lt"/>
                <a:cs typeface="+mn-lt"/>
              </a:rPr>
              <a:t>parse_and_or</a:t>
            </a:r>
            <a:endParaRPr lang="en-US" sz="1200" dirty="0"/>
          </a:p>
          <a:p>
            <a:pPr marL="0" indent="0">
              <a:spcBef>
                <a:spcPts val="0"/>
              </a:spcBef>
              <a:buNone/>
            </a:pPr>
            <a:r>
              <a:rPr lang="en-US" sz="1200" dirty="0">
                <a:ea typeface="+mn-lt"/>
                <a:cs typeface="+mn-lt"/>
              </a:rPr>
              <a:t>   - Now has left side (the group node)</a:t>
            </a:r>
            <a:endParaRPr lang="en-US" sz="1200" dirty="0"/>
          </a:p>
          <a:p>
            <a:pPr marL="0" indent="0">
              <a:spcBef>
                <a:spcPts val="0"/>
              </a:spcBef>
              <a:buNone/>
            </a:pPr>
            <a:r>
              <a:rPr lang="en-US" sz="1200" dirty="0">
                <a:ea typeface="+mn-lt"/>
                <a:cs typeface="+mn-lt"/>
              </a:rPr>
              <a:t>   - Sees '&amp;&amp;', creates AND node</a:t>
            </a:r>
          </a:p>
          <a:p>
            <a:pPr marL="0" indent="0">
              <a:spcBef>
                <a:spcPts val="0"/>
              </a:spcBef>
              <a:buNone/>
            </a:pPr>
            <a:endParaRPr lang="en-US" sz="1200" dirty="0"/>
          </a:p>
          <a:p>
            <a:pPr marL="0" indent="0">
              <a:spcBef>
                <a:spcPts val="0"/>
              </a:spcBef>
              <a:buNone/>
            </a:pPr>
            <a:r>
              <a:rPr lang="en-US" sz="1200" dirty="0"/>
              <a:t>5. Parses right side of '&amp;&amp;'</a:t>
            </a:r>
          </a:p>
          <a:p>
            <a:pPr indent="0">
              <a:spcBef>
                <a:spcPts val="0"/>
              </a:spcBef>
              <a:buNone/>
            </a:pPr>
            <a:r>
              <a:rPr lang="en-US" sz="1200"/>
              <a:t>   - Calls </a:t>
            </a:r>
            <a:r>
              <a:rPr lang="en-US" sz="1200" err="1"/>
              <a:t>parse_pipeline</a:t>
            </a:r>
            <a:endParaRPr lang="en-US" sz="1200" dirty="0" err="1"/>
          </a:p>
          <a:p>
            <a:pPr indent="0">
              <a:spcBef>
                <a:spcPts val="0"/>
              </a:spcBef>
              <a:buNone/>
            </a:pPr>
            <a:r>
              <a:rPr lang="en-US" sz="1200" dirty="0"/>
              <a:t>   - Sees '(', calls </a:t>
            </a:r>
            <a:r>
              <a:rPr lang="en-US" sz="1200" dirty="0" err="1"/>
              <a:t>parse_group</a:t>
            </a:r>
            <a:endParaRPr lang="en-US" dirty="0" err="1"/>
          </a:p>
        </p:txBody>
      </p:sp>
      <p:sp>
        <p:nvSpPr>
          <p:cNvPr id="4" name="TextBox 3">
            <a:extLst>
              <a:ext uri="{FF2B5EF4-FFF2-40B4-BE49-F238E27FC236}">
                <a16:creationId xmlns:a16="http://schemas.microsoft.com/office/drawing/2014/main" id="{97BD1F55-FA7D-BAC1-3686-8F96AC2FEC78}"/>
              </a:ext>
            </a:extLst>
          </p:cNvPr>
          <p:cNvSpPr txBox="1"/>
          <p:nvPr/>
        </p:nvSpPr>
        <p:spPr>
          <a:xfrm>
            <a:off x="1157817" y="618067"/>
            <a:ext cx="104055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Univers"/>
              </a:rPr>
              <a:t>(cat file1.txt | grep "hello") &amp;&amp; (echo "found" &gt; out.txt || (ls -l &gt;&gt; out.txt &amp;&amp; wc -l &lt; input.txt))</a:t>
            </a:r>
          </a:p>
        </p:txBody>
      </p:sp>
      <p:sp>
        <p:nvSpPr>
          <p:cNvPr id="6" name="Content Placeholder 2">
            <a:extLst>
              <a:ext uri="{FF2B5EF4-FFF2-40B4-BE49-F238E27FC236}">
                <a16:creationId xmlns:a16="http://schemas.microsoft.com/office/drawing/2014/main" id="{DD6CF647-3FBE-776A-D590-F9990A8F53FA}"/>
              </a:ext>
            </a:extLst>
          </p:cNvPr>
          <p:cNvSpPr txBox="1">
            <a:spLocks/>
          </p:cNvSpPr>
          <p:nvPr/>
        </p:nvSpPr>
        <p:spPr>
          <a:xfrm>
            <a:off x="6675967" y="1472671"/>
            <a:ext cx="5060951" cy="4479395"/>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None/>
            </a:pPr>
            <a:r>
              <a:rPr lang="en-US" sz="1200" dirty="0">
                <a:ea typeface="+mn-lt"/>
                <a:cs typeface="+mn-lt"/>
              </a:rPr>
              <a:t>6. Inside second group: "echo "found" &gt; out.txt || (ls -l &gt;&gt; out.txt &amp;&amp; </a:t>
            </a:r>
            <a:r>
              <a:rPr lang="en-US" sz="1200" dirty="0" err="1">
                <a:ea typeface="+mn-lt"/>
                <a:cs typeface="+mn-lt"/>
              </a:rPr>
              <a:t>wc</a:t>
            </a:r>
            <a:r>
              <a:rPr lang="en-US" sz="1200" dirty="0">
                <a:ea typeface="+mn-lt"/>
                <a:cs typeface="+mn-lt"/>
              </a:rPr>
              <a:t> -l &lt; input.txt)"</a:t>
            </a:r>
            <a:endParaRPr lang="en-US" sz="1200" dirty="0"/>
          </a:p>
          <a:p>
            <a:pPr indent="0">
              <a:spcBef>
                <a:spcPts val="0"/>
              </a:spcBef>
              <a:buNone/>
            </a:pPr>
            <a:r>
              <a:rPr lang="en-US" sz="1200" dirty="0">
                <a:ea typeface="+mn-lt"/>
                <a:cs typeface="+mn-lt"/>
              </a:rPr>
              <a:t>   - </a:t>
            </a:r>
            <a:r>
              <a:rPr lang="en-US" sz="1200" err="1">
                <a:ea typeface="+mn-lt"/>
                <a:cs typeface="+mn-lt"/>
              </a:rPr>
              <a:t>parse_and_or</a:t>
            </a:r>
            <a:r>
              <a:rPr lang="en-US" sz="1200" dirty="0">
                <a:ea typeface="+mn-lt"/>
                <a:cs typeface="+mn-lt"/>
              </a:rPr>
              <a:t> calls </a:t>
            </a:r>
            <a:r>
              <a:rPr lang="en-US" sz="1200" err="1">
                <a:ea typeface="+mn-lt"/>
                <a:cs typeface="+mn-lt"/>
              </a:rPr>
              <a:t>parse_pipeline</a:t>
            </a:r>
            <a:endParaRPr lang="en-US" sz="1200" dirty="0">
              <a:ea typeface="+mn-lt"/>
              <a:cs typeface="+mn-lt"/>
            </a:endParaRPr>
          </a:p>
          <a:p>
            <a:pPr indent="0">
              <a:spcBef>
                <a:spcPts val="0"/>
              </a:spcBef>
              <a:buNone/>
            </a:pPr>
            <a:r>
              <a:rPr lang="en-US" sz="1200" dirty="0">
                <a:ea typeface="+mn-lt"/>
                <a:cs typeface="+mn-lt"/>
              </a:rPr>
              <a:t>   - Gets "echo "found" &gt; out.txt" as command with redirection</a:t>
            </a:r>
            <a:endParaRPr lang="en-US" sz="1200"/>
          </a:p>
          <a:p>
            <a:pPr indent="0">
              <a:spcBef>
                <a:spcPts val="0"/>
              </a:spcBef>
              <a:buNone/>
            </a:pPr>
            <a:r>
              <a:rPr lang="en-US" sz="1200" dirty="0">
                <a:ea typeface="+mn-lt"/>
                <a:cs typeface="+mn-lt"/>
              </a:rPr>
              <a:t>   - Sees '||', creates OR node</a:t>
            </a:r>
            <a:endParaRPr lang="en-US" sz="1200"/>
          </a:p>
          <a:p>
            <a:pPr indent="0">
              <a:spcBef>
                <a:spcPts val="0"/>
              </a:spcBef>
              <a:buNone/>
            </a:pPr>
            <a:r>
              <a:rPr lang="en-US" sz="1200" dirty="0">
                <a:ea typeface="+mn-lt"/>
                <a:cs typeface="+mn-lt"/>
              </a:rPr>
              <a:t>   - Calls </a:t>
            </a:r>
            <a:r>
              <a:rPr lang="en-US" sz="1200" err="1">
                <a:ea typeface="+mn-lt"/>
                <a:cs typeface="+mn-lt"/>
              </a:rPr>
              <a:t>parse_pipeline</a:t>
            </a:r>
            <a:r>
              <a:rPr lang="en-US" sz="1200" dirty="0">
                <a:ea typeface="+mn-lt"/>
                <a:cs typeface="+mn-lt"/>
              </a:rPr>
              <a:t> for right side of OR</a:t>
            </a:r>
            <a:endParaRPr lang="en-US" sz="1200"/>
          </a:p>
          <a:p>
            <a:pPr indent="0">
              <a:spcBef>
                <a:spcPts val="0"/>
              </a:spcBef>
              <a:buNone/>
            </a:pPr>
            <a:r>
              <a:rPr lang="en-US" sz="1200" dirty="0">
                <a:ea typeface="+mn-lt"/>
                <a:cs typeface="+mn-lt"/>
              </a:rPr>
              <a:t>   - Sees '(', calls </a:t>
            </a:r>
            <a:r>
              <a:rPr lang="en-US" sz="1200" err="1">
                <a:ea typeface="+mn-lt"/>
                <a:cs typeface="+mn-lt"/>
              </a:rPr>
              <a:t>parse_group</a:t>
            </a:r>
            <a:endParaRPr lang="en-US" sz="1200"/>
          </a:p>
          <a:p>
            <a:pPr indent="0">
              <a:spcBef>
                <a:spcPts val="0"/>
              </a:spcBef>
              <a:buNone/>
            </a:pPr>
            <a:r>
              <a:rPr lang="en-US" sz="1200" dirty="0">
                <a:ea typeface="+mn-lt"/>
                <a:cs typeface="+mn-lt"/>
              </a:rPr>
              <a:t>   </a:t>
            </a:r>
          </a:p>
          <a:p>
            <a:pPr indent="0">
              <a:spcBef>
                <a:spcPts val="0"/>
              </a:spcBef>
              <a:buNone/>
            </a:pPr>
            <a:r>
              <a:rPr lang="en-US" sz="1200" dirty="0">
                <a:ea typeface="+mn-lt"/>
                <a:cs typeface="+mn-lt"/>
              </a:rPr>
              <a:t>7. Inside innermost group: "ls -l &gt;&gt; out.txt &amp;&amp; </a:t>
            </a:r>
            <a:r>
              <a:rPr lang="en-US" sz="1200" err="1">
                <a:ea typeface="+mn-lt"/>
                <a:cs typeface="+mn-lt"/>
              </a:rPr>
              <a:t>wc</a:t>
            </a:r>
            <a:r>
              <a:rPr lang="en-US" sz="1200" dirty="0">
                <a:ea typeface="+mn-lt"/>
                <a:cs typeface="+mn-lt"/>
              </a:rPr>
              <a:t> -l &lt; input.txt"</a:t>
            </a:r>
          </a:p>
          <a:p>
            <a:pPr indent="0">
              <a:spcBef>
                <a:spcPts val="0"/>
              </a:spcBef>
              <a:buNone/>
            </a:pPr>
            <a:r>
              <a:rPr lang="en-US" sz="1200" dirty="0">
                <a:ea typeface="+mn-lt"/>
                <a:cs typeface="+mn-lt"/>
              </a:rPr>
              <a:t>   - </a:t>
            </a:r>
            <a:r>
              <a:rPr lang="en-US" sz="1200" err="1">
                <a:ea typeface="+mn-lt"/>
                <a:cs typeface="+mn-lt"/>
              </a:rPr>
              <a:t>parse_and_or</a:t>
            </a:r>
            <a:r>
              <a:rPr lang="en-US" sz="1200" dirty="0">
                <a:ea typeface="+mn-lt"/>
                <a:cs typeface="+mn-lt"/>
              </a:rPr>
              <a:t> calls </a:t>
            </a:r>
            <a:r>
              <a:rPr lang="en-US" sz="1200" err="1">
                <a:ea typeface="+mn-lt"/>
                <a:cs typeface="+mn-lt"/>
              </a:rPr>
              <a:t>parse_pipeline</a:t>
            </a:r>
            <a:endParaRPr lang="en-US" sz="1200" dirty="0">
              <a:ea typeface="+mn-lt"/>
              <a:cs typeface="+mn-lt"/>
            </a:endParaRPr>
          </a:p>
          <a:p>
            <a:pPr indent="0">
              <a:spcBef>
                <a:spcPts val="0"/>
              </a:spcBef>
              <a:buNone/>
            </a:pPr>
            <a:r>
              <a:rPr lang="en-US" sz="1200" dirty="0">
                <a:ea typeface="+mn-lt"/>
                <a:cs typeface="+mn-lt"/>
              </a:rPr>
              <a:t>   - Gets "ls -l &gt;&gt; out.txt" as command with redirection</a:t>
            </a:r>
            <a:endParaRPr lang="en-US" sz="1200"/>
          </a:p>
          <a:p>
            <a:pPr indent="0">
              <a:spcBef>
                <a:spcPts val="0"/>
              </a:spcBef>
              <a:buNone/>
            </a:pPr>
            <a:r>
              <a:rPr lang="en-US" sz="1200" dirty="0">
                <a:ea typeface="+mn-lt"/>
                <a:cs typeface="+mn-lt"/>
              </a:rPr>
              <a:t>   - Sees '&amp;&amp;', creates AND node</a:t>
            </a:r>
          </a:p>
          <a:p>
            <a:pPr indent="0">
              <a:spcBef>
                <a:spcPts val="0"/>
              </a:spcBef>
              <a:buNone/>
            </a:pPr>
            <a:r>
              <a:rPr lang="en-US" sz="1200" dirty="0">
                <a:ea typeface="+mn-lt"/>
                <a:cs typeface="+mn-lt"/>
              </a:rPr>
              <a:t>   - Calls </a:t>
            </a:r>
            <a:r>
              <a:rPr lang="en-US" sz="1200" err="1">
                <a:ea typeface="+mn-lt"/>
                <a:cs typeface="+mn-lt"/>
              </a:rPr>
              <a:t>parse_pipeline</a:t>
            </a:r>
            <a:endParaRPr lang="en-US" sz="1200"/>
          </a:p>
          <a:p>
            <a:pPr indent="0">
              <a:spcBef>
                <a:spcPts val="0"/>
              </a:spcBef>
              <a:buNone/>
            </a:pPr>
            <a:r>
              <a:rPr lang="en-US" sz="1200" dirty="0">
                <a:ea typeface="+mn-lt"/>
                <a:cs typeface="+mn-lt"/>
              </a:rPr>
              <a:t>   - Gets "</a:t>
            </a:r>
            <a:r>
              <a:rPr lang="en-US" sz="1200" err="1">
                <a:ea typeface="+mn-lt"/>
                <a:cs typeface="+mn-lt"/>
              </a:rPr>
              <a:t>wc</a:t>
            </a:r>
            <a:r>
              <a:rPr lang="en-US" sz="1200" dirty="0">
                <a:ea typeface="+mn-lt"/>
                <a:cs typeface="+mn-lt"/>
              </a:rPr>
              <a:t> -l &lt; input.txt" as command with redirection</a:t>
            </a:r>
            <a:endParaRPr lang="en-US" sz="1200"/>
          </a:p>
          <a:p>
            <a:pPr indent="0">
              <a:spcBef>
                <a:spcPts val="0"/>
              </a:spcBef>
              <a:buNone/>
            </a:pPr>
            <a:r>
              <a:rPr lang="en-US" sz="1200" dirty="0">
                <a:ea typeface="+mn-lt"/>
                <a:cs typeface="+mn-lt"/>
              </a:rPr>
              <a:t>   </a:t>
            </a:r>
          </a:p>
          <a:p>
            <a:pPr indent="0">
              <a:spcBef>
                <a:spcPts val="0"/>
              </a:spcBef>
              <a:buNone/>
            </a:pPr>
            <a:r>
              <a:rPr lang="en-US" sz="1200" dirty="0">
                <a:ea typeface="+mn-lt"/>
                <a:cs typeface="+mn-lt"/>
              </a:rPr>
              <a:t>8. Connects everything back up</a:t>
            </a:r>
            <a:endParaRPr lang="en-US" sz="1200"/>
          </a:p>
          <a:p>
            <a:pPr indent="0">
              <a:spcBef>
                <a:spcPts val="0"/>
              </a:spcBef>
              <a:buNone/>
            </a:pPr>
            <a:r>
              <a:rPr lang="en-US" sz="1200" dirty="0">
                <a:ea typeface="+mn-lt"/>
                <a:cs typeface="+mn-lt"/>
              </a:rPr>
              <a:t>   - Innermost group contains AND node</a:t>
            </a:r>
          </a:p>
          <a:p>
            <a:pPr indent="0">
              <a:spcBef>
                <a:spcPts val="0"/>
              </a:spcBef>
              <a:buNone/>
            </a:pPr>
            <a:r>
              <a:rPr lang="en-US" sz="1200" dirty="0">
                <a:ea typeface="+mn-lt"/>
                <a:cs typeface="+mn-lt"/>
              </a:rPr>
              <a:t>   - That group becomes right side of OR node</a:t>
            </a:r>
          </a:p>
          <a:p>
            <a:pPr indent="0">
              <a:spcBef>
                <a:spcPts val="0"/>
              </a:spcBef>
              <a:buNone/>
            </a:pPr>
            <a:r>
              <a:rPr lang="en-US" sz="1200" dirty="0">
                <a:ea typeface="+mn-lt"/>
                <a:cs typeface="+mn-lt"/>
              </a:rPr>
              <a:t>   - OR node wrapped in group becomes right side of top-level AND node</a:t>
            </a:r>
            <a:endParaRPr lang="en-US" dirty="0"/>
          </a:p>
        </p:txBody>
      </p:sp>
    </p:spTree>
    <p:extLst>
      <p:ext uri="{BB962C8B-B14F-4D97-AF65-F5344CB8AC3E}">
        <p14:creationId xmlns:p14="http://schemas.microsoft.com/office/powerpoint/2010/main" val="328041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A7888C-31D4-D781-87FB-32BBEC44E385}"/>
              </a:ext>
            </a:extLst>
          </p:cNvPr>
          <p:cNvSpPr>
            <a:spLocks noGrp="1"/>
          </p:cNvSpPr>
          <p:nvPr>
            <p:ph idx="1"/>
          </p:nvPr>
        </p:nvSpPr>
        <p:spPr>
          <a:xfrm>
            <a:off x="3835400" y="1193271"/>
            <a:ext cx="6828367" cy="5326061"/>
          </a:xfrm>
        </p:spPr>
        <p:txBody>
          <a:bodyPr vert="horz" lIns="91440" tIns="45720" rIns="91440" bIns="45720" rtlCol="0" anchor="t">
            <a:normAutofit/>
          </a:bodyPr>
          <a:lstStyle/>
          <a:p>
            <a:pPr>
              <a:lnSpc>
                <a:spcPct val="100000"/>
              </a:lnSpc>
              <a:buFont typeface="Arial"/>
              <a:buChar char="•"/>
            </a:pPr>
            <a:r>
              <a:rPr lang="en-US" sz="1400" dirty="0">
                <a:solidFill>
                  <a:srgbClr val="000000"/>
                </a:solidFill>
                <a:ea typeface="+mn-lt"/>
                <a:cs typeface="+mn-lt"/>
              </a:rPr>
              <a:t>Start with AND node </a:t>
            </a:r>
            <a:endParaRPr lang="en-US" sz="1400"/>
          </a:p>
          <a:p>
            <a:pPr marL="760730" lvl="1" indent="-285750">
              <a:lnSpc>
                <a:spcPct val="100000"/>
              </a:lnSpc>
              <a:buFont typeface="Arial"/>
              <a:buChar char="•"/>
            </a:pPr>
            <a:r>
              <a:rPr lang="en-US" sz="1400" dirty="0">
                <a:solidFill>
                  <a:srgbClr val="000000"/>
                </a:solidFill>
                <a:ea typeface="+mn-lt"/>
                <a:cs typeface="+mn-lt"/>
              </a:rPr>
              <a:t>Execute left side (GROUP) </a:t>
            </a:r>
            <a:endParaRPr lang="en-US" sz="1400"/>
          </a:p>
          <a:p>
            <a:pPr marL="980440" lvl="2" indent="-285750">
              <a:lnSpc>
                <a:spcPct val="100000"/>
              </a:lnSpc>
              <a:buFont typeface="Arial"/>
              <a:buChar char="•"/>
            </a:pPr>
            <a:r>
              <a:rPr lang="en-US" dirty="0">
                <a:solidFill>
                  <a:srgbClr val="000000"/>
                </a:solidFill>
                <a:ea typeface="+mn-lt"/>
                <a:cs typeface="+mn-lt"/>
              </a:rPr>
              <a:t>Execute PIPE </a:t>
            </a:r>
            <a:endParaRPr lang="en-US"/>
          </a:p>
          <a:p>
            <a:pPr marL="1200150" lvl="3" indent="-285750">
              <a:lnSpc>
                <a:spcPct val="100000"/>
              </a:lnSpc>
              <a:buFont typeface="Arial"/>
              <a:buChar char="•"/>
            </a:pPr>
            <a:r>
              <a:rPr lang="en-US" sz="1400" dirty="0">
                <a:solidFill>
                  <a:srgbClr val="000000"/>
                </a:solidFill>
                <a:ea typeface="+mn-lt"/>
                <a:cs typeface="+mn-lt"/>
              </a:rPr>
              <a:t>Fork for 'cat file1.txt'</a:t>
            </a:r>
            <a:endParaRPr lang="en-US" sz="1400">
              <a:ea typeface="+mn-lt"/>
              <a:cs typeface="+mn-lt"/>
            </a:endParaRPr>
          </a:p>
          <a:p>
            <a:pPr marL="1200150" lvl="3" indent="-285750">
              <a:lnSpc>
                <a:spcPct val="100000"/>
              </a:lnSpc>
              <a:buFont typeface="Arial"/>
              <a:buChar char="•"/>
            </a:pPr>
            <a:r>
              <a:rPr lang="en-US" sz="1400" dirty="0">
                <a:solidFill>
                  <a:srgbClr val="000000"/>
                </a:solidFill>
                <a:ea typeface="+mn-lt"/>
                <a:cs typeface="+mn-lt"/>
              </a:rPr>
              <a:t>Fork for 'grep "hello"'</a:t>
            </a:r>
            <a:endParaRPr lang="en-US" sz="1400">
              <a:ea typeface="+mn-lt"/>
              <a:cs typeface="+mn-lt"/>
            </a:endParaRPr>
          </a:p>
          <a:p>
            <a:pPr marL="1200150" lvl="3" indent="-285750">
              <a:lnSpc>
                <a:spcPct val="100000"/>
              </a:lnSpc>
              <a:buFont typeface="Arial"/>
              <a:buChar char="•"/>
            </a:pPr>
            <a:r>
              <a:rPr lang="en-US" sz="1400" dirty="0">
                <a:solidFill>
                  <a:srgbClr val="000000"/>
                </a:solidFill>
                <a:ea typeface="+mn-lt"/>
                <a:cs typeface="+mn-lt"/>
              </a:rPr>
              <a:t>Connect them with pipe</a:t>
            </a:r>
            <a:endParaRPr lang="en-US" sz="1400">
              <a:ea typeface="+mn-lt"/>
              <a:cs typeface="+mn-lt"/>
            </a:endParaRPr>
          </a:p>
          <a:p>
            <a:pPr marL="1200150" lvl="3" indent="-285750">
              <a:lnSpc>
                <a:spcPct val="100000"/>
              </a:lnSpc>
              <a:buFont typeface="Arial"/>
              <a:buChar char="•"/>
            </a:pPr>
            <a:r>
              <a:rPr lang="en-US" sz="1400" dirty="0">
                <a:solidFill>
                  <a:srgbClr val="000000"/>
                </a:solidFill>
                <a:ea typeface="+mn-lt"/>
                <a:cs typeface="+mn-lt"/>
              </a:rPr>
              <a:t>Wait for both to finish</a:t>
            </a:r>
            <a:endParaRPr lang="en-US" sz="1400"/>
          </a:p>
          <a:p>
            <a:pPr marL="760730" lvl="1" indent="-285750">
              <a:lnSpc>
                <a:spcPct val="100000"/>
              </a:lnSpc>
              <a:buFont typeface="Arial"/>
              <a:buChar char="•"/>
            </a:pPr>
            <a:r>
              <a:rPr lang="en-US" sz="1400" dirty="0">
                <a:solidFill>
                  <a:srgbClr val="000000"/>
                </a:solidFill>
                <a:ea typeface="+mn-lt"/>
                <a:cs typeface="+mn-lt"/>
              </a:rPr>
              <a:t>If left side succeeded (exit status 0), execute right side (GROUP) </a:t>
            </a:r>
            <a:endParaRPr lang="en-US" sz="1400"/>
          </a:p>
          <a:p>
            <a:pPr marL="980440" lvl="2" indent="-285750">
              <a:lnSpc>
                <a:spcPct val="100000"/>
              </a:lnSpc>
              <a:buFont typeface="Arial"/>
              <a:buChar char="•"/>
            </a:pPr>
            <a:r>
              <a:rPr lang="en-US" dirty="0">
                <a:solidFill>
                  <a:srgbClr val="000000"/>
                </a:solidFill>
                <a:ea typeface="+mn-lt"/>
                <a:cs typeface="+mn-lt"/>
              </a:rPr>
              <a:t>Start with OR node </a:t>
            </a:r>
            <a:endParaRPr lang="en-US"/>
          </a:p>
          <a:p>
            <a:pPr marL="1200150" lvl="3" indent="-285750">
              <a:lnSpc>
                <a:spcPct val="100000"/>
              </a:lnSpc>
              <a:buFont typeface="Arial"/>
              <a:buChar char="•"/>
            </a:pPr>
            <a:r>
              <a:rPr lang="en-US" sz="1400" dirty="0">
                <a:solidFill>
                  <a:srgbClr val="000000"/>
                </a:solidFill>
                <a:ea typeface="+mn-lt"/>
                <a:cs typeface="+mn-lt"/>
              </a:rPr>
              <a:t>Execute left side: 'echo "found" &gt; out.txt'</a:t>
            </a:r>
            <a:endParaRPr lang="en-US" sz="1400">
              <a:ea typeface="+mn-lt"/>
              <a:cs typeface="+mn-lt"/>
            </a:endParaRPr>
          </a:p>
          <a:p>
            <a:pPr marL="1200150" lvl="3" indent="-285750">
              <a:lnSpc>
                <a:spcPct val="100000"/>
              </a:lnSpc>
              <a:buFont typeface="Arial"/>
              <a:buChar char="•"/>
            </a:pPr>
            <a:r>
              <a:rPr lang="en-US" sz="1400" dirty="0">
                <a:solidFill>
                  <a:srgbClr val="000000"/>
                </a:solidFill>
                <a:ea typeface="+mn-lt"/>
                <a:cs typeface="+mn-lt"/>
              </a:rPr>
              <a:t>If it fails, execute right side (GROUP) </a:t>
            </a:r>
            <a:endParaRPr lang="en-US" sz="1400"/>
          </a:p>
          <a:p>
            <a:pPr marL="1437640" lvl="4" indent="-285750">
              <a:lnSpc>
                <a:spcPct val="100000"/>
              </a:lnSpc>
              <a:buFont typeface="Arial"/>
              <a:buChar char="•"/>
            </a:pPr>
            <a:r>
              <a:rPr lang="en-US" sz="1400" dirty="0">
                <a:solidFill>
                  <a:srgbClr val="000000"/>
                </a:solidFill>
                <a:ea typeface="+mn-lt"/>
                <a:cs typeface="+mn-lt"/>
              </a:rPr>
              <a:t>Execute AND node </a:t>
            </a:r>
            <a:endParaRPr lang="en-US" sz="1400"/>
          </a:p>
          <a:p>
            <a:pPr marL="1828800" lvl="5" indent="-285750">
              <a:lnSpc>
                <a:spcPct val="100000"/>
              </a:lnSpc>
              <a:buFont typeface="Arial"/>
              <a:buChar char="•"/>
            </a:pPr>
            <a:r>
              <a:rPr lang="en-US" sz="1400" dirty="0">
                <a:solidFill>
                  <a:srgbClr val="000000"/>
                </a:solidFill>
                <a:ea typeface="+mn-lt"/>
                <a:cs typeface="+mn-lt"/>
              </a:rPr>
              <a:t>Execute 'ls -l &gt;&gt; out.txt'</a:t>
            </a:r>
            <a:endParaRPr lang="en-US" sz="1400">
              <a:ea typeface="+mn-lt"/>
              <a:cs typeface="+mn-lt"/>
            </a:endParaRPr>
          </a:p>
          <a:p>
            <a:pPr marL="1828800" lvl="5" indent="-285750">
              <a:lnSpc>
                <a:spcPct val="100000"/>
              </a:lnSpc>
              <a:buFont typeface="Arial"/>
              <a:buChar char="•"/>
            </a:pPr>
            <a:r>
              <a:rPr lang="en-US" sz="1400" dirty="0">
                <a:solidFill>
                  <a:srgbClr val="000000"/>
                </a:solidFill>
                <a:ea typeface="+mn-lt"/>
                <a:cs typeface="+mn-lt"/>
              </a:rPr>
              <a:t>If it succeeds, execute '</a:t>
            </a:r>
            <a:r>
              <a:rPr lang="en-US" sz="1400" err="1">
                <a:solidFill>
                  <a:srgbClr val="000000"/>
                </a:solidFill>
                <a:ea typeface="+mn-lt"/>
                <a:cs typeface="+mn-lt"/>
              </a:rPr>
              <a:t>wc</a:t>
            </a:r>
            <a:r>
              <a:rPr lang="en-US" sz="1400" dirty="0">
                <a:solidFill>
                  <a:srgbClr val="000000"/>
                </a:solidFill>
                <a:ea typeface="+mn-lt"/>
                <a:cs typeface="+mn-lt"/>
              </a:rPr>
              <a:t> -l &lt; input.txt'</a:t>
            </a:r>
          </a:p>
          <a:p>
            <a:pPr indent="0">
              <a:spcBef>
                <a:spcPts val="200"/>
              </a:spcBef>
              <a:buNone/>
            </a:pPr>
            <a:r>
              <a:rPr lang="en-US" sz="1200" u="sng" dirty="0">
                <a:solidFill>
                  <a:srgbClr val="000000"/>
                </a:solidFill>
                <a:ea typeface="+mn-lt"/>
                <a:cs typeface="+mn-lt"/>
              </a:rPr>
              <a:t>Some key points:</a:t>
            </a:r>
            <a:endParaRPr lang="en-US" sz="1200" u="sng"/>
          </a:p>
          <a:p>
            <a:pPr indent="0">
              <a:spcBef>
                <a:spcPts val="200"/>
              </a:spcBef>
              <a:buFont typeface="Arial"/>
              <a:buChar char="•"/>
            </a:pPr>
            <a:r>
              <a:rPr lang="en-US" sz="1200" dirty="0">
                <a:solidFill>
                  <a:srgbClr val="000000"/>
                </a:solidFill>
                <a:ea typeface="+mn-lt"/>
                <a:cs typeface="+mn-lt"/>
              </a:rPr>
              <a:t>Redirections are handled at the command level</a:t>
            </a:r>
            <a:endParaRPr lang="en-US" dirty="0"/>
          </a:p>
          <a:p>
            <a:pPr indent="0">
              <a:spcBef>
                <a:spcPts val="200"/>
              </a:spcBef>
              <a:buFont typeface="Arial"/>
              <a:buChar char="•"/>
            </a:pPr>
            <a:r>
              <a:rPr lang="en-US" sz="1200" dirty="0">
                <a:solidFill>
                  <a:srgbClr val="000000"/>
                </a:solidFill>
                <a:ea typeface="+mn-lt"/>
                <a:cs typeface="+mn-lt"/>
              </a:rPr>
              <a:t>Pipes create two child processes and connect them</a:t>
            </a:r>
            <a:endParaRPr lang="en-US" dirty="0"/>
          </a:p>
          <a:p>
            <a:pPr indent="0">
              <a:spcBef>
                <a:spcPts val="200"/>
              </a:spcBef>
              <a:buFont typeface="Arial"/>
              <a:buChar char="•"/>
            </a:pPr>
            <a:r>
              <a:rPr lang="en-US" sz="1200" dirty="0">
                <a:solidFill>
                  <a:srgbClr val="000000"/>
                </a:solidFill>
                <a:ea typeface="+mn-lt"/>
                <a:cs typeface="+mn-lt"/>
              </a:rPr>
              <a:t>Groups are simply executed as their contained expression</a:t>
            </a:r>
            <a:endParaRPr lang="en-US" dirty="0"/>
          </a:p>
          <a:p>
            <a:pPr indent="0">
              <a:spcBef>
                <a:spcPts val="200"/>
              </a:spcBef>
              <a:buFont typeface="Arial"/>
              <a:buChar char="•"/>
            </a:pPr>
            <a:r>
              <a:rPr lang="en-US" sz="1200" dirty="0">
                <a:solidFill>
                  <a:srgbClr val="000000"/>
                </a:solidFill>
                <a:ea typeface="+mn-lt"/>
                <a:cs typeface="+mn-lt"/>
              </a:rPr>
              <a:t>AND/OR operators use the exit status to determine whether to execute their right side</a:t>
            </a:r>
            <a:endParaRPr lang="en-US" dirty="0"/>
          </a:p>
          <a:p>
            <a:pPr indent="0">
              <a:spcBef>
                <a:spcPts val="0"/>
              </a:spcBef>
              <a:buNone/>
            </a:pPr>
            <a:endParaRPr lang="en-US" sz="1200" dirty="0"/>
          </a:p>
        </p:txBody>
      </p:sp>
      <p:sp>
        <p:nvSpPr>
          <p:cNvPr id="4" name="TextBox 3">
            <a:extLst>
              <a:ext uri="{FF2B5EF4-FFF2-40B4-BE49-F238E27FC236}">
                <a16:creationId xmlns:a16="http://schemas.microsoft.com/office/drawing/2014/main" id="{97BD1F55-FA7D-BAC1-3686-8F96AC2FEC78}"/>
              </a:ext>
            </a:extLst>
          </p:cNvPr>
          <p:cNvSpPr txBox="1"/>
          <p:nvPr/>
        </p:nvSpPr>
        <p:spPr>
          <a:xfrm>
            <a:off x="1157817" y="618067"/>
            <a:ext cx="104055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Univers"/>
              </a:rPr>
              <a:t>(cat file1.txt | grep "hello") &amp;&amp; (echo "found" &gt; out.txt || (ls -l &gt;&gt; out.txt &amp;&amp; wc -l &lt; input.txt))</a:t>
            </a:r>
          </a:p>
        </p:txBody>
      </p:sp>
      <p:sp>
        <p:nvSpPr>
          <p:cNvPr id="2" name="TextBox 1">
            <a:extLst>
              <a:ext uri="{FF2B5EF4-FFF2-40B4-BE49-F238E27FC236}">
                <a16:creationId xmlns:a16="http://schemas.microsoft.com/office/drawing/2014/main" id="{4FAC4788-7683-396A-6FCB-3DCA990F5708}"/>
              </a:ext>
            </a:extLst>
          </p:cNvPr>
          <p:cNvSpPr txBox="1"/>
          <p:nvPr/>
        </p:nvSpPr>
        <p:spPr>
          <a:xfrm>
            <a:off x="1295400" y="1316567"/>
            <a:ext cx="240453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Execution </a:t>
            </a:r>
            <a:endParaRPr lang="en-US" dirty="0"/>
          </a:p>
          <a:p>
            <a:r>
              <a:rPr lang="en-US" sz="2000" b="1" dirty="0"/>
              <a:t>logic flow </a:t>
            </a:r>
            <a:endParaRPr lang="en-US" dirty="0"/>
          </a:p>
        </p:txBody>
      </p:sp>
    </p:spTree>
    <p:extLst>
      <p:ext uri="{BB962C8B-B14F-4D97-AF65-F5344CB8AC3E}">
        <p14:creationId xmlns:p14="http://schemas.microsoft.com/office/powerpoint/2010/main" val="161823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A7888C-31D4-D781-87FB-32BBEC44E385}"/>
              </a:ext>
            </a:extLst>
          </p:cNvPr>
          <p:cNvSpPr>
            <a:spLocks noGrp="1"/>
          </p:cNvSpPr>
          <p:nvPr>
            <p:ph idx="1"/>
          </p:nvPr>
        </p:nvSpPr>
        <p:spPr>
          <a:xfrm>
            <a:off x="5909734" y="1193271"/>
            <a:ext cx="5166784" cy="5495395"/>
          </a:xfrm>
        </p:spPr>
        <p:txBody>
          <a:bodyPr vert="horz" lIns="91440" tIns="45720" rIns="91440" bIns="45720" rtlCol="0" anchor="t">
            <a:normAutofit/>
          </a:bodyPr>
          <a:lstStyle/>
          <a:p>
            <a:pPr indent="0">
              <a:spcBef>
                <a:spcPts val="0"/>
              </a:spcBef>
              <a:buNone/>
            </a:pPr>
            <a:r>
              <a:rPr lang="en-US" sz="1200" dirty="0">
                <a:solidFill>
                  <a:srgbClr val="000000"/>
                </a:solidFill>
                <a:ea typeface="+mn-lt"/>
                <a:cs typeface="+mn-lt"/>
              </a:rPr>
              <a:t>    1. </a:t>
            </a:r>
            <a:r>
              <a:rPr lang="en-US" sz="1200" dirty="0" err="1">
                <a:solidFill>
                  <a:srgbClr val="000000"/>
                </a:solidFill>
                <a:ea typeface="+mn-lt"/>
                <a:cs typeface="+mn-lt"/>
              </a:rPr>
              <a:t>parse_and_or</a:t>
            </a:r>
            <a:endParaRPr lang="en-US" dirty="0" err="1">
              <a:ea typeface="+mn-lt"/>
              <a:cs typeface="+mn-lt"/>
            </a:endParaRPr>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parse_pipeline</a:t>
            </a:r>
            <a:endParaRPr lang="en-US">
              <a:ea typeface="+mn-lt"/>
              <a:cs typeface="+mn-lt"/>
            </a:endParaRPr>
          </a:p>
          <a:p>
            <a:pPr indent="0">
              <a:spcBef>
                <a:spcPts val="0"/>
              </a:spcBef>
              <a:buNone/>
            </a:pPr>
            <a:r>
              <a:rPr lang="en-US" sz="1200" dirty="0">
                <a:solidFill>
                  <a:srgbClr val="000000"/>
                </a:solidFill>
                <a:ea typeface="+mn-lt"/>
                <a:cs typeface="+mn-lt"/>
              </a:rPr>
              <a:t>         - Sees '(', calls </a:t>
            </a:r>
            <a:r>
              <a:rPr lang="en-US" sz="1200" dirty="0" err="1">
                <a:solidFill>
                  <a:srgbClr val="000000"/>
                </a:solidFill>
                <a:ea typeface="+mn-lt"/>
                <a:cs typeface="+mn-lt"/>
              </a:rPr>
              <a:t>parse_group</a:t>
            </a:r>
            <a:endParaRPr lang="en-US" dirty="0" err="1">
              <a:ea typeface="+mn-lt"/>
              <a:cs typeface="+mn-lt"/>
            </a:endParaRPr>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parse_and_or</a:t>
            </a:r>
            <a:r>
              <a:rPr lang="en-US" sz="1200" dirty="0">
                <a:solidFill>
                  <a:srgbClr val="000000"/>
                </a:solidFill>
                <a:ea typeface="+mn-lt"/>
                <a:cs typeface="+mn-lt"/>
              </a:rPr>
              <a:t> recursively for group content</a:t>
            </a:r>
            <a:endParaRPr lang="en-US"/>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parse_pipeline</a:t>
            </a:r>
            <a:endParaRPr lang="en-US" dirty="0" err="1">
              <a:ea typeface="+mn-lt"/>
              <a:cs typeface="+mn-lt"/>
            </a:endParaRPr>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parse_command</a:t>
            </a:r>
            <a:r>
              <a:rPr lang="en-US" sz="1200" dirty="0">
                <a:solidFill>
                  <a:srgbClr val="000000"/>
                </a:solidFill>
                <a:ea typeface="+mn-lt"/>
                <a:cs typeface="+mn-lt"/>
              </a:rPr>
              <a:t>, gets 'cat file1.txt'</a:t>
            </a:r>
            <a:endParaRPr lang="en-US"/>
          </a:p>
          <a:p>
            <a:pPr indent="0">
              <a:spcBef>
                <a:spcPts val="0"/>
              </a:spcBef>
              <a:buNone/>
            </a:pPr>
            <a:r>
              <a:rPr lang="en-US" sz="1200" dirty="0">
                <a:solidFill>
                  <a:srgbClr val="000000"/>
                </a:solidFill>
                <a:ea typeface="+mn-lt"/>
                <a:cs typeface="+mn-lt"/>
              </a:rPr>
              <a:t>               - Sees '|', creates pipe node</a:t>
            </a:r>
            <a:endParaRPr lang="en-US">
              <a:ea typeface="+mn-lt"/>
              <a:cs typeface="+mn-lt"/>
            </a:endParaRPr>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parse_command</a:t>
            </a:r>
            <a:r>
              <a:rPr lang="en-US" sz="1200" dirty="0">
                <a:solidFill>
                  <a:srgbClr val="000000"/>
                </a:solidFill>
                <a:ea typeface="+mn-lt"/>
                <a:cs typeface="+mn-lt"/>
              </a:rPr>
              <a:t>, gets 'grep "hello"'</a:t>
            </a:r>
            <a:endParaRPr lang="en-US" dirty="0"/>
          </a:p>
          <a:p>
            <a:pPr indent="0">
              <a:spcBef>
                <a:spcPts val="0"/>
              </a:spcBef>
              <a:buNone/>
            </a:pPr>
            <a:r>
              <a:rPr lang="en-US" sz="1200" dirty="0">
                <a:solidFill>
                  <a:srgbClr val="000000"/>
                </a:solidFill>
                <a:ea typeface="+mn-lt"/>
                <a:cs typeface="+mn-lt"/>
              </a:rPr>
              <a:t>           - Returns pipe node</a:t>
            </a:r>
            <a:endParaRPr lang="en-US">
              <a:ea typeface="+mn-lt"/>
              <a:cs typeface="+mn-lt"/>
            </a:endParaRPr>
          </a:p>
          <a:p>
            <a:pPr indent="0">
              <a:spcBef>
                <a:spcPts val="0"/>
              </a:spcBef>
              <a:buNone/>
            </a:pPr>
            <a:r>
              <a:rPr lang="en-US" sz="1200" dirty="0">
                <a:solidFill>
                  <a:srgbClr val="000000"/>
                </a:solidFill>
                <a:ea typeface="+mn-lt"/>
                <a:cs typeface="+mn-lt"/>
              </a:rPr>
              <a:t>         - Wraps pipe node in group node</a:t>
            </a:r>
            <a:endParaRPr lang="en-US">
              <a:ea typeface="+mn-lt"/>
              <a:cs typeface="+mn-lt"/>
            </a:endParaRPr>
          </a:p>
          <a:p>
            <a:pPr indent="0">
              <a:spcBef>
                <a:spcPts val="0"/>
              </a:spcBef>
              <a:buNone/>
            </a:pPr>
            <a:r>
              <a:rPr lang="en-US" sz="1200" dirty="0">
                <a:solidFill>
                  <a:srgbClr val="000000"/>
                </a:solidFill>
                <a:ea typeface="+mn-lt"/>
                <a:cs typeface="+mn-lt"/>
              </a:rPr>
              <a:t>       - Sees '&amp;&amp;', creates AND node</a:t>
            </a:r>
            <a:endParaRPr lang="en-US"/>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parse_pipeline</a:t>
            </a:r>
            <a:r>
              <a:rPr lang="en-US" sz="1200" dirty="0">
                <a:solidFill>
                  <a:srgbClr val="000000"/>
                </a:solidFill>
                <a:ea typeface="+mn-lt"/>
                <a:cs typeface="+mn-lt"/>
              </a:rPr>
              <a:t> for right side</a:t>
            </a:r>
            <a:endParaRPr lang="en-US"/>
          </a:p>
          <a:p>
            <a:pPr indent="0">
              <a:spcBef>
                <a:spcPts val="0"/>
              </a:spcBef>
              <a:buNone/>
            </a:pPr>
            <a:r>
              <a:rPr lang="en-US" sz="1200" dirty="0">
                <a:solidFill>
                  <a:srgbClr val="000000"/>
                </a:solidFill>
                <a:ea typeface="+mn-lt"/>
                <a:cs typeface="+mn-lt"/>
              </a:rPr>
              <a:t>         - Sees '(', calls </a:t>
            </a:r>
            <a:r>
              <a:rPr lang="en-US" sz="1200" dirty="0" err="1">
                <a:solidFill>
                  <a:srgbClr val="000000"/>
                </a:solidFill>
                <a:ea typeface="+mn-lt"/>
                <a:cs typeface="+mn-lt"/>
              </a:rPr>
              <a:t>parse_group</a:t>
            </a:r>
            <a:endParaRPr lang="en-US" err="1"/>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parse_and_or</a:t>
            </a:r>
            <a:r>
              <a:rPr lang="en-US" sz="1200" dirty="0">
                <a:solidFill>
                  <a:srgbClr val="000000"/>
                </a:solidFill>
                <a:ea typeface="+mn-lt"/>
                <a:cs typeface="+mn-lt"/>
              </a:rPr>
              <a:t> recursively</a:t>
            </a:r>
            <a:endParaRPr lang="en-US" dirty="0"/>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parse_pipeline</a:t>
            </a:r>
            <a:endParaRPr lang="en-US" err="1"/>
          </a:p>
          <a:p>
            <a:pPr indent="0">
              <a:spcBef>
                <a:spcPts val="0"/>
              </a:spcBef>
              <a:buNone/>
            </a:pPr>
            <a:r>
              <a:rPr lang="en-US" sz="1200" dirty="0">
                <a:solidFill>
                  <a:srgbClr val="000000"/>
                </a:solidFill>
                <a:ea typeface="+mn-lt"/>
                <a:cs typeface="+mn-lt"/>
              </a:rPr>
              <a:t>               - Gets 'echo "found" &gt; out.txt'</a:t>
            </a:r>
            <a:endParaRPr lang="en-US"/>
          </a:p>
          <a:p>
            <a:pPr indent="0">
              <a:spcBef>
                <a:spcPts val="0"/>
              </a:spcBef>
              <a:buNone/>
            </a:pPr>
            <a:r>
              <a:rPr lang="en-US" sz="1200" dirty="0">
                <a:solidFill>
                  <a:srgbClr val="000000"/>
                </a:solidFill>
                <a:ea typeface="+mn-lt"/>
                <a:cs typeface="+mn-lt"/>
              </a:rPr>
              <a:t>             - Sees '||', creates OR node</a:t>
            </a:r>
            <a:endParaRPr lang="en-US">
              <a:ea typeface="+mn-lt"/>
              <a:cs typeface="+mn-lt"/>
            </a:endParaRPr>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parse_pipeline</a:t>
            </a:r>
            <a:r>
              <a:rPr lang="en-US" sz="1200" dirty="0">
                <a:solidFill>
                  <a:srgbClr val="000000"/>
                </a:solidFill>
                <a:ea typeface="+mn-lt"/>
                <a:cs typeface="+mn-lt"/>
              </a:rPr>
              <a:t> for right side</a:t>
            </a:r>
            <a:endParaRPr lang="en-US"/>
          </a:p>
          <a:p>
            <a:pPr indent="0">
              <a:spcBef>
                <a:spcPts val="0"/>
              </a:spcBef>
              <a:buNone/>
            </a:pPr>
            <a:r>
              <a:rPr lang="en-US" sz="1200" dirty="0">
                <a:solidFill>
                  <a:srgbClr val="000000"/>
                </a:solidFill>
                <a:ea typeface="+mn-lt"/>
                <a:cs typeface="+mn-lt"/>
              </a:rPr>
              <a:t>               - Sees '(', calls </a:t>
            </a:r>
            <a:r>
              <a:rPr lang="en-US" sz="1200" dirty="0" err="1">
                <a:solidFill>
                  <a:srgbClr val="000000"/>
                </a:solidFill>
                <a:ea typeface="+mn-lt"/>
                <a:cs typeface="+mn-lt"/>
              </a:rPr>
              <a:t>parse_group</a:t>
            </a:r>
            <a:endParaRPr lang="en-US" err="1">
              <a:ea typeface="+mn-lt"/>
              <a:cs typeface="+mn-lt"/>
            </a:endParaRPr>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parse_and_or</a:t>
            </a:r>
            <a:r>
              <a:rPr lang="en-US" sz="1200" dirty="0">
                <a:solidFill>
                  <a:srgbClr val="000000"/>
                </a:solidFill>
                <a:ea typeface="+mn-lt"/>
                <a:cs typeface="+mn-lt"/>
              </a:rPr>
              <a:t> recursively</a:t>
            </a:r>
            <a:endParaRPr lang="en-US"/>
          </a:p>
          <a:p>
            <a:pPr indent="0">
              <a:spcBef>
                <a:spcPts val="0"/>
              </a:spcBef>
              <a:buNone/>
            </a:pPr>
            <a:r>
              <a:rPr lang="en-US" sz="1200" dirty="0">
                <a:solidFill>
                  <a:srgbClr val="000000"/>
                </a:solidFill>
                <a:ea typeface="+mn-lt"/>
                <a:cs typeface="+mn-lt"/>
              </a:rPr>
              <a:t>                   - Calls </a:t>
            </a:r>
            <a:r>
              <a:rPr lang="en-US" sz="1200" dirty="0" err="1">
                <a:solidFill>
                  <a:srgbClr val="000000"/>
                </a:solidFill>
                <a:ea typeface="+mn-lt"/>
                <a:cs typeface="+mn-lt"/>
              </a:rPr>
              <a:t>parse_pipeline</a:t>
            </a:r>
            <a:r>
              <a:rPr lang="en-US" sz="1200" dirty="0">
                <a:solidFill>
                  <a:srgbClr val="000000"/>
                </a:solidFill>
                <a:ea typeface="+mn-lt"/>
                <a:cs typeface="+mn-lt"/>
              </a:rPr>
              <a:t>, gets 'ls -l &gt;&gt; out.txt'</a:t>
            </a:r>
            <a:endParaRPr lang="en-US"/>
          </a:p>
          <a:p>
            <a:pPr indent="0">
              <a:spcBef>
                <a:spcPts val="0"/>
              </a:spcBef>
              <a:buNone/>
            </a:pPr>
            <a:r>
              <a:rPr lang="en-US" sz="1200" dirty="0">
                <a:solidFill>
                  <a:srgbClr val="000000"/>
                </a:solidFill>
                <a:ea typeface="+mn-lt"/>
                <a:cs typeface="+mn-lt"/>
              </a:rPr>
              <a:t>                   - Sees '&amp;&amp;', creates AND node</a:t>
            </a:r>
            <a:endParaRPr lang="en-US" dirty="0">
              <a:solidFill>
                <a:srgbClr val="000000"/>
              </a:solidFill>
              <a:ea typeface="+mn-lt"/>
              <a:cs typeface="+mn-lt"/>
            </a:endParaRPr>
          </a:p>
          <a:p>
            <a:pPr indent="0">
              <a:spcBef>
                <a:spcPts val="0"/>
              </a:spcBef>
              <a:buNone/>
            </a:pPr>
            <a:r>
              <a:rPr lang="en-US" sz="1200" dirty="0">
                <a:solidFill>
                  <a:srgbClr val="000000"/>
                </a:solidFill>
                <a:ea typeface="+mn-lt"/>
                <a:cs typeface="+mn-lt"/>
              </a:rPr>
              <a:t>                   - Calls </a:t>
            </a:r>
            <a:r>
              <a:rPr lang="en-US" sz="1200" err="1">
                <a:solidFill>
                  <a:srgbClr val="000000"/>
                </a:solidFill>
                <a:ea typeface="+mn-lt"/>
                <a:cs typeface="+mn-lt"/>
              </a:rPr>
              <a:t>parse_pipeline</a:t>
            </a:r>
            <a:r>
              <a:rPr lang="en-US" sz="1200" dirty="0">
                <a:solidFill>
                  <a:srgbClr val="000000"/>
                </a:solidFill>
                <a:ea typeface="+mn-lt"/>
                <a:cs typeface="+mn-lt"/>
              </a:rPr>
              <a:t>, gets '</a:t>
            </a:r>
            <a:r>
              <a:rPr lang="en-US" sz="1200" err="1">
                <a:solidFill>
                  <a:srgbClr val="000000"/>
                </a:solidFill>
                <a:ea typeface="+mn-lt"/>
                <a:cs typeface="+mn-lt"/>
              </a:rPr>
              <a:t>wc</a:t>
            </a:r>
            <a:r>
              <a:rPr lang="en-US" sz="1200" dirty="0">
                <a:solidFill>
                  <a:srgbClr val="000000"/>
                </a:solidFill>
                <a:ea typeface="+mn-lt"/>
                <a:cs typeface="+mn-lt"/>
              </a:rPr>
              <a:t> -l &lt; input.txt'</a:t>
            </a:r>
            <a:endParaRPr lang="en-US"/>
          </a:p>
        </p:txBody>
      </p:sp>
      <p:sp>
        <p:nvSpPr>
          <p:cNvPr id="4" name="TextBox 3">
            <a:extLst>
              <a:ext uri="{FF2B5EF4-FFF2-40B4-BE49-F238E27FC236}">
                <a16:creationId xmlns:a16="http://schemas.microsoft.com/office/drawing/2014/main" id="{97BD1F55-FA7D-BAC1-3686-8F96AC2FEC78}"/>
              </a:ext>
            </a:extLst>
          </p:cNvPr>
          <p:cNvSpPr txBox="1"/>
          <p:nvPr/>
        </p:nvSpPr>
        <p:spPr>
          <a:xfrm>
            <a:off x="1157817" y="618067"/>
            <a:ext cx="104055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Univers"/>
              </a:rPr>
              <a:t>(cat file1.txt | grep "hello") &amp;&amp; (echo "found" &gt; out.txt || (ls -l &gt;&gt; out.txt &amp;&amp; wc -l &lt; input.txt))</a:t>
            </a:r>
            <a:endParaRPr lang="en-US"/>
          </a:p>
        </p:txBody>
      </p:sp>
      <p:sp>
        <p:nvSpPr>
          <p:cNvPr id="5" name="TextBox 4">
            <a:extLst>
              <a:ext uri="{FF2B5EF4-FFF2-40B4-BE49-F238E27FC236}">
                <a16:creationId xmlns:a16="http://schemas.microsoft.com/office/drawing/2014/main" id="{CCBAF40E-1355-5005-EE02-F5BC0347C6C7}"/>
              </a:ext>
            </a:extLst>
          </p:cNvPr>
          <p:cNvSpPr txBox="1"/>
          <p:nvPr/>
        </p:nvSpPr>
        <p:spPr>
          <a:xfrm>
            <a:off x="1295400" y="1316567"/>
            <a:ext cx="35051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Recursive Descent Parsing flow logic</a:t>
            </a:r>
          </a:p>
        </p:txBody>
      </p:sp>
    </p:spTree>
    <p:extLst>
      <p:ext uri="{BB962C8B-B14F-4D97-AF65-F5344CB8AC3E}">
        <p14:creationId xmlns:p14="http://schemas.microsoft.com/office/powerpoint/2010/main" val="2926763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A7888C-31D4-D781-87FB-32BBEC44E385}"/>
              </a:ext>
            </a:extLst>
          </p:cNvPr>
          <p:cNvSpPr>
            <a:spLocks noGrp="1"/>
          </p:cNvSpPr>
          <p:nvPr>
            <p:ph idx="1"/>
          </p:nvPr>
        </p:nvSpPr>
        <p:spPr>
          <a:xfrm>
            <a:off x="1157817" y="1468438"/>
            <a:ext cx="5060951" cy="4479395"/>
          </a:xfrm>
        </p:spPr>
        <p:txBody>
          <a:bodyPr vert="horz" lIns="91440" tIns="45720" rIns="91440" bIns="45720" rtlCol="0" anchor="t">
            <a:normAutofit fontScale="77500" lnSpcReduction="20000"/>
          </a:bodyPr>
          <a:lstStyle/>
          <a:p>
            <a:pPr indent="0">
              <a:spcBef>
                <a:spcPts val="0"/>
              </a:spcBef>
              <a:buNone/>
            </a:pPr>
            <a:r>
              <a:rPr lang="en-US" sz="1200" dirty="0">
                <a:latin typeface="Consolas"/>
                <a:ea typeface="+mn-lt"/>
                <a:cs typeface="+mn-lt"/>
              </a:rPr>
              <a:t>Step 1-2:</a:t>
            </a:r>
            <a:endParaRPr lang="en-US" dirty="0">
              <a:latin typeface="Consolas"/>
            </a:endParaRPr>
          </a:p>
          <a:p>
            <a:pPr indent="0">
              <a:spcBef>
                <a:spcPts val="0"/>
              </a:spcBef>
              <a:buNone/>
            </a:pPr>
            <a:r>
              <a:rPr lang="en-US" sz="1200" dirty="0">
                <a:latin typeface="Consolas"/>
                <a:ea typeface="+mn-lt"/>
                <a:cs typeface="+mn-lt"/>
              </a:rPr>
              <a:t>&lt; input.txt</a:t>
            </a:r>
            <a:endParaRPr lang="en-US" dirty="0">
              <a:latin typeface="Consolas"/>
            </a:endParaRPr>
          </a:p>
          <a:p>
            <a:pPr indent="0">
              <a:spcBef>
                <a:spcPts val="0"/>
              </a:spcBef>
              <a:buNone/>
            </a:pPr>
            <a:endParaRPr lang="en-US" dirty="0">
              <a:latin typeface="Consolas"/>
            </a:endParaRPr>
          </a:p>
          <a:p>
            <a:pPr indent="0">
              <a:spcBef>
                <a:spcPts val="0"/>
              </a:spcBef>
              <a:buNone/>
            </a:pPr>
            <a:r>
              <a:rPr lang="en-US" sz="1200" dirty="0">
                <a:latin typeface="Consolas"/>
                <a:ea typeface="+mn-lt"/>
                <a:cs typeface="+mn-lt"/>
              </a:rPr>
              <a:t>Step 3-4:</a:t>
            </a:r>
            <a:endParaRPr lang="en-US" dirty="0">
              <a:latin typeface="Consolas"/>
            </a:endParaRPr>
          </a:p>
          <a:p>
            <a:pPr indent="0">
              <a:spcBef>
                <a:spcPts val="0"/>
              </a:spcBef>
              <a:buNone/>
            </a:pPr>
            <a:r>
              <a:rPr lang="en-US" sz="1200" dirty="0">
                <a:latin typeface="Consolas"/>
                <a:ea typeface="+mn-lt"/>
                <a:cs typeface="+mn-lt"/>
              </a:rPr>
              <a:t>         &lt;</a:t>
            </a:r>
            <a:endParaRPr lang="en-US" dirty="0">
              <a:latin typeface="Consolas"/>
              <a:ea typeface="+mn-lt"/>
              <a:cs typeface="+mn-lt"/>
            </a:endParaRPr>
          </a:p>
          <a:p>
            <a:pPr indent="0">
              <a:spcBef>
                <a:spcPts val="0"/>
              </a:spcBef>
              <a:buNone/>
            </a:pPr>
            <a:r>
              <a:rPr lang="en-US" sz="1200" dirty="0">
                <a:latin typeface="Consolas"/>
                <a:ea typeface="+mn-lt"/>
                <a:cs typeface="+mn-lt"/>
              </a:rPr>
              <a:t>        / \</a:t>
            </a:r>
            <a:endParaRPr lang="en-US" dirty="0">
              <a:latin typeface="Consolas"/>
            </a:endParaRPr>
          </a:p>
          <a:p>
            <a:pPr indent="0">
              <a:spcBef>
                <a:spcPts val="0"/>
              </a:spcBef>
              <a:buNone/>
            </a:pPr>
            <a:r>
              <a:rPr lang="en-US" sz="1200" dirty="0">
                <a:latin typeface="Consolas"/>
                <a:ea typeface="+mn-lt"/>
                <a:cs typeface="+mn-lt"/>
              </a:rPr>
              <a:t>input.txt grep error</a:t>
            </a:r>
            <a:endParaRPr lang="en-US" dirty="0">
              <a:latin typeface="Consolas"/>
            </a:endParaRPr>
          </a:p>
          <a:p>
            <a:pPr indent="0">
              <a:spcBef>
                <a:spcPts val="0"/>
              </a:spcBef>
              <a:buNone/>
            </a:pPr>
            <a:endParaRPr lang="en-US" dirty="0">
              <a:latin typeface="Consolas"/>
              <a:ea typeface="+mn-lt"/>
              <a:cs typeface="+mn-lt"/>
            </a:endParaRPr>
          </a:p>
          <a:p>
            <a:pPr indent="0">
              <a:spcBef>
                <a:spcPts val="0"/>
              </a:spcBef>
              <a:buNone/>
            </a:pPr>
            <a:r>
              <a:rPr lang="en-US" sz="1200" dirty="0">
                <a:latin typeface="Consolas"/>
                <a:ea typeface="+mn-lt"/>
                <a:cs typeface="+mn-lt"/>
              </a:rPr>
              <a:t>Step 5-6:</a:t>
            </a:r>
            <a:endParaRPr lang="en-US" dirty="0">
              <a:latin typeface="Consolas"/>
            </a:endParaRPr>
          </a:p>
          <a:p>
            <a:pPr indent="0">
              <a:spcBef>
                <a:spcPts val="0"/>
              </a:spcBef>
              <a:buNone/>
            </a:pPr>
            <a:r>
              <a:rPr lang="en-US" sz="1200" dirty="0">
                <a:latin typeface="Consolas"/>
                <a:ea typeface="+mn-lt"/>
                <a:cs typeface="+mn-lt"/>
              </a:rPr>
              <a:t>           |</a:t>
            </a:r>
            <a:endParaRPr lang="en-US" dirty="0">
              <a:latin typeface="Consolas"/>
            </a:endParaRPr>
          </a:p>
          <a:p>
            <a:pPr indent="0">
              <a:spcBef>
                <a:spcPts val="0"/>
              </a:spcBef>
              <a:buNone/>
            </a:pPr>
            <a:r>
              <a:rPr lang="en-US" sz="1200">
                <a:latin typeface="Consolas"/>
                <a:ea typeface="+mn-lt"/>
                <a:cs typeface="+mn-lt"/>
              </a:rPr>
              <a:t>          / \</a:t>
            </a:r>
            <a:endParaRPr lang="en-US">
              <a:latin typeface="Consolas"/>
            </a:endParaRPr>
          </a:p>
          <a:p>
            <a:pPr indent="0">
              <a:spcBef>
                <a:spcPts val="0"/>
              </a:spcBef>
              <a:buNone/>
            </a:pPr>
            <a:r>
              <a:rPr lang="en-US" sz="1200" dirty="0">
                <a:latin typeface="Consolas"/>
                <a:ea typeface="+mn-lt"/>
                <a:cs typeface="+mn-lt"/>
              </a:rPr>
              <a:t>         &lt;   &gt;&gt;</a:t>
            </a:r>
            <a:endParaRPr lang="en-US" dirty="0">
              <a:latin typeface="Consolas"/>
            </a:endParaRPr>
          </a:p>
          <a:p>
            <a:pPr indent="0">
              <a:spcBef>
                <a:spcPts val="0"/>
              </a:spcBef>
              <a:buNone/>
            </a:pPr>
            <a:r>
              <a:rPr lang="en-US" sz="1200">
                <a:latin typeface="Consolas"/>
                <a:ea typeface="+mn-lt"/>
                <a:cs typeface="+mn-lt"/>
              </a:rPr>
              <a:t>        / \  / \</a:t>
            </a:r>
            <a:endParaRPr lang="en-US">
              <a:latin typeface="Consolas"/>
            </a:endParaRPr>
          </a:p>
          <a:p>
            <a:pPr indent="0">
              <a:spcBef>
                <a:spcPts val="0"/>
              </a:spcBef>
              <a:buNone/>
            </a:pPr>
            <a:r>
              <a:rPr lang="en-US" sz="1200" dirty="0">
                <a:latin typeface="Consolas"/>
                <a:ea typeface="+mn-lt"/>
                <a:cs typeface="+mn-lt"/>
              </a:rPr>
              <a:t>input.txt  tee  output.log</a:t>
            </a:r>
            <a:endParaRPr lang="en-US" dirty="0">
              <a:latin typeface="Consolas"/>
            </a:endParaRPr>
          </a:p>
          <a:p>
            <a:pPr indent="0">
              <a:spcBef>
                <a:spcPts val="0"/>
              </a:spcBef>
              <a:buNone/>
            </a:pPr>
            <a:r>
              <a:rPr lang="en-US" sz="1200" dirty="0">
                <a:latin typeface="Consolas"/>
                <a:ea typeface="+mn-lt"/>
                <a:cs typeface="+mn-lt"/>
              </a:rPr>
              <a:t>    |      |</a:t>
            </a:r>
            <a:endParaRPr lang="en-US" dirty="0">
              <a:latin typeface="Consolas"/>
            </a:endParaRPr>
          </a:p>
          <a:p>
            <a:pPr indent="0">
              <a:spcBef>
                <a:spcPts val="0"/>
              </a:spcBef>
              <a:buNone/>
            </a:pPr>
            <a:r>
              <a:rPr lang="en-US" sz="1200" dirty="0">
                <a:latin typeface="Consolas"/>
                <a:ea typeface="+mn-lt"/>
                <a:cs typeface="+mn-lt"/>
              </a:rPr>
              <a:t>grep error log.txt</a:t>
            </a:r>
            <a:endParaRPr lang="en-US" dirty="0">
              <a:latin typeface="Consolas"/>
            </a:endParaRPr>
          </a:p>
          <a:p>
            <a:pPr indent="0">
              <a:spcBef>
                <a:spcPts val="0"/>
              </a:spcBef>
              <a:buNone/>
            </a:pPr>
            <a:endParaRPr lang="en-US" dirty="0">
              <a:latin typeface="Consolas"/>
              <a:ea typeface="+mn-lt"/>
              <a:cs typeface="+mn-lt"/>
            </a:endParaRPr>
          </a:p>
          <a:p>
            <a:pPr indent="0">
              <a:spcBef>
                <a:spcPts val="0"/>
              </a:spcBef>
              <a:buNone/>
            </a:pPr>
            <a:r>
              <a:rPr lang="en-US" sz="1200" dirty="0">
                <a:latin typeface="Consolas"/>
                <a:ea typeface="+mn-lt"/>
                <a:cs typeface="+mn-lt"/>
              </a:rPr>
              <a:t>Step 7-9:</a:t>
            </a:r>
            <a:endParaRPr lang="en-US" dirty="0">
              <a:latin typeface="Consolas"/>
            </a:endParaRPr>
          </a:p>
          <a:p>
            <a:pPr indent="0">
              <a:spcBef>
                <a:spcPts val="0"/>
              </a:spcBef>
              <a:buNone/>
            </a:pPr>
            <a:r>
              <a:rPr lang="en-US" sz="1200" dirty="0">
                <a:latin typeface="Consolas"/>
                <a:ea typeface="+mn-lt"/>
                <a:cs typeface="+mn-lt"/>
              </a:rPr>
              <a:t>             &amp;&amp;</a:t>
            </a:r>
            <a:endParaRPr lang="en-US" dirty="0">
              <a:latin typeface="Consolas"/>
            </a:endParaRPr>
          </a:p>
          <a:p>
            <a:pPr indent="0">
              <a:spcBef>
                <a:spcPts val="0"/>
              </a:spcBef>
              <a:buNone/>
            </a:pPr>
            <a:r>
              <a:rPr lang="en-US" sz="1200">
                <a:latin typeface="Consolas"/>
                <a:ea typeface="+mn-lt"/>
                <a:cs typeface="+mn-lt"/>
              </a:rPr>
              <a:t>           /    \</a:t>
            </a:r>
            <a:endParaRPr lang="en-US">
              <a:latin typeface="Consolas"/>
            </a:endParaRPr>
          </a:p>
          <a:p>
            <a:pPr indent="0">
              <a:spcBef>
                <a:spcPts val="0"/>
              </a:spcBef>
              <a:buNone/>
            </a:pPr>
            <a:r>
              <a:rPr lang="en-US" sz="1200" dirty="0">
                <a:latin typeface="Consolas"/>
                <a:ea typeface="+mn-lt"/>
                <a:cs typeface="+mn-lt"/>
              </a:rPr>
              <a:t>          |      ( ) - - - - - - - - </a:t>
            </a:r>
            <a:endParaRPr lang="en-US" dirty="0">
              <a:latin typeface="Consolas"/>
              <a:ea typeface="+mn-lt"/>
              <a:cs typeface="+mn-lt"/>
            </a:endParaRPr>
          </a:p>
          <a:p>
            <a:pPr indent="0">
              <a:spcBef>
                <a:spcPts val="0"/>
              </a:spcBef>
              <a:buNone/>
            </a:pPr>
            <a:r>
              <a:rPr lang="en-US" sz="1200" dirty="0">
                <a:latin typeface="Consolas"/>
                <a:ea typeface="+mn-lt"/>
                <a:cs typeface="+mn-lt"/>
              </a:rPr>
              <a:t>         /  \   /                   ||</a:t>
            </a:r>
            <a:endParaRPr lang="en-US" dirty="0">
              <a:latin typeface="Consolas"/>
            </a:endParaRPr>
          </a:p>
          <a:p>
            <a:pPr indent="0">
              <a:spcBef>
                <a:spcPts val="0"/>
              </a:spcBef>
              <a:buNone/>
            </a:pPr>
            <a:r>
              <a:rPr lang="en-US" sz="1200">
                <a:latin typeface="Consolas"/>
                <a:ea typeface="+mn-lt"/>
                <a:cs typeface="+mn-lt"/>
              </a:rPr>
              <a:t>        &lt;    &gt;&gt;                    /  \</a:t>
            </a:r>
          </a:p>
          <a:p>
            <a:pPr indent="0">
              <a:spcBef>
                <a:spcPts val="0"/>
              </a:spcBef>
              <a:buNone/>
            </a:pPr>
            <a:r>
              <a:rPr lang="en-US" sz="1200" dirty="0">
                <a:latin typeface="Consolas"/>
                <a:ea typeface="+mn-lt"/>
                <a:cs typeface="+mn-lt"/>
              </a:rPr>
              <a:t>       / \  /  \                 cat  echo</a:t>
            </a:r>
          </a:p>
          <a:p>
            <a:pPr indent="0">
              <a:spcBef>
                <a:spcPts val="0"/>
              </a:spcBef>
              <a:buNone/>
            </a:pPr>
            <a:r>
              <a:rPr lang="en-US" sz="1200" dirty="0">
                <a:latin typeface="Consolas"/>
                <a:ea typeface="+mn-lt"/>
                <a:cs typeface="+mn-lt"/>
              </a:rPr>
              <a:t>input.txt tee  output.log        |      |</a:t>
            </a:r>
          </a:p>
          <a:p>
            <a:pPr marL="0" indent="0">
              <a:spcBef>
                <a:spcPts val="0"/>
              </a:spcBef>
              <a:buNone/>
            </a:pPr>
            <a:r>
              <a:rPr lang="en-US" sz="1200" dirty="0">
                <a:latin typeface="Consolas"/>
                <a:ea typeface="+mn-lt"/>
                <a:cs typeface="+mn-lt"/>
              </a:rPr>
              <a:t>    |      |                   file.txt   "not found"</a:t>
            </a:r>
          </a:p>
          <a:p>
            <a:pPr indent="0">
              <a:spcBef>
                <a:spcPts val="0"/>
              </a:spcBef>
              <a:buNone/>
            </a:pPr>
            <a:endParaRPr lang="en-US" sz="1200" dirty="0">
              <a:latin typeface="Consolas"/>
            </a:endParaRPr>
          </a:p>
          <a:p>
            <a:pPr marL="0" indent="0">
              <a:spcBef>
                <a:spcPts val="0"/>
              </a:spcBef>
              <a:buNone/>
            </a:pPr>
            <a:r>
              <a:rPr lang="en-US" sz="1200" dirty="0">
                <a:latin typeface="Consolas"/>
                <a:ea typeface="+mn-lt"/>
                <a:cs typeface="+mn-lt"/>
              </a:rPr>
              <a:t>grep error log.txt                </a:t>
            </a:r>
            <a:endParaRPr lang="en-US" dirty="0">
              <a:latin typeface="Consolas"/>
            </a:endParaRPr>
          </a:p>
        </p:txBody>
      </p:sp>
      <p:sp>
        <p:nvSpPr>
          <p:cNvPr id="4" name="TextBox 3">
            <a:extLst>
              <a:ext uri="{FF2B5EF4-FFF2-40B4-BE49-F238E27FC236}">
                <a16:creationId xmlns:a16="http://schemas.microsoft.com/office/drawing/2014/main" id="{97BD1F55-FA7D-BAC1-3686-8F96AC2FEC78}"/>
              </a:ext>
            </a:extLst>
          </p:cNvPr>
          <p:cNvSpPr txBox="1"/>
          <p:nvPr/>
        </p:nvSpPr>
        <p:spPr>
          <a:xfrm>
            <a:off x="1157817" y="618067"/>
            <a:ext cx="104055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&lt; input.txt grep error | tee log.txt &gt;&gt; output.log &amp;&amp; (cat file.txt || echo "not found")</a:t>
            </a:r>
            <a:endParaRPr lang="en-US" b="1" dirty="0"/>
          </a:p>
        </p:txBody>
      </p:sp>
      <p:sp>
        <p:nvSpPr>
          <p:cNvPr id="6" name="Content Placeholder 2">
            <a:extLst>
              <a:ext uri="{FF2B5EF4-FFF2-40B4-BE49-F238E27FC236}">
                <a16:creationId xmlns:a16="http://schemas.microsoft.com/office/drawing/2014/main" id="{DD6CF647-3FBE-776A-D590-F9990A8F53FA}"/>
              </a:ext>
            </a:extLst>
          </p:cNvPr>
          <p:cNvSpPr txBox="1">
            <a:spLocks/>
          </p:cNvSpPr>
          <p:nvPr/>
        </p:nvSpPr>
        <p:spPr>
          <a:xfrm>
            <a:off x="6675967" y="1472671"/>
            <a:ext cx="5060951" cy="4479395"/>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dirty="0"/>
              <a:t>How Precedence Works</a:t>
            </a:r>
          </a:p>
          <a:p>
            <a:pPr>
              <a:buFont typeface="Arial"/>
              <a:buChar char="•"/>
            </a:pPr>
            <a:r>
              <a:rPr lang="en-US" sz="1200" dirty="0">
                <a:ea typeface="+mn-lt"/>
                <a:cs typeface="+mn-lt"/>
              </a:rPr>
              <a:t>When seeing a new operator, compare its precedence with current context</a:t>
            </a:r>
            <a:endParaRPr lang="en-US" dirty="0"/>
          </a:p>
          <a:p>
            <a:pPr>
              <a:buFont typeface="Arial"/>
              <a:buChar char="•"/>
            </a:pPr>
            <a:r>
              <a:rPr lang="en-US" sz="1200" dirty="0">
                <a:ea typeface="+mn-lt"/>
                <a:cs typeface="+mn-lt"/>
              </a:rPr>
              <a:t>If new precedence is higher, create new node above current</a:t>
            </a:r>
            <a:endParaRPr lang="en-US" dirty="0"/>
          </a:p>
          <a:p>
            <a:pPr>
              <a:buFont typeface="Arial"/>
              <a:buChar char="•"/>
            </a:pPr>
            <a:r>
              <a:rPr lang="en-US" sz="1200" dirty="0">
                <a:ea typeface="+mn-lt"/>
                <a:cs typeface="+mn-lt"/>
              </a:rPr>
              <a:t>If new precedence is lower or equal, return current tree and handle in parent</a:t>
            </a:r>
            <a:endParaRPr lang="en-US" dirty="0"/>
          </a:p>
          <a:p>
            <a:pPr indent="0">
              <a:buNone/>
            </a:pPr>
            <a:r>
              <a:rPr lang="en-US" sz="1200" dirty="0">
                <a:ea typeface="+mn-lt"/>
                <a:cs typeface="+mn-lt"/>
              </a:rPr>
              <a:t>Example from our parse:</a:t>
            </a:r>
            <a:endParaRPr lang="en-US" dirty="0">
              <a:ea typeface="+mn-lt"/>
              <a:cs typeface="+mn-lt"/>
            </a:endParaRPr>
          </a:p>
          <a:p>
            <a:pPr>
              <a:buFont typeface="Arial"/>
              <a:buChar char="•"/>
            </a:pPr>
            <a:r>
              <a:rPr lang="en-US" sz="1200" dirty="0">
                <a:ea typeface="+mn-lt"/>
                <a:cs typeface="+mn-lt"/>
              </a:rPr>
              <a:t>When seeing "&gt;&gt;" after pipe, 4 &gt; 3, so create new node</a:t>
            </a:r>
            <a:endParaRPr lang="en-US" dirty="0">
              <a:ea typeface="+mn-lt"/>
              <a:cs typeface="+mn-lt"/>
            </a:endParaRPr>
          </a:p>
          <a:p>
            <a:pPr>
              <a:buFont typeface="Arial"/>
              <a:buChar char="•"/>
            </a:pPr>
            <a:r>
              <a:rPr lang="en-US" sz="1200" dirty="0">
                <a:ea typeface="+mn-lt"/>
                <a:cs typeface="+mn-lt"/>
              </a:rPr>
              <a:t>When seeing "&amp;&amp;" after pipe, 2 &lt; 3, so return to parent context</a:t>
            </a:r>
            <a:endParaRPr lang="en-US" dirty="0"/>
          </a:p>
          <a:p>
            <a:pPr indent="0">
              <a:spcBef>
                <a:spcPts val="0"/>
              </a:spcBef>
              <a:buNone/>
            </a:pPr>
            <a:endParaRPr lang="en-US" sz="1200" dirty="0"/>
          </a:p>
        </p:txBody>
      </p:sp>
      <p:sp>
        <p:nvSpPr>
          <p:cNvPr id="5" name="TextBox 4">
            <a:extLst>
              <a:ext uri="{FF2B5EF4-FFF2-40B4-BE49-F238E27FC236}">
                <a16:creationId xmlns:a16="http://schemas.microsoft.com/office/drawing/2014/main" id="{46A0C035-C5CE-BECA-EA6A-6C03C802392F}"/>
              </a:ext>
            </a:extLst>
          </p:cNvPr>
          <p:cNvSpPr txBox="1"/>
          <p:nvPr/>
        </p:nvSpPr>
        <p:spPr>
          <a:xfrm>
            <a:off x="1405342" y="17492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0000"/>
                </a:solidFill>
              </a:rPr>
              <a:t>PRATT PARSER</a:t>
            </a:r>
            <a:endParaRPr lang="en-US" dirty="0"/>
          </a:p>
        </p:txBody>
      </p:sp>
      <p:sp>
        <p:nvSpPr>
          <p:cNvPr id="2" name="TextBox 1">
            <a:extLst>
              <a:ext uri="{FF2B5EF4-FFF2-40B4-BE49-F238E27FC236}">
                <a16:creationId xmlns:a16="http://schemas.microsoft.com/office/drawing/2014/main" id="{D8AD22A4-9D66-68B2-D9D7-018BDF2F2C33}"/>
              </a:ext>
            </a:extLst>
          </p:cNvPr>
          <p:cNvSpPr txBox="1"/>
          <p:nvPr/>
        </p:nvSpPr>
        <p:spPr>
          <a:xfrm>
            <a:off x="3482235" y="1467633"/>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latin typeface="Consolas"/>
              </a:rPr>
              <a:t>Precedence  Operator</a:t>
            </a:r>
            <a:br>
              <a:rPr lang="en-US" sz="1200" b="1" dirty="0">
                <a:latin typeface="Consolas"/>
              </a:rPr>
            </a:br>
            <a:r>
              <a:rPr lang="en-US" sz="1200" b="1" dirty="0">
                <a:latin typeface="Consolas"/>
              </a:rPr>
              <a:t>    4       &lt; &gt; &lt;&lt; &gt;&gt;</a:t>
            </a:r>
            <a:br>
              <a:rPr lang="en-US" sz="1200" b="1" dirty="0">
                <a:latin typeface="Consolas"/>
              </a:rPr>
            </a:br>
            <a:r>
              <a:rPr lang="en-US" sz="1200" b="1" dirty="0">
                <a:latin typeface="Consolas"/>
              </a:rPr>
              <a:t>    3       |</a:t>
            </a:r>
            <a:br>
              <a:rPr lang="en-US" sz="1200" b="1" dirty="0">
                <a:latin typeface="Consolas"/>
              </a:rPr>
            </a:br>
            <a:r>
              <a:rPr lang="en-US" sz="1200" b="1" dirty="0">
                <a:latin typeface="Consolas"/>
              </a:rPr>
              <a:t>    2       &amp;&amp;</a:t>
            </a:r>
            <a:br>
              <a:rPr lang="en-US" sz="1200" b="1" dirty="0">
                <a:latin typeface="Consolas"/>
              </a:rPr>
            </a:br>
            <a:r>
              <a:rPr lang="en-US" sz="1200" b="1" dirty="0">
                <a:latin typeface="Consolas"/>
              </a:rPr>
              <a:t>    1       ||</a:t>
            </a:r>
            <a:br>
              <a:rPr lang="en-US" sz="1200" b="1" dirty="0">
                <a:latin typeface="Consolas"/>
              </a:rPr>
            </a:br>
            <a:r>
              <a:rPr lang="en-US" sz="1200" b="1" dirty="0">
                <a:latin typeface="Consolas"/>
              </a:rPr>
              <a:t>    0       Words, ( )</a:t>
            </a:r>
          </a:p>
        </p:txBody>
      </p:sp>
    </p:spTree>
    <p:extLst>
      <p:ext uri="{BB962C8B-B14F-4D97-AF65-F5344CB8AC3E}">
        <p14:creationId xmlns:p14="http://schemas.microsoft.com/office/powerpoint/2010/main" val="1762345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0730-631B-F2B7-C6F4-2B14110A9844}"/>
              </a:ext>
            </a:extLst>
          </p:cNvPr>
          <p:cNvSpPr>
            <a:spLocks noGrp="1"/>
          </p:cNvSpPr>
          <p:nvPr>
            <p:ph type="title"/>
          </p:nvPr>
        </p:nvSpPr>
        <p:spPr/>
        <p:txBody>
          <a:bodyPr>
            <a:normAutofit/>
          </a:bodyPr>
          <a:lstStyle/>
          <a:p>
            <a:r>
              <a:rPr lang="en-US" dirty="0"/>
              <a:t>PROBLEM</a:t>
            </a:r>
            <a:br>
              <a:rPr lang="en-US" dirty="0"/>
            </a:br>
            <a:r>
              <a:rPr lang="en-US" sz="1800" dirty="0">
                <a:ea typeface="+mj-lt"/>
                <a:cs typeface="+mj-lt"/>
              </a:rPr>
              <a:t>((</a:t>
            </a:r>
            <a:r>
              <a:rPr lang="en-US" sz="1800" err="1">
                <a:ea typeface="+mj-lt"/>
                <a:cs typeface="+mj-lt"/>
              </a:rPr>
              <a:t>abc</a:t>
            </a:r>
            <a:r>
              <a:rPr lang="en-US" sz="1800" dirty="0">
                <a:ea typeface="+mj-lt"/>
                <a:cs typeface="+mj-lt"/>
              </a:rPr>
              <a:t> | def) || (</a:t>
            </a:r>
            <a:r>
              <a:rPr lang="en-US" sz="1800" err="1">
                <a:ea typeface="+mj-lt"/>
                <a:cs typeface="+mj-lt"/>
              </a:rPr>
              <a:t>xyz</a:t>
            </a:r>
            <a:r>
              <a:rPr lang="en-US" sz="1800" dirty="0">
                <a:ea typeface="+mj-lt"/>
                <a:cs typeface="+mj-lt"/>
              </a:rPr>
              <a:t> &amp;&amp; </a:t>
            </a:r>
            <a:r>
              <a:rPr lang="en-US" sz="1800" err="1">
                <a:ea typeface="+mj-lt"/>
                <a:cs typeface="+mj-lt"/>
              </a:rPr>
              <a:t>uvw</a:t>
            </a:r>
            <a:r>
              <a:rPr lang="en-US" sz="1800" dirty="0">
                <a:ea typeface="+mj-lt"/>
                <a:cs typeface="+mj-lt"/>
              </a:rPr>
              <a:t>)) &amp;&amp; (</a:t>
            </a:r>
            <a:r>
              <a:rPr lang="en-US" sz="1800" err="1">
                <a:ea typeface="+mj-lt"/>
                <a:cs typeface="+mj-lt"/>
              </a:rPr>
              <a:t>bcd</a:t>
            </a:r>
            <a:r>
              <a:rPr lang="en-US" sz="1800" dirty="0">
                <a:ea typeface="+mj-lt"/>
                <a:cs typeface="+mj-lt"/>
              </a:rPr>
              <a:t> || </a:t>
            </a:r>
            <a:r>
              <a:rPr lang="en-US" sz="1800" err="1">
                <a:ea typeface="+mj-lt"/>
                <a:cs typeface="+mj-lt"/>
              </a:rPr>
              <a:t>cdd</a:t>
            </a:r>
            <a:r>
              <a:rPr lang="en-US" sz="1800" dirty="0">
                <a:ea typeface="+mj-lt"/>
                <a:cs typeface="+mj-lt"/>
              </a:rPr>
              <a:t>) &gt;&gt; a</a:t>
            </a:r>
            <a:endParaRPr lang="en-US" sz="1800" dirty="0"/>
          </a:p>
        </p:txBody>
      </p:sp>
      <p:sp>
        <p:nvSpPr>
          <p:cNvPr id="3" name="Content Placeholder 2">
            <a:extLst>
              <a:ext uri="{FF2B5EF4-FFF2-40B4-BE49-F238E27FC236}">
                <a16:creationId xmlns:a16="http://schemas.microsoft.com/office/drawing/2014/main" id="{CD0DD6C7-7C83-F388-C4BF-F522947986DB}"/>
              </a:ext>
            </a:extLst>
          </p:cNvPr>
          <p:cNvSpPr>
            <a:spLocks noGrp="1"/>
          </p:cNvSpPr>
          <p:nvPr>
            <p:ph idx="1"/>
          </p:nvPr>
        </p:nvSpPr>
        <p:spPr>
          <a:xfrm>
            <a:off x="1295400" y="2262188"/>
            <a:ext cx="4087284" cy="3643312"/>
          </a:xfrm>
        </p:spPr>
        <p:txBody>
          <a:bodyPr vert="horz" lIns="91440" tIns="45720" rIns="91440" bIns="45720" rtlCol="0" anchor="t">
            <a:normAutofit/>
          </a:bodyPr>
          <a:lstStyle/>
          <a:p>
            <a:r>
              <a:rPr lang="en-US" dirty="0">
                <a:ea typeface="+mn-lt"/>
                <a:cs typeface="+mn-lt"/>
              </a:rPr>
              <a:t>redirect after a bracket – attach to what? </a:t>
            </a:r>
          </a:p>
          <a:p>
            <a:r>
              <a:rPr lang="en-US" dirty="0">
                <a:ea typeface="+mn-lt"/>
                <a:cs typeface="+mn-lt"/>
              </a:rPr>
              <a:t>Must handle? Should handle? Leave alone?</a:t>
            </a:r>
          </a:p>
          <a:p>
            <a:pPr marL="474980" lvl="1">
              <a:buFont typeface="Courier New" panose="020B0604020202020204" pitchFamily="34" charset="0"/>
              <a:buChar char="o"/>
            </a:pPr>
            <a:r>
              <a:rPr lang="en-US" dirty="0">
                <a:ea typeface="+mn-lt"/>
                <a:cs typeface="+mn-lt"/>
              </a:rPr>
              <a:t>Solution 1 (current try) attach to group, but how will execution handle this?</a:t>
            </a:r>
          </a:p>
          <a:p>
            <a:pPr marL="474980" lvl="1">
              <a:buFont typeface="Courier New" panose="020B0604020202020204" pitchFamily="34" charset="0"/>
              <a:buChar char="o"/>
            </a:pPr>
            <a:r>
              <a:rPr lang="en-US" dirty="0">
                <a:ea typeface="+mn-lt"/>
                <a:cs typeface="+mn-lt"/>
              </a:rPr>
              <a:t>Solution 2 attach to &amp;&amp; or || or |? Will that redirect correctly? </a:t>
            </a:r>
          </a:p>
        </p:txBody>
      </p:sp>
      <p:sp>
        <p:nvSpPr>
          <p:cNvPr id="5" name="Content Placeholder 2">
            <a:extLst>
              <a:ext uri="{FF2B5EF4-FFF2-40B4-BE49-F238E27FC236}">
                <a16:creationId xmlns:a16="http://schemas.microsoft.com/office/drawing/2014/main" id="{38640977-CC9A-3176-BA9F-490E3550ED30}"/>
              </a:ext>
            </a:extLst>
          </p:cNvPr>
          <p:cNvSpPr txBox="1">
            <a:spLocks/>
          </p:cNvSpPr>
          <p:nvPr/>
        </p:nvSpPr>
        <p:spPr>
          <a:xfrm>
            <a:off x="6104467" y="2266421"/>
            <a:ext cx="4087284" cy="364331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mn-lt"/>
                <a:cs typeface="+mn-lt"/>
              </a:rPr>
              <a:t>Full investigation - See next page</a:t>
            </a:r>
            <a:endParaRPr lang="en-US" dirty="0"/>
          </a:p>
        </p:txBody>
      </p:sp>
      <p:sp>
        <p:nvSpPr>
          <p:cNvPr id="6" name="TextBox 1">
            <a:extLst>
              <a:ext uri="{FF2B5EF4-FFF2-40B4-BE49-F238E27FC236}">
                <a16:creationId xmlns:a16="http://schemas.microsoft.com/office/drawing/2014/main" id="{E5F3C93A-7B2E-D88A-223F-5BA78A65E587}"/>
              </a:ext>
            </a:extLst>
          </p:cNvPr>
          <p:cNvSpPr txBox="1"/>
          <p:nvPr/>
        </p:nvSpPr>
        <p:spPr>
          <a:xfrm>
            <a:off x="7994650" y="755650"/>
            <a:ext cx="2743200"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rgbClr val="FF0000"/>
                </a:solidFill>
              </a:rPr>
              <a:t>Resolved: </a:t>
            </a:r>
          </a:p>
          <a:p>
            <a:r>
              <a:rPr lang="en-US" sz="1400" dirty="0">
                <a:solidFill>
                  <a:srgbClr val="FF0000"/>
                </a:solidFill>
              </a:rPr>
              <a:t>Avoid pipes and redirects after brackets</a:t>
            </a:r>
          </a:p>
        </p:txBody>
      </p:sp>
    </p:spTree>
    <p:extLst>
      <p:ext uri="{BB962C8B-B14F-4D97-AF65-F5344CB8AC3E}">
        <p14:creationId xmlns:p14="http://schemas.microsoft.com/office/powerpoint/2010/main" val="728878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AAA0-8576-4EC1-C32F-F797A0DBB2CD}"/>
              </a:ext>
            </a:extLst>
          </p:cNvPr>
          <p:cNvSpPr>
            <a:spLocks noGrp="1"/>
          </p:cNvSpPr>
          <p:nvPr>
            <p:ph type="title"/>
          </p:nvPr>
        </p:nvSpPr>
        <p:spPr/>
        <p:txBody>
          <a:bodyPr/>
          <a:lstStyle/>
          <a:p>
            <a:r>
              <a:rPr lang="en-US" dirty="0"/>
              <a:t>( ) - Priority vs Grouping</a:t>
            </a:r>
          </a:p>
        </p:txBody>
      </p:sp>
      <p:sp>
        <p:nvSpPr>
          <p:cNvPr id="3" name="Content Placeholder 2">
            <a:extLst>
              <a:ext uri="{FF2B5EF4-FFF2-40B4-BE49-F238E27FC236}">
                <a16:creationId xmlns:a16="http://schemas.microsoft.com/office/drawing/2014/main" id="{9D48070D-E369-9D61-6EFA-4456421291F8}"/>
              </a:ext>
            </a:extLst>
          </p:cNvPr>
          <p:cNvSpPr>
            <a:spLocks noGrp="1"/>
          </p:cNvSpPr>
          <p:nvPr>
            <p:ph idx="1"/>
          </p:nvPr>
        </p:nvSpPr>
        <p:spPr>
          <a:xfrm>
            <a:off x="1295400" y="2262188"/>
            <a:ext cx="9601200" cy="3643312"/>
          </a:xfrm>
        </p:spPr>
        <p:txBody>
          <a:bodyPr vert="horz" lIns="91440" tIns="45720" rIns="91440" bIns="45720" rtlCol="0" anchor="t">
            <a:normAutofit fontScale="92500" lnSpcReduction="20000"/>
          </a:bodyPr>
          <a:lstStyle/>
          <a:p>
            <a:pPr marL="342900" indent="-342900">
              <a:buAutoNum type="arabicPeriod"/>
            </a:pPr>
            <a:r>
              <a:rPr lang="en-US" dirty="0">
                <a:ea typeface="+mn-lt"/>
                <a:cs typeface="+mn-lt"/>
              </a:rPr>
              <a:t>Priority vs. Grouping: </a:t>
            </a:r>
            <a:endParaRPr lang="en-US" dirty="0"/>
          </a:p>
          <a:p>
            <a:pPr marL="474980" lvl="1">
              <a:buFont typeface="Courier New" panose="020B0604020202020204" pitchFamily="34" charset="0"/>
              <a:buChar char="o"/>
            </a:pPr>
            <a:r>
              <a:rPr lang="en-US" dirty="0">
                <a:ea typeface="+mn-lt"/>
                <a:cs typeface="+mn-lt"/>
              </a:rPr>
              <a:t>Pure priority would only affect the order of operations.</a:t>
            </a:r>
            <a:endParaRPr lang="en-US" dirty="0"/>
          </a:p>
          <a:p>
            <a:pPr marL="474980" lvl="1">
              <a:buFont typeface="Courier New" panose="020B0604020202020204" pitchFamily="34" charset="0"/>
              <a:buChar char="o"/>
            </a:pPr>
            <a:r>
              <a:rPr lang="en-US" dirty="0">
                <a:ea typeface="+mn-lt"/>
                <a:cs typeface="+mn-lt"/>
              </a:rPr>
              <a:t>Parentheses in shells introduce grouping, which is a more powerful concept.</a:t>
            </a:r>
            <a:endParaRPr lang="en-US" dirty="0"/>
          </a:p>
          <a:p>
            <a:pPr>
              <a:buAutoNum type="arabicPeriod"/>
            </a:pPr>
            <a:r>
              <a:rPr lang="en-US" dirty="0">
                <a:ea typeface="+mn-lt"/>
                <a:cs typeface="+mn-lt"/>
              </a:rPr>
              <a:t>Grouping effects: </a:t>
            </a:r>
            <a:endParaRPr lang="en-US" dirty="0"/>
          </a:p>
          <a:p>
            <a:pPr marL="474980" lvl="1">
              <a:buFont typeface="Courier New" panose="020B0604020202020204" pitchFamily="34" charset="0"/>
              <a:buChar char="o"/>
            </a:pPr>
            <a:r>
              <a:rPr lang="en-US" dirty="0">
                <a:ea typeface="+mn-lt"/>
                <a:cs typeface="+mn-lt"/>
              </a:rPr>
              <a:t>Allows treating multiple commands as a single unit.</a:t>
            </a:r>
            <a:endParaRPr lang="en-US" dirty="0"/>
          </a:p>
          <a:p>
            <a:pPr marL="474980" lvl="1">
              <a:buFont typeface="Courier New" panose="020B0604020202020204" pitchFamily="34" charset="0"/>
              <a:buChar char="o"/>
            </a:pPr>
            <a:r>
              <a:rPr lang="en-US" dirty="0">
                <a:ea typeface="+mn-lt"/>
                <a:cs typeface="+mn-lt"/>
              </a:rPr>
              <a:t>Enables applying redirections or pipes to the entire group.</a:t>
            </a:r>
            <a:endParaRPr lang="en-US" dirty="0"/>
          </a:p>
          <a:p>
            <a:pPr>
              <a:buAutoNum type="arabicPeriod"/>
            </a:pPr>
            <a:r>
              <a:rPr lang="en-US" dirty="0">
                <a:ea typeface="+mn-lt"/>
                <a:cs typeface="+mn-lt"/>
              </a:rPr>
              <a:t>Scope implications: </a:t>
            </a:r>
            <a:endParaRPr lang="en-US" dirty="0"/>
          </a:p>
          <a:p>
            <a:pPr marL="474980" lvl="1">
              <a:buFont typeface="Courier New" panose="020B0604020202020204" pitchFamily="34" charset="0"/>
              <a:buChar char="o"/>
            </a:pPr>
            <a:r>
              <a:rPr lang="en-US" dirty="0">
                <a:ea typeface="+mn-lt"/>
                <a:cs typeface="+mn-lt"/>
              </a:rPr>
              <a:t>Parentheses that enable grouping and capturing for redirection go beyond simple priority.</a:t>
            </a:r>
            <a:endParaRPr lang="en-US" dirty="0"/>
          </a:p>
          <a:p>
            <a:pPr marL="474980" lvl="1">
              <a:buFont typeface="Courier New" panose="020B0604020202020204" pitchFamily="34" charset="0"/>
              <a:buChar char="o"/>
            </a:pPr>
            <a:r>
              <a:rPr lang="en-US" dirty="0">
                <a:ea typeface="+mn-lt"/>
                <a:cs typeface="+mn-lt"/>
              </a:rPr>
              <a:t>Grouping is more complex than just changing the order of operations.</a:t>
            </a:r>
            <a:endParaRPr lang="en-US" dirty="0"/>
          </a:p>
          <a:p>
            <a:pPr>
              <a:buAutoNum type="arabicPeriod"/>
            </a:pPr>
            <a:r>
              <a:rPr lang="en-US" dirty="0">
                <a:ea typeface="+mn-lt"/>
                <a:cs typeface="+mn-lt"/>
              </a:rPr>
              <a:t>For a priority-only implementation: </a:t>
            </a:r>
            <a:endParaRPr lang="en-US" dirty="0"/>
          </a:p>
          <a:p>
            <a:pPr marL="474980" lvl="1">
              <a:buFont typeface="Courier New" panose="020B0604020202020204" pitchFamily="34" charset="0"/>
              <a:buChar char="o"/>
            </a:pPr>
            <a:r>
              <a:rPr lang="en-US" dirty="0">
                <a:ea typeface="+mn-lt"/>
                <a:cs typeface="+mn-lt"/>
              </a:rPr>
              <a:t>Parsing parentheses only to determine execution order, without implementing full grouping behavior.</a:t>
            </a:r>
            <a:endParaRPr lang="en-US" dirty="0"/>
          </a:p>
          <a:p>
            <a:pPr>
              <a:buAutoNum type="arabicPeriod"/>
            </a:pPr>
            <a:endParaRPr lang="en-US" dirty="0"/>
          </a:p>
        </p:txBody>
      </p:sp>
      <p:sp>
        <p:nvSpPr>
          <p:cNvPr id="6" name="TextBox 1">
            <a:extLst>
              <a:ext uri="{FF2B5EF4-FFF2-40B4-BE49-F238E27FC236}">
                <a16:creationId xmlns:a16="http://schemas.microsoft.com/office/drawing/2014/main" id="{49E96D4E-30C0-9036-4870-3E3D4CF9A2DF}"/>
              </a:ext>
            </a:extLst>
          </p:cNvPr>
          <p:cNvSpPr txBox="1"/>
          <p:nvPr/>
        </p:nvSpPr>
        <p:spPr>
          <a:xfrm>
            <a:off x="7994650" y="755650"/>
            <a:ext cx="2743200"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rgbClr val="FF0000"/>
                </a:solidFill>
              </a:rPr>
              <a:t>Resolved: </a:t>
            </a:r>
          </a:p>
          <a:p>
            <a:r>
              <a:rPr lang="en-US" sz="1400" dirty="0">
                <a:solidFill>
                  <a:srgbClr val="FF0000"/>
                </a:solidFill>
              </a:rPr>
              <a:t>Avoid pipes and redirects after brackets</a:t>
            </a:r>
          </a:p>
        </p:txBody>
      </p:sp>
    </p:spTree>
    <p:extLst>
      <p:ext uri="{BB962C8B-B14F-4D97-AF65-F5344CB8AC3E}">
        <p14:creationId xmlns:p14="http://schemas.microsoft.com/office/powerpoint/2010/main" val="2867355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AAA0-8576-4EC1-C32F-F797A0DBB2CD}"/>
              </a:ext>
            </a:extLst>
          </p:cNvPr>
          <p:cNvSpPr>
            <a:spLocks noGrp="1"/>
          </p:cNvSpPr>
          <p:nvPr>
            <p:ph type="title"/>
          </p:nvPr>
        </p:nvSpPr>
        <p:spPr/>
        <p:txBody>
          <a:bodyPr/>
          <a:lstStyle/>
          <a:p>
            <a:r>
              <a:rPr lang="en-US" dirty="0"/>
              <a:t>( ) - Priority vs Grouping</a:t>
            </a:r>
          </a:p>
        </p:txBody>
      </p:sp>
      <p:sp>
        <p:nvSpPr>
          <p:cNvPr id="3" name="Content Placeholder 2">
            <a:extLst>
              <a:ext uri="{FF2B5EF4-FFF2-40B4-BE49-F238E27FC236}">
                <a16:creationId xmlns:a16="http://schemas.microsoft.com/office/drawing/2014/main" id="{9D48070D-E369-9D61-6EFA-4456421291F8}"/>
              </a:ext>
            </a:extLst>
          </p:cNvPr>
          <p:cNvSpPr>
            <a:spLocks noGrp="1"/>
          </p:cNvSpPr>
          <p:nvPr>
            <p:ph idx="1"/>
          </p:nvPr>
        </p:nvSpPr>
        <p:spPr>
          <a:xfrm>
            <a:off x="1295400" y="2262188"/>
            <a:ext cx="9601200" cy="3643312"/>
          </a:xfrm>
        </p:spPr>
        <p:txBody>
          <a:bodyPr vert="horz" lIns="91440" tIns="45720" rIns="91440" bIns="45720" rtlCol="0" anchor="t">
            <a:normAutofit/>
          </a:bodyPr>
          <a:lstStyle/>
          <a:p>
            <a:pPr>
              <a:buFont typeface="Arial"/>
            </a:pPr>
            <a:r>
              <a:rPr lang="en-US" sz="2000" b="1" dirty="0">
                <a:ea typeface="+mn-lt"/>
                <a:cs typeface="+mn-lt"/>
              </a:rPr>
              <a:t>(a || b) &amp;&amp; c</a:t>
            </a:r>
            <a:endParaRPr lang="en-US" sz="2000" b="1" dirty="0"/>
          </a:p>
          <a:p>
            <a:pPr marL="474980" lvl="1">
              <a:buFont typeface="Arial"/>
            </a:pPr>
            <a:r>
              <a:rPr lang="en-US" sz="1800" dirty="0">
                <a:ea typeface="+mn-lt"/>
                <a:cs typeface="+mn-lt"/>
              </a:rPr>
              <a:t>This would only ensure that </a:t>
            </a:r>
            <a:r>
              <a:rPr lang="en-US" sz="1800" dirty="0">
                <a:latin typeface="Consolas"/>
                <a:ea typeface="+mn-lt"/>
                <a:cs typeface="+mn-lt"/>
              </a:rPr>
              <a:t>(a || b)</a:t>
            </a:r>
            <a:r>
              <a:rPr lang="en-US" sz="1800" dirty="0">
                <a:ea typeface="+mn-lt"/>
                <a:cs typeface="+mn-lt"/>
              </a:rPr>
              <a:t> is evaluated before </a:t>
            </a:r>
            <a:r>
              <a:rPr lang="en-US" sz="1800" dirty="0">
                <a:latin typeface="Consolas"/>
                <a:ea typeface="+mn-lt"/>
                <a:cs typeface="+mn-lt"/>
              </a:rPr>
              <a:t>&amp;&amp; c</a:t>
            </a:r>
            <a:r>
              <a:rPr lang="en-US" sz="1800" dirty="0">
                <a:ea typeface="+mn-lt"/>
                <a:cs typeface="+mn-lt"/>
              </a:rPr>
              <a:t>, without any grouping effects.</a:t>
            </a:r>
          </a:p>
          <a:p>
            <a:pPr>
              <a:buFont typeface="Arial"/>
            </a:pPr>
            <a:r>
              <a:rPr lang="en-US" sz="2000" b="1" dirty="0">
                <a:ea typeface="+mn-lt"/>
                <a:cs typeface="+mn-lt"/>
              </a:rPr>
              <a:t>(a || b) &gt; output.txt &amp;&amp; c</a:t>
            </a:r>
            <a:endParaRPr lang="en-US" sz="2000" b="1" dirty="0"/>
          </a:p>
          <a:p>
            <a:pPr marL="474980" lvl="1">
              <a:buFont typeface="Arial"/>
            </a:pPr>
            <a:r>
              <a:rPr lang="en-US" sz="1800" dirty="0">
                <a:ea typeface="+mn-lt"/>
                <a:cs typeface="+mn-lt"/>
              </a:rPr>
              <a:t>This captures the output of both </a:t>
            </a:r>
            <a:r>
              <a:rPr lang="en-US" sz="1800" dirty="0">
                <a:latin typeface="Consolas"/>
                <a:ea typeface="+mn-lt"/>
                <a:cs typeface="+mn-lt"/>
              </a:rPr>
              <a:t>a</a:t>
            </a:r>
            <a:r>
              <a:rPr lang="en-US" sz="1800" dirty="0">
                <a:ea typeface="+mn-lt"/>
                <a:cs typeface="+mn-lt"/>
              </a:rPr>
              <a:t> and </a:t>
            </a:r>
            <a:r>
              <a:rPr lang="en-US" sz="1800" dirty="0">
                <a:latin typeface="Consolas"/>
                <a:ea typeface="+mn-lt"/>
                <a:cs typeface="+mn-lt"/>
              </a:rPr>
              <a:t>b</a:t>
            </a:r>
            <a:r>
              <a:rPr lang="en-US" sz="1800" dirty="0">
                <a:ea typeface="+mn-lt"/>
                <a:cs typeface="+mn-lt"/>
              </a:rPr>
              <a:t> (whichever runs) into </a:t>
            </a:r>
            <a:r>
              <a:rPr lang="en-US" sz="1800" dirty="0">
                <a:latin typeface="Consolas"/>
                <a:ea typeface="+mn-lt"/>
                <a:cs typeface="+mn-lt"/>
              </a:rPr>
              <a:t>output.txt</a:t>
            </a:r>
            <a:r>
              <a:rPr lang="en-US" sz="1800" dirty="0">
                <a:ea typeface="+mn-lt"/>
                <a:cs typeface="+mn-lt"/>
              </a:rPr>
              <a:t>, then runs </a:t>
            </a:r>
            <a:r>
              <a:rPr lang="en-US" sz="1800" dirty="0">
                <a:latin typeface="Consolas"/>
                <a:ea typeface="+mn-lt"/>
                <a:cs typeface="+mn-lt"/>
              </a:rPr>
              <a:t>c</a:t>
            </a:r>
            <a:r>
              <a:rPr lang="en-US" sz="1800" dirty="0">
                <a:ea typeface="+mn-lt"/>
                <a:cs typeface="+mn-lt"/>
              </a:rPr>
              <a:t>.</a:t>
            </a:r>
          </a:p>
          <a:p>
            <a:pPr>
              <a:buFont typeface="Arial"/>
            </a:pPr>
            <a:r>
              <a:rPr lang="en-US" sz="2000" b="1" dirty="0">
                <a:ea typeface="+mn-lt"/>
                <a:cs typeface="+mn-lt"/>
              </a:rPr>
              <a:t>(command1 || command2) | command3</a:t>
            </a:r>
          </a:p>
          <a:p>
            <a:pPr marL="474980" lvl="1">
              <a:buFont typeface="Arial"/>
            </a:pPr>
            <a:r>
              <a:rPr lang="en-US" sz="1800">
                <a:ea typeface="+mn-lt"/>
                <a:cs typeface="+mn-lt"/>
              </a:rPr>
              <a:t>This would pipe the output of the entire parenthesized group to </a:t>
            </a:r>
            <a:r>
              <a:rPr lang="en-US" sz="1800">
                <a:latin typeface="Consolas"/>
                <a:ea typeface="+mn-lt"/>
                <a:cs typeface="+mn-lt"/>
              </a:rPr>
              <a:t>command3</a:t>
            </a:r>
            <a:r>
              <a:rPr lang="en-US" sz="1800">
                <a:ea typeface="+mn-lt"/>
                <a:cs typeface="+mn-lt"/>
              </a:rPr>
              <a:t>.</a:t>
            </a:r>
            <a:endParaRPr lang="en-US" sz="1800" dirty="0">
              <a:ea typeface="+mn-lt"/>
              <a:cs typeface="+mn-lt"/>
            </a:endParaRPr>
          </a:p>
        </p:txBody>
      </p:sp>
      <p:sp>
        <p:nvSpPr>
          <p:cNvPr id="4" name="TextBox 1">
            <a:extLst>
              <a:ext uri="{FF2B5EF4-FFF2-40B4-BE49-F238E27FC236}">
                <a16:creationId xmlns:a16="http://schemas.microsoft.com/office/drawing/2014/main" id="{9E8EB119-99BA-51B8-E819-CFB9BAFD31C4}"/>
              </a:ext>
            </a:extLst>
          </p:cNvPr>
          <p:cNvSpPr txBox="1"/>
          <p:nvPr/>
        </p:nvSpPr>
        <p:spPr>
          <a:xfrm>
            <a:off x="7994650" y="755650"/>
            <a:ext cx="2743200"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rgbClr val="FF0000"/>
                </a:solidFill>
              </a:rPr>
              <a:t>Resolved: </a:t>
            </a:r>
          </a:p>
          <a:p>
            <a:r>
              <a:rPr lang="en-US" sz="1400" dirty="0">
                <a:solidFill>
                  <a:srgbClr val="FF0000"/>
                </a:solidFill>
              </a:rPr>
              <a:t>Avoid pipes and redirects after brackets</a:t>
            </a:r>
          </a:p>
        </p:txBody>
      </p:sp>
    </p:spTree>
    <p:extLst>
      <p:ext uri="{BB962C8B-B14F-4D97-AF65-F5344CB8AC3E}">
        <p14:creationId xmlns:p14="http://schemas.microsoft.com/office/powerpoint/2010/main" val="992450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6CA1-2FBD-DFCB-B492-84609B33B6DF}"/>
              </a:ext>
            </a:extLst>
          </p:cNvPr>
          <p:cNvSpPr>
            <a:spLocks noGrp="1"/>
          </p:cNvSpPr>
          <p:nvPr>
            <p:ph type="title"/>
          </p:nvPr>
        </p:nvSpPr>
        <p:spPr/>
        <p:txBody>
          <a:bodyPr/>
          <a:lstStyle/>
          <a:p>
            <a:r>
              <a:rPr lang="en-US" dirty="0"/>
              <a:t>Expansion problem</a:t>
            </a:r>
          </a:p>
        </p:txBody>
      </p:sp>
      <p:sp>
        <p:nvSpPr>
          <p:cNvPr id="3" name="Content Placeholder 2">
            <a:extLst>
              <a:ext uri="{FF2B5EF4-FFF2-40B4-BE49-F238E27FC236}">
                <a16:creationId xmlns:a16="http://schemas.microsoft.com/office/drawing/2014/main" id="{D4076C97-BBEE-0EEA-CECA-628498FB9CD1}"/>
              </a:ext>
            </a:extLst>
          </p:cNvPr>
          <p:cNvSpPr>
            <a:spLocks noGrp="1"/>
          </p:cNvSpPr>
          <p:nvPr>
            <p:ph idx="1"/>
          </p:nvPr>
        </p:nvSpPr>
        <p:spPr/>
        <p:txBody>
          <a:bodyPr vert="horz" lIns="91440" tIns="45720" rIns="91440" bIns="45720" rtlCol="0" anchor="t">
            <a:normAutofit/>
          </a:bodyPr>
          <a:lstStyle/>
          <a:p>
            <a:r>
              <a:rPr lang="en-US" dirty="0"/>
              <a:t>"$</a:t>
            </a:r>
            <a:r>
              <a:rPr lang="en-US" dirty="0" err="1"/>
              <a:t>a$b$c</a:t>
            </a:r>
            <a:r>
              <a:rPr lang="en-US" dirty="0"/>
              <a:t>" did not expand properly when using my built in export. </a:t>
            </a:r>
          </a:p>
          <a:p>
            <a:pPr marL="474980" lvl="1">
              <a:buFont typeface="Courier New" panose="020B0604020202020204" pitchFamily="34" charset="0"/>
              <a:buChar char="o"/>
            </a:pPr>
            <a:r>
              <a:rPr lang="en-US" dirty="0"/>
              <a:t>Actually </a:t>
            </a:r>
            <a:r>
              <a:rPr lang="en-US"/>
              <a:t>works fine. Problem is </a:t>
            </a:r>
            <a:r>
              <a:rPr lang="en-US" dirty="0"/>
              <a:t>with my export.</a:t>
            </a:r>
          </a:p>
          <a:p>
            <a:pPr marL="474980" lvl="1">
              <a:buFont typeface="Courier New" panose="020B0604020202020204" pitchFamily="34" charset="0"/>
              <a:buChar char="o"/>
            </a:pPr>
            <a:r>
              <a:rPr lang="en-US"/>
              <a:t>Export b="-ho -" stores "-ho -" instead of just -ho </a:t>
            </a:r>
            <a:r>
              <a:rPr lang="en-US" dirty="0"/>
              <a:t>-</a:t>
            </a:r>
          </a:p>
          <a:p>
            <a:pPr marL="474980" lvl="1">
              <a:buFont typeface="Courier New" panose="020B0604020202020204" pitchFamily="34" charset="0"/>
              <a:buChar char="o"/>
            </a:pPr>
            <a:r>
              <a:rPr lang="en-US" dirty="0"/>
              <a:t>"$</a:t>
            </a:r>
            <a:r>
              <a:rPr lang="en-US" dirty="0" err="1"/>
              <a:t>a$b$c</a:t>
            </a:r>
            <a:r>
              <a:rPr lang="en-US" dirty="0"/>
              <a:t>" expands to </a:t>
            </a:r>
            <a:r>
              <a:rPr lang="en-US" dirty="0" err="1"/>
              <a:t>ec"ho</a:t>
            </a:r>
            <a:r>
              <a:rPr lang="en-US" dirty="0"/>
              <a:t> "" hello". Causes problem due to unexpected quotes. </a:t>
            </a:r>
          </a:p>
          <a:p>
            <a:pPr marL="474980" lvl="1">
              <a:buFont typeface="Courier New" panose="020B0604020202020204" pitchFamily="34" charset="0"/>
              <a:buChar char="o"/>
            </a:pPr>
            <a:r>
              <a:rPr lang="en-US" dirty="0"/>
              <a:t>=&gt; </a:t>
            </a:r>
            <a:r>
              <a:rPr lang="en-US"/>
              <a:t>to redo export function</a:t>
            </a:r>
            <a:endParaRPr lang="en-US" dirty="0"/>
          </a:p>
          <a:p>
            <a:pPr marL="474980" lvl="1">
              <a:buFont typeface="Courier New" panose="020B0604020202020204" pitchFamily="34" charset="0"/>
              <a:buChar char="o"/>
            </a:pPr>
            <a:endParaRPr lang="en-US" dirty="0"/>
          </a:p>
        </p:txBody>
      </p:sp>
      <p:sp>
        <p:nvSpPr>
          <p:cNvPr id="4" name="Rectangle 3">
            <a:extLst>
              <a:ext uri="{FF2B5EF4-FFF2-40B4-BE49-F238E27FC236}">
                <a16:creationId xmlns:a16="http://schemas.microsoft.com/office/drawing/2014/main" id="{0D58935F-7EFA-3B66-1862-35EF7507C6B5}"/>
              </a:ext>
            </a:extLst>
          </p:cNvPr>
          <p:cNvSpPr/>
          <p:nvPr/>
        </p:nvSpPr>
        <p:spPr>
          <a:xfrm>
            <a:off x="5999787" y="3934114"/>
            <a:ext cx="4445000" cy="19742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Redo Export function</a:t>
            </a:r>
          </a:p>
          <a:p>
            <a:pPr marL="285750" indent="-285750" algn="ctr">
              <a:buFont typeface="Calibri"/>
              <a:buChar char="-"/>
            </a:pPr>
            <a:r>
              <a:rPr lang="en-US" dirty="0"/>
              <a:t>Remove quotes</a:t>
            </a:r>
          </a:p>
          <a:p>
            <a:pPr marL="285750" indent="-285750" algn="ctr">
              <a:buFont typeface="Calibri"/>
              <a:buChar char="-"/>
            </a:pPr>
            <a:r>
              <a:rPr lang="en-US" dirty="0"/>
              <a:t>Check expansion</a:t>
            </a:r>
          </a:p>
        </p:txBody>
      </p:sp>
    </p:spTree>
    <p:extLst>
      <p:ext uri="{BB962C8B-B14F-4D97-AF65-F5344CB8AC3E}">
        <p14:creationId xmlns:p14="http://schemas.microsoft.com/office/powerpoint/2010/main" val="4011115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344C-DC13-3E3F-27E4-BC0841184828}"/>
              </a:ext>
            </a:extLst>
          </p:cNvPr>
          <p:cNvSpPr>
            <a:spLocks noGrp="1"/>
          </p:cNvSpPr>
          <p:nvPr>
            <p:ph type="title"/>
          </p:nvPr>
        </p:nvSpPr>
        <p:spPr/>
        <p:txBody>
          <a:bodyPr/>
          <a:lstStyle/>
          <a:p>
            <a:r>
              <a:rPr lang="en-US" dirty="0"/>
              <a:t>Problem: heredoc with $sign</a:t>
            </a:r>
          </a:p>
        </p:txBody>
      </p:sp>
      <p:sp>
        <p:nvSpPr>
          <p:cNvPr id="3" name="Content Placeholder 2">
            <a:extLst>
              <a:ext uri="{FF2B5EF4-FFF2-40B4-BE49-F238E27FC236}">
                <a16:creationId xmlns:a16="http://schemas.microsoft.com/office/drawing/2014/main" id="{8092841F-13B0-E518-797F-289EBB3B69F1}"/>
              </a:ext>
            </a:extLst>
          </p:cNvPr>
          <p:cNvSpPr>
            <a:spLocks noGrp="1"/>
          </p:cNvSpPr>
          <p:nvPr>
            <p:ph idx="1"/>
          </p:nvPr>
        </p:nvSpPr>
        <p:spPr/>
        <p:txBody>
          <a:bodyPr vert="horz" lIns="91440" tIns="45720" rIns="91440" bIns="45720" rtlCol="0" anchor="t">
            <a:normAutofit/>
          </a:bodyPr>
          <a:lstStyle/>
          <a:p>
            <a:r>
              <a:rPr lang="en-US" dirty="0">
                <a:ea typeface="+mn-lt"/>
                <a:cs typeface="+mn-lt"/>
              </a:rPr>
              <a:t>export a=b; cat &lt;&lt;$a </a:t>
            </a:r>
            <a:endParaRPr lang="en-US" dirty="0"/>
          </a:p>
          <a:p>
            <a:pPr marL="474980" lvl="1">
              <a:buFont typeface="Courier New" panose="020B0604020202020204" pitchFamily="34" charset="0"/>
              <a:buChar char="o"/>
            </a:pPr>
            <a:r>
              <a:rPr lang="en-US"/>
              <a:t>$a terminates</a:t>
            </a:r>
            <a:endParaRPr lang="en-US" dirty="0"/>
          </a:p>
          <a:p>
            <a:r>
              <a:rPr lang="en-US"/>
              <a:t>export a=b; cat &lt;&lt;"$a"</a:t>
            </a:r>
          </a:p>
          <a:p>
            <a:pPr marL="474980" lvl="1">
              <a:buFont typeface="Courier New" panose="020B0604020202020204" pitchFamily="34" charset="0"/>
              <a:buChar char="o"/>
            </a:pPr>
            <a:r>
              <a:rPr lang="en-US"/>
              <a:t>$a terminates</a:t>
            </a:r>
          </a:p>
          <a:p>
            <a:r>
              <a:rPr lang="en-US"/>
              <a:t>export a=b; cat &lt;&lt;$a; $PATH, $a</a:t>
            </a:r>
            <a:endParaRPr lang="en-US" dirty="0"/>
          </a:p>
          <a:p>
            <a:pPr marL="474980" lvl="1">
              <a:buFont typeface="Courier New" panose="020B0604020202020204" pitchFamily="34" charset="0"/>
              <a:buChar char="o"/>
            </a:pPr>
            <a:r>
              <a:rPr lang="en-US"/>
              <a:t>$PATH expands</a:t>
            </a:r>
            <a:endParaRPr lang="en-US" dirty="0"/>
          </a:p>
          <a:p>
            <a:r>
              <a:rPr lang="en-US"/>
              <a:t>export a=b; cat &lt;&lt;"$a"; $PATH, $a</a:t>
            </a:r>
          </a:p>
          <a:p>
            <a:pPr marL="474980" lvl="1">
              <a:buFont typeface="Courier New,monospace" panose="020B0604020202020204" pitchFamily="34" charset="0"/>
              <a:buChar char="o"/>
            </a:pPr>
            <a:r>
              <a:rPr lang="en-US"/>
              <a:t>$PATH does not expand</a:t>
            </a:r>
          </a:p>
          <a:p>
            <a:endParaRPr lang="en-US" dirty="0"/>
          </a:p>
          <a:p>
            <a:endParaRPr lang="en-US" dirty="0"/>
          </a:p>
        </p:txBody>
      </p:sp>
      <p:sp>
        <p:nvSpPr>
          <p:cNvPr id="5" name="TextBox 4">
            <a:extLst>
              <a:ext uri="{FF2B5EF4-FFF2-40B4-BE49-F238E27FC236}">
                <a16:creationId xmlns:a16="http://schemas.microsoft.com/office/drawing/2014/main" id="{C8040424-E4E9-0404-6B50-CD0BBC85CF4B}"/>
              </a:ext>
            </a:extLst>
          </p:cNvPr>
          <p:cNvSpPr txBox="1"/>
          <p:nvPr/>
        </p:nvSpPr>
        <p:spPr>
          <a:xfrm>
            <a:off x="4194716" y="282498"/>
            <a:ext cx="647885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0000"/>
                </a:solidFill>
              </a:rPr>
              <a:t>RESOLVED:</a:t>
            </a:r>
            <a:endParaRPr lang="en-US" dirty="0">
              <a:solidFill>
                <a:srgbClr val="000000"/>
              </a:solidFill>
            </a:endParaRPr>
          </a:p>
          <a:p>
            <a:r>
              <a:rPr lang="en-US" sz="1400" dirty="0">
                <a:solidFill>
                  <a:srgbClr val="FF0000"/>
                </a:solidFill>
              </a:rPr>
              <a:t>1. expansion during parsing, skip words/variables after heredoc</a:t>
            </a:r>
          </a:p>
          <a:p>
            <a:r>
              <a:rPr lang="en-US" sz="1400" dirty="0">
                <a:solidFill>
                  <a:srgbClr val="FF0000"/>
                </a:solidFill>
              </a:rPr>
              <a:t>2. added flag to redirect nodes</a:t>
            </a:r>
          </a:p>
          <a:p>
            <a:r>
              <a:rPr lang="en-US" sz="1400" dirty="0">
                <a:solidFill>
                  <a:srgbClr val="FF0000"/>
                </a:solidFill>
              </a:rPr>
              <a:t>3. changed quote removal to return int for redirects to catch expansion flag</a:t>
            </a:r>
          </a:p>
        </p:txBody>
      </p:sp>
    </p:spTree>
    <p:extLst>
      <p:ext uri="{BB962C8B-B14F-4D97-AF65-F5344CB8AC3E}">
        <p14:creationId xmlns:p14="http://schemas.microsoft.com/office/powerpoint/2010/main" val="160417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344C-DC13-3E3F-27E4-BC0841184828}"/>
              </a:ext>
            </a:extLst>
          </p:cNvPr>
          <p:cNvSpPr>
            <a:spLocks noGrp="1"/>
          </p:cNvSpPr>
          <p:nvPr>
            <p:ph type="title"/>
          </p:nvPr>
        </p:nvSpPr>
        <p:spPr/>
        <p:txBody>
          <a:bodyPr/>
          <a:lstStyle/>
          <a:p>
            <a:r>
              <a:rPr lang="en-US" dirty="0"/>
              <a:t>Problem: heredoc with $sign</a:t>
            </a:r>
          </a:p>
        </p:txBody>
      </p:sp>
      <p:sp>
        <p:nvSpPr>
          <p:cNvPr id="3" name="Content Placeholder 2">
            <a:extLst>
              <a:ext uri="{FF2B5EF4-FFF2-40B4-BE49-F238E27FC236}">
                <a16:creationId xmlns:a16="http://schemas.microsoft.com/office/drawing/2014/main" id="{8092841F-13B0-E518-797F-289EBB3B69F1}"/>
              </a:ext>
            </a:extLst>
          </p:cNvPr>
          <p:cNvSpPr>
            <a:spLocks noGrp="1"/>
          </p:cNvSpPr>
          <p:nvPr>
            <p:ph idx="1"/>
          </p:nvPr>
        </p:nvSpPr>
        <p:spPr>
          <a:xfrm>
            <a:off x="1295400" y="2325688"/>
            <a:ext cx="3452284" cy="3643312"/>
          </a:xfrm>
        </p:spPr>
        <p:txBody>
          <a:bodyPr vert="horz" lIns="91440" tIns="45720" rIns="91440" bIns="45720" rtlCol="0" anchor="t">
            <a:normAutofit/>
          </a:bodyPr>
          <a:lstStyle/>
          <a:p>
            <a:pPr marL="0" indent="0">
              <a:buNone/>
            </a:pPr>
            <a:r>
              <a:rPr lang="en-US" sz="1100">
                <a:ea typeface="+mn-lt"/>
                <a:cs typeface="+mn-lt"/>
              </a:rPr>
              <a:t>tsechen@c2r5s10:~$ &lt;&lt; a$a cat</a:t>
            </a:r>
            <a:br>
              <a:rPr lang="en-US" sz="1100" dirty="0">
                <a:ea typeface="+mn-lt"/>
                <a:cs typeface="+mn-lt"/>
              </a:rPr>
            </a:br>
            <a:r>
              <a:rPr lang="en-US" sz="1100">
                <a:ea typeface="+mn-lt"/>
                <a:cs typeface="+mn-lt"/>
              </a:rPr>
              <a:t>&gt; $a$b</a:t>
            </a:r>
            <a:br>
              <a:rPr lang="en-US" sz="1100" dirty="0">
                <a:ea typeface="+mn-lt"/>
                <a:cs typeface="+mn-lt"/>
              </a:rPr>
            </a:br>
            <a:r>
              <a:rPr lang="en-US" sz="1100">
                <a:ea typeface="+mn-lt"/>
                <a:cs typeface="+mn-lt"/>
              </a:rPr>
              <a:t>&gt; "$a"$b</a:t>
            </a:r>
            <a:br>
              <a:rPr lang="en-US" sz="1100" dirty="0">
                <a:ea typeface="+mn-lt"/>
                <a:cs typeface="+mn-lt"/>
              </a:rPr>
            </a:br>
            <a:r>
              <a:rPr lang="en-US" sz="1100">
                <a:ea typeface="+mn-lt"/>
                <a:cs typeface="+mn-lt"/>
              </a:rPr>
              <a:t>&gt; '$a'$b</a:t>
            </a:r>
            <a:br>
              <a:rPr lang="en-US" sz="1100" dirty="0">
                <a:ea typeface="+mn-lt"/>
                <a:cs typeface="+mn-lt"/>
              </a:rPr>
            </a:br>
            <a:r>
              <a:rPr lang="en-US" sz="1100">
                <a:ea typeface="+mn-lt"/>
                <a:cs typeface="+mn-lt"/>
              </a:rPr>
              <a:t>&gt; "'$a'"$b</a:t>
            </a:r>
            <a:br>
              <a:rPr lang="en-US" sz="1100" dirty="0">
                <a:ea typeface="+mn-lt"/>
                <a:cs typeface="+mn-lt"/>
              </a:rPr>
            </a:br>
            <a:r>
              <a:rPr lang="en-US" sz="1100">
                <a:ea typeface="+mn-lt"/>
                <a:cs typeface="+mn-lt"/>
              </a:rPr>
              <a:t>&gt; '"$a"'$b</a:t>
            </a:r>
            <a:br>
              <a:rPr lang="en-US" sz="1100" dirty="0">
                <a:ea typeface="+mn-lt"/>
                <a:cs typeface="+mn-lt"/>
              </a:rPr>
            </a:br>
            <a:r>
              <a:rPr lang="en-US" sz="1100">
                <a:ea typeface="+mn-lt"/>
                <a:cs typeface="+mn-lt"/>
              </a:rPr>
              <a:t>&gt; aec</a:t>
            </a:r>
            <a:br>
              <a:rPr lang="en-US" sz="1100" dirty="0">
                <a:ea typeface="+mn-lt"/>
                <a:cs typeface="+mn-lt"/>
              </a:rPr>
            </a:br>
            <a:r>
              <a:rPr lang="en-US" sz="1100">
                <a:ea typeface="+mn-lt"/>
                <a:cs typeface="+mn-lt"/>
              </a:rPr>
              <a:t>&gt; a$b</a:t>
            </a:r>
            <a:br>
              <a:rPr lang="en-US" sz="1100" dirty="0">
                <a:ea typeface="+mn-lt"/>
                <a:cs typeface="+mn-lt"/>
              </a:rPr>
            </a:br>
            <a:r>
              <a:rPr lang="en-US" sz="1100">
                <a:ea typeface="+mn-lt"/>
                <a:cs typeface="+mn-lt"/>
              </a:rPr>
              <a:t>&gt; a$a</a:t>
            </a:r>
            <a:br>
              <a:rPr lang="en-US" sz="1100" dirty="0">
                <a:ea typeface="+mn-lt"/>
                <a:cs typeface="+mn-lt"/>
              </a:rPr>
            </a:br>
            <a:r>
              <a:rPr lang="en-US" sz="1100">
                <a:ea typeface="+mn-lt"/>
                <a:cs typeface="+mn-lt"/>
              </a:rPr>
              <a:t>echo</a:t>
            </a:r>
            <a:br>
              <a:rPr lang="en-US" sz="1100" dirty="0">
                <a:ea typeface="+mn-lt"/>
                <a:cs typeface="+mn-lt"/>
              </a:rPr>
            </a:br>
            <a:r>
              <a:rPr lang="en-US" sz="1100">
                <a:ea typeface="+mn-lt"/>
                <a:cs typeface="+mn-lt"/>
              </a:rPr>
              <a:t>"ec"ho</a:t>
            </a:r>
            <a:br>
              <a:rPr lang="en-US" sz="1100" dirty="0">
                <a:ea typeface="+mn-lt"/>
                <a:cs typeface="+mn-lt"/>
              </a:rPr>
            </a:br>
            <a:r>
              <a:rPr lang="en-US" sz="1100">
                <a:ea typeface="+mn-lt"/>
                <a:cs typeface="+mn-lt"/>
              </a:rPr>
              <a:t>'ec'ho</a:t>
            </a:r>
            <a:br>
              <a:rPr lang="en-US" sz="1100" dirty="0">
                <a:ea typeface="+mn-lt"/>
                <a:cs typeface="+mn-lt"/>
              </a:rPr>
            </a:br>
            <a:r>
              <a:rPr lang="en-US" sz="1100">
                <a:ea typeface="+mn-lt"/>
                <a:cs typeface="+mn-lt"/>
              </a:rPr>
              <a:t>"'ec'"ho</a:t>
            </a:r>
            <a:br>
              <a:rPr lang="en-US" sz="1100" dirty="0">
                <a:ea typeface="+mn-lt"/>
                <a:cs typeface="+mn-lt"/>
              </a:rPr>
            </a:br>
            <a:r>
              <a:rPr lang="en-US" sz="1100">
                <a:ea typeface="+mn-lt"/>
                <a:cs typeface="+mn-lt"/>
              </a:rPr>
              <a:t>'"ec"'ho</a:t>
            </a:r>
            <a:br>
              <a:rPr lang="en-US" sz="1100" dirty="0">
                <a:ea typeface="+mn-lt"/>
                <a:cs typeface="+mn-lt"/>
              </a:rPr>
            </a:br>
            <a:r>
              <a:rPr lang="en-US" sz="1100">
                <a:ea typeface="+mn-lt"/>
                <a:cs typeface="+mn-lt"/>
              </a:rPr>
              <a:t>aec</a:t>
            </a:r>
            <a:br>
              <a:rPr lang="en-US" sz="1100" dirty="0">
                <a:ea typeface="+mn-lt"/>
                <a:cs typeface="+mn-lt"/>
              </a:rPr>
            </a:br>
            <a:r>
              <a:rPr lang="en-US" sz="1100">
                <a:ea typeface="+mn-lt"/>
                <a:cs typeface="+mn-lt"/>
              </a:rPr>
              <a:t>aho</a:t>
            </a:r>
            <a:br>
              <a:rPr lang="en-US" sz="1100" dirty="0">
                <a:ea typeface="+mn-lt"/>
                <a:cs typeface="+mn-lt"/>
              </a:rPr>
            </a:br>
            <a:r>
              <a:rPr lang="en-US" sz="1100">
                <a:ea typeface="+mn-lt"/>
                <a:cs typeface="+mn-lt"/>
              </a:rPr>
              <a:t>tsechen@c2r5s10:~$</a:t>
            </a:r>
            <a:endParaRPr lang="en-US"/>
          </a:p>
        </p:txBody>
      </p:sp>
      <p:sp>
        <p:nvSpPr>
          <p:cNvPr id="7" name="Content Placeholder 2">
            <a:extLst>
              <a:ext uri="{FF2B5EF4-FFF2-40B4-BE49-F238E27FC236}">
                <a16:creationId xmlns:a16="http://schemas.microsoft.com/office/drawing/2014/main" id="{690C172A-DA2E-D268-A1A7-5CC507B69AEF}"/>
              </a:ext>
            </a:extLst>
          </p:cNvPr>
          <p:cNvSpPr txBox="1">
            <a:spLocks/>
          </p:cNvSpPr>
          <p:nvPr/>
        </p:nvSpPr>
        <p:spPr>
          <a:xfrm>
            <a:off x="6093883" y="2329921"/>
            <a:ext cx="3452284" cy="364331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None/>
            </a:pPr>
            <a:r>
              <a:rPr lang="en-US" sz="1100" dirty="0">
                <a:ea typeface="+mn-lt"/>
                <a:cs typeface="+mn-lt"/>
              </a:rPr>
              <a:t>tsechen@c2r5s10:~$ &lt;&lt; </a:t>
            </a:r>
            <a:r>
              <a:rPr lang="en-US" sz="1100" dirty="0" err="1">
                <a:ea typeface="+mn-lt"/>
                <a:cs typeface="+mn-lt"/>
              </a:rPr>
              <a:t>a"$a</a:t>
            </a:r>
            <a:r>
              <a:rPr lang="en-US" sz="1100" dirty="0">
                <a:ea typeface="+mn-lt"/>
                <a:cs typeface="+mn-lt"/>
              </a:rPr>
              <a:t>" cat</a:t>
            </a:r>
            <a:endParaRPr lang="en-US" dirty="0">
              <a:ea typeface="+mn-lt"/>
              <a:cs typeface="+mn-lt"/>
            </a:endParaRPr>
          </a:p>
          <a:p>
            <a:pPr>
              <a:spcBef>
                <a:spcPts val="0"/>
              </a:spcBef>
              <a:buNone/>
            </a:pPr>
            <a:r>
              <a:rPr lang="en-US" sz="1100" dirty="0">
                <a:ea typeface="+mn-lt"/>
                <a:cs typeface="+mn-lt"/>
              </a:rPr>
              <a:t>&gt; $</a:t>
            </a:r>
            <a:r>
              <a:rPr lang="en-US" sz="1100" dirty="0" err="1">
                <a:ea typeface="+mn-lt"/>
                <a:cs typeface="+mn-lt"/>
              </a:rPr>
              <a:t>a$b</a:t>
            </a:r>
            <a:endParaRPr lang="en-US" dirty="0" err="1">
              <a:ea typeface="+mn-lt"/>
              <a:cs typeface="+mn-lt"/>
            </a:endParaRPr>
          </a:p>
          <a:p>
            <a:pPr>
              <a:spcBef>
                <a:spcPts val="0"/>
              </a:spcBef>
              <a:buNone/>
            </a:pPr>
            <a:r>
              <a:rPr lang="en-US" sz="1100" dirty="0">
                <a:ea typeface="+mn-lt"/>
                <a:cs typeface="+mn-lt"/>
              </a:rPr>
              <a:t>&gt; "$</a:t>
            </a:r>
            <a:r>
              <a:rPr lang="en-US" sz="1100" dirty="0" err="1">
                <a:ea typeface="+mn-lt"/>
                <a:cs typeface="+mn-lt"/>
              </a:rPr>
              <a:t>a"$b</a:t>
            </a:r>
            <a:endParaRPr lang="en-US" dirty="0" err="1">
              <a:ea typeface="+mn-lt"/>
              <a:cs typeface="+mn-lt"/>
            </a:endParaRPr>
          </a:p>
          <a:p>
            <a:pPr>
              <a:spcBef>
                <a:spcPts val="0"/>
              </a:spcBef>
              <a:buNone/>
            </a:pPr>
            <a:r>
              <a:rPr lang="en-US" sz="1100" dirty="0">
                <a:ea typeface="+mn-lt"/>
                <a:cs typeface="+mn-lt"/>
              </a:rPr>
              <a:t>&gt; '$</a:t>
            </a:r>
            <a:r>
              <a:rPr lang="en-US" sz="1100" dirty="0" err="1">
                <a:ea typeface="+mn-lt"/>
                <a:cs typeface="+mn-lt"/>
              </a:rPr>
              <a:t>a'$b</a:t>
            </a:r>
            <a:endParaRPr lang="en-US" dirty="0" err="1">
              <a:ea typeface="+mn-lt"/>
              <a:cs typeface="+mn-lt"/>
            </a:endParaRPr>
          </a:p>
          <a:p>
            <a:pPr>
              <a:spcBef>
                <a:spcPts val="0"/>
              </a:spcBef>
              <a:buNone/>
            </a:pPr>
            <a:r>
              <a:rPr lang="en-US" sz="1100" dirty="0">
                <a:ea typeface="+mn-lt"/>
                <a:cs typeface="+mn-lt"/>
              </a:rPr>
              <a:t>&gt; "'$</a:t>
            </a:r>
            <a:r>
              <a:rPr lang="en-US" sz="1100" dirty="0" err="1">
                <a:ea typeface="+mn-lt"/>
                <a:cs typeface="+mn-lt"/>
              </a:rPr>
              <a:t>a'"$b</a:t>
            </a:r>
            <a:endParaRPr lang="en-US" dirty="0" err="1">
              <a:ea typeface="+mn-lt"/>
              <a:cs typeface="+mn-lt"/>
            </a:endParaRPr>
          </a:p>
          <a:p>
            <a:pPr>
              <a:spcBef>
                <a:spcPts val="0"/>
              </a:spcBef>
              <a:buNone/>
            </a:pPr>
            <a:r>
              <a:rPr lang="en-US" sz="1100" dirty="0">
                <a:ea typeface="+mn-lt"/>
                <a:cs typeface="+mn-lt"/>
              </a:rPr>
              <a:t>&gt; '"$</a:t>
            </a:r>
            <a:r>
              <a:rPr lang="en-US" sz="1100" dirty="0" err="1">
                <a:ea typeface="+mn-lt"/>
                <a:cs typeface="+mn-lt"/>
              </a:rPr>
              <a:t>a"'$b</a:t>
            </a:r>
            <a:endParaRPr lang="en-US" dirty="0" err="1">
              <a:ea typeface="+mn-lt"/>
              <a:cs typeface="+mn-lt"/>
            </a:endParaRPr>
          </a:p>
          <a:p>
            <a:pPr>
              <a:spcBef>
                <a:spcPts val="0"/>
              </a:spcBef>
              <a:buNone/>
            </a:pPr>
            <a:r>
              <a:rPr lang="en-US" sz="1100" dirty="0">
                <a:ea typeface="+mn-lt"/>
                <a:cs typeface="+mn-lt"/>
              </a:rPr>
              <a:t>&gt; </a:t>
            </a:r>
            <a:r>
              <a:rPr lang="en-US" sz="1100" dirty="0" err="1">
                <a:ea typeface="+mn-lt"/>
                <a:cs typeface="+mn-lt"/>
              </a:rPr>
              <a:t>aec</a:t>
            </a:r>
            <a:endParaRPr lang="en-US" dirty="0" err="1">
              <a:ea typeface="+mn-lt"/>
              <a:cs typeface="+mn-lt"/>
            </a:endParaRPr>
          </a:p>
          <a:p>
            <a:pPr>
              <a:spcBef>
                <a:spcPts val="0"/>
              </a:spcBef>
              <a:buNone/>
            </a:pPr>
            <a:r>
              <a:rPr lang="en-US" sz="1100" dirty="0">
                <a:ea typeface="+mn-lt"/>
                <a:cs typeface="+mn-lt"/>
              </a:rPr>
              <a:t>&gt; </a:t>
            </a:r>
            <a:r>
              <a:rPr lang="en-US" sz="1100" dirty="0" err="1">
                <a:ea typeface="+mn-lt"/>
                <a:cs typeface="+mn-lt"/>
              </a:rPr>
              <a:t>a"$a</a:t>
            </a:r>
            <a:r>
              <a:rPr lang="en-US" sz="1100" dirty="0">
                <a:ea typeface="+mn-lt"/>
                <a:cs typeface="+mn-lt"/>
              </a:rPr>
              <a:t>"</a:t>
            </a:r>
            <a:endParaRPr lang="en-US" dirty="0"/>
          </a:p>
          <a:p>
            <a:pPr>
              <a:spcBef>
                <a:spcPts val="0"/>
              </a:spcBef>
              <a:buNone/>
            </a:pPr>
            <a:r>
              <a:rPr lang="en-US" sz="1100" dirty="0">
                <a:ea typeface="+mn-lt"/>
                <a:cs typeface="+mn-lt"/>
              </a:rPr>
              <a:t>&gt; </a:t>
            </a:r>
            <a:r>
              <a:rPr lang="en-US" sz="1100" dirty="0" err="1">
                <a:ea typeface="+mn-lt"/>
                <a:cs typeface="+mn-lt"/>
              </a:rPr>
              <a:t>a$a</a:t>
            </a:r>
            <a:endParaRPr lang="en-US" dirty="0" err="1">
              <a:ea typeface="+mn-lt"/>
              <a:cs typeface="+mn-lt"/>
            </a:endParaRPr>
          </a:p>
          <a:p>
            <a:pPr>
              <a:spcBef>
                <a:spcPts val="0"/>
              </a:spcBef>
              <a:buNone/>
            </a:pPr>
            <a:r>
              <a:rPr lang="en-US" sz="1100" dirty="0">
                <a:ea typeface="+mn-lt"/>
                <a:cs typeface="+mn-lt"/>
              </a:rPr>
              <a:t>$</a:t>
            </a:r>
            <a:r>
              <a:rPr lang="en-US" sz="1100" dirty="0" err="1">
                <a:ea typeface="+mn-lt"/>
                <a:cs typeface="+mn-lt"/>
              </a:rPr>
              <a:t>a$b</a:t>
            </a:r>
            <a:endParaRPr lang="en-US" dirty="0" err="1"/>
          </a:p>
          <a:p>
            <a:pPr>
              <a:spcBef>
                <a:spcPts val="0"/>
              </a:spcBef>
              <a:buNone/>
            </a:pPr>
            <a:r>
              <a:rPr lang="en-US" sz="1100" dirty="0">
                <a:ea typeface="+mn-lt"/>
                <a:cs typeface="+mn-lt"/>
              </a:rPr>
              <a:t>"$</a:t>
            </a:r>
            <a:r>
              <a:rPr lang="en-US" sz="1100" dirty="0" err="1">
                <a:ea typeface="+mn-lt"/>
                <a:cs typeface="+mn-lt"/>
              </a:rPr>
              <a:t>a"$b</a:t>
            </a:r>
            <a:endParaRPr lang="en-US" dirty="0" err="1"/>
          </a:p>
          <a:p>
            <a:pPr>
              <a:spcBef>
                <a:spcPts val="0"/>
              </a:spcBef>
              <a:buNone/>
            </a:pPr>
            <a:r>
              <a:rPr lang="en-US" sz="1100" dirty="0">
                <a:ea typeface="+mn-lt"/>
                <a:cs typeface="+mn-lt"/>
              </a:rPr>
              <a:t>'$</a:t>
            </a:r>
            <a:r>
              <a:rPr lang="en-US" sz="1100" dirty="0" err="1">
                <a:ea typeface="+mn-lt"/>
                <a:cs typeface="+mn-lt"/>
              </a:rPr>
              <a:t>a'$b</a:t>
            </a:r>
            <a:endParaRPr lang="en-US" dirty="0" err="1"/>
          </a:p>
          <a:p>
            <a:pPr>
              <a:spcBef>
                <a:spcPts val="0"/>
              </a:spcBef>
              <a:buNone/>
            </a:pPr>
            <a:r>
              <a:rPr lang="en-US" sz="1100" dirty="0">
                <a:ea typeface="+mn-lt"/>
                <a:cs typeface="+mn-lt"/>
              </a:rPr>
              <a:t>"'$</a:t>
            </a:r>
            <a:r>
              <a:rPr lang="en-US" sz="1100" dirty="0" err="1">
                <a:ea typeface="+mn-lt"/>
                <a:cs typeface="+mn-lt"/>
              </a:rPr>
              <a:t>a'"$b</a:t>
            </a:r>
            <a:endParaRPr lang="en-US" dirty="0" err="1"/>
          </a:p>
          <a:p>
            <a:pPr>
              <a:spcBef>
                <a:spcPts val="0"/>
              </a:spcBef>
              <a:buNone/>
            </a:pPr>
            <a:r>
              <a:rPr lang="en-US" sz="1100" dirty="0">
                <a:ea typeface="+mn-lt"/>
                <a:cs typeface="+mn-lt"/>
              </a:rPr>
              <a:t>'"$</a:t>
            </a:r>
            <a:r>
              <a:rPr lang="en-US" sz="1100" dirty="0" err="1">
                <a:ea typeface="+mn-lt"/>
                <a:cs typeface="+mn-lt"/>
              </a:rPr>
              <a:t>a"'$b</a:t>
            </a:r>
            <a:endParaRPr lang="en-US" dirty="0" err="1"/>
          </a:p>
          <a:p>
            <a:pPr>
              <a:spcBef>
                <a:spcPts val="0"/>
              </a:spcBef>
              <a:buNone/>
            </a:pPr>
            <a:r>
              <a:rPr lang="en-US" sz="1100" dirty="0" err="1">
                <a:ea typeface="+mn-lt"/>
                <a:cs typeface="+mn-lt"/>
              </a:rPr>
              <a:t>aec</a:t>
            </a:r>
            <a:endParaRPr lang="en-US" dirty="0" err="1">
              <a:ea typeface="+mn-lt"/>
              <a:cs typeface="+mn-lt"/>
            </a:endParaRPr>
          </a:p>
          <a:p>
            <a:pPr>
              <a:spcBef>
                <a:spcPts val="0"/>
              </a:spcBef>
              <a:buNone/>
            </a:pPr>
            <a:r>
              <a:rPr lang="en-US" sz="1100" dirty="0" err="1">
                <a:ea typeface="+mn-lt"/>
                <a:cs typeface="+mn-lt"/>
              </a:rPr>
              <a:t>a"$a</a:t>
            </a:r>
            <a:r>
              <a:rPr lang="en-US" sz="1100" dirty="0">
                <a:ea typeface="+mn-lt"/>
                <a:cs typeface="+mn-lt"/>
              </a:rPr>
              <a:t>"</a:t>
            </a:r>
            <a:endParaRPr lang="en-US" dirty="0"/>
          </a:p>
          <a:p>
            <a:pPr>
              <a:spcBef>
                <a:spcPts val="0"/>
              </a:spcBef>
              <a:buNone/>
            </a:pPr>
            <a:r>
              <a:rPr lang="en-US" sz="1100" dirty="0">
                <a:ea typeface="+mn-lt"/>
                <a:cs typeface="+mn-lt"/>
              </a:rPr>
              <a:t>tsechen@c2r5s10:~$ </a:t>
            </a:r>
            <a:endParaRPr lang="en-US" dirty="0">
              <a:ea typeface="+mn-lt"/>
              <a:cs typeface="+mn-lt"/>
            </a:endParaRPr>
          </a:p>
          <a:p>
            <a:pPr>
              <a:spcBef>
                <a:spcPts val="0"/>
              </a:spcBef>
              <a:buFont typeface="Arial" panose="020B0604020202020204" pitchFamily="34" charset="0"/>
              <a:buNone/>
            </a:pPr>
            <a:endParaRPr lang="en-US" sz="1100" dirty="0"/>
          </a:p>
        </p:txBody>
      </p:sp>
      <p:sp>
        <p:nvSpPr>
          <p:cNvPr id="4" name="TextBox 3">
            <a:extLst>
              <a:ext uri="{FF2B5EF4-FFF2-40B4-BE49-F238E27FC236}">
                <a16:creationId xmlns:a16="http://schemas.microsoft.com/office/drawing/2014/main" id="{E620F836-A62A-C418-5C65-7D74E350FB73}"/>
              </a:ext>
            </a:extLst>
          </p:cNvPr>
          <p:cNvSpPr txBox="1"/>
          <p:nvPr/>
        </p:nvSpPr>
        <p:spPr>
          <a:xfrm>
            <a:off x="4194716" y="282498"/>
            <a:ext cx="647885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0000"/>
                </a:solidFill>
              </a:rPr>
              <a:t>RESOLVED:</a:t>
            </a:r>
            <a:endParaRPr lang="en-US" dirty="0">
              <a:solidFill>
                <a:srgbClr val="000000"/>
              </a:solidFill>
            </a:endParaRPr>
          </a:p>
          <a:p>
            <a:r>
              <a:rPr lang="en-US" sz="1400" dirty="0">
                <a:solidFill>
                  <a:srgbClr val="FF0000"/>
                </a:solidFill>
              </a:rPr>
              <a:t>1. expansion during parsing, skip words/variables after heredoc</a:t>
            </a:r>
          </a:p>
          <a:p>
            <a:r>
              <a:rPr lang="en-US" sz="1400" dirty="0">
                <a:solidFill>
                  <a:srgbClr val="FF0000"/>
                </a:solidFill>
              </a:rPr>
              <a:t>2. added flag to redirect nodes</a:t>
            </a:r>
          </a:p>
          <a:p>
            <a:r>
              <a:rPr lang="en-US" sz="1400" dirty="0">
                <a:solidFill>
                  <a:srgbClr val="FF0000"/>
                </a:solidFill>
              </a:rPr>
              <a:t>3. changed quote removal to return int for redirects to catch expansion flag</a:t>
            </a:r>
          </a:p>
        </p:txBody>
      </p:sp>
    </p:spTree>
    <p:extLst>
      <p:ext uri="{BB962C8B-B14F-4D97-AF65-F5344CB8AC3E}">
        <p14:creationId xmlns:p14="http://schemas.microsoft.com/office/powerpoint/2010/main" val="2177983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802A-D50F-A012-619D-872D9A3D54E0}"/>
              </a:ext>
            </a:extLst>
          </p:cNvPr>
          <p:cNvSpPr>
            <a:spLocks noGrp="1"/>
          </p:cNvSpPr>
          <p:nvPr>
            <p:ph type="title"/>
          </p:nvPr>
        </p:nvSpPr>
        <p:spPr>
          <a:xfrm>
            <a:off x="755650" y="409046"/>
            <a:ext cx="9601200" cy="1309687"/>
          </a:xfrm>
        </p:spPr>
        <p:txBody>
          <a:bodyPr vert="horz" lIns="91440" tIns="45720" rIns="91440" bIns="45720" rtlCol="0" anchor="t">
            <a:normAutofit/>
          </a:bodyPr>
          <a:lstStyle/>
          <a:p>
            <a:r>
              <a:rPr lang="en-US"/>
              <a:t>Expansion 1 (sequential)</a:t>
            </a:r>
          </a:p>
        </p:txBody>
      </p:sp>
      <p:graphicFrame>
        <p:nvGraphicFramePr>
          <p:cNvPr id="24" name="Content Placeholder 23">
            <a:extLst>
              <a:ext uri="{FF2B5EF4-FFF2-40B4-BE49-F238E27FC236}">
                <a16:creationId xmlns:a16="http://schemas.microsoft.com/office/drawing/2014/main" id="{03A66FF5-6CB6-5D72-93E8-7C3F5630DFAA}"/>
              </a:ext>
            </a:extLst>
          </p:cNvPr>
          <p:cNvGraphicFramePr>
            <a:graphicFrameLocks noGrp="1"/>
          </p:cNvGraphicFramePr>
          <p:nvPr>
            <p:ph idx="1"/>
            <p:extLst>
              <p:ext uri="{D42A27DB-BD31-4B8C-83A1-F6EECF244321}">
                <p14:modId xmlns:p14="http://schemas.microsoft.com/office/powerpoint/2010/main" val="2384347562"/>
              </p:ext>
            </p:extLst>
          </p:nvPr>
        </p:nvGraphicFramePr>
        <p:xfrm>
          <a:off x="751416" y="1121833"/>
          <a:ext cx="11067462" cy="4871720"/>
        </p:xfrm>
        <a:graphic>
          <a:graphicData uri="http://schemas.openxmlformats.org/drawingml/2006/table">
            <a:tbl>
              <a:tblPr firstRow="1" bandRow="1">
                <a:tableStyleId>{5C22544A-7EE6-4342-B048-85BDC9FD1C3A}</a:tableStyleId>
              </a:tblPr>
              <a:tblGrid>
                <a:gridCol w="2586180">
                  <a:extLst>
                    <a:ext uri="{9D8B030D-6E8A-4147-A177-3AD203B41FA5}">
                      <a16:colId xmlns:a16="http://schemas.microsoft.com/office/drawing/2014/main" val="2615497210"/>
                    </a:ext>
                  </a:extLst>
                </a:gridCol>
                <a:gridCol w="8481282">
                  <a:extLst>
                    <a:ext uri="{9D8B030D-6E8A-4147-A177-3AD203B41FA5}">
                      <a16:colId xmlns:a16="http://schemas.microsoft.com/office/drawing/2014/main" val="1910558492"/>
                    </a:ext>
                  </a:extLst>
                </a:gridCol>
              </a:tblGrid>
              <a:tr h="370840">
                <a:tc>
                  <a:txBody>
                    <a:bodyPr/>
                    <a:lstStyle/>
                    <a:p>
                      <a:pPr lvl="0">
                        <a:buNone/>
                      </a:pPr>
                      <a:r>
                        <a:rPr lang="en-US" sz="1600" b="0" i="0" u="none" strike="noStrike" noProof="0">
                          <a:latin typeface="Univers Light"/>
                        </a:rPr>
                        <a:t>Step</a:t>
                      </a:r>
                      <a:endParaRPr lang="en-US" sz="1600" b="0">
                        <a:latin typeface="Univers Light"/>
                      </a:endParaRPr>
                    </a:p>
                  </a:txBody>
                  <a:tcPr/>
                </a:tc>
                <a:tc>
                  <a:txBody>
                    <a:bodyPr/>
                    <a:lstStyle/>
                    <a:p>
                      <a:pPr lvl="0">
                        <a:buNone/>
                      </a:pPr>
                      <a:r>
                        <a:rPr lang="en-US" sz="1600" b="0" i="0" u="none" strike="noStrike" noProof="0">
                          <a:latin typeface="Univers Light"/>
                        </a:rPr>
                        <a:t>Description</a:t>
                      </a:r>
                      <a:endParaRPr lang="en-US" sz="1600" b="0">
                        <a:latin typeface="Univers Light"/>
                      </a:endParaRPr>
                    </a:p>
                  </a:txBody>
                  <a:tcPr/>
                </a:tc>
                <a:extLst>
                  <a:ext uri="{0D108BD9-81ED-4DB2-BD59-A6C34878D82A}">
                    <a16:rowId xmlns:a16="http://schemas.microsoft.com/office/drawing/2014/main" val="4275149534"/>
                  </a:ext>
                </a:extLst>
              </a:tr>
              <a:tr h="370840">
                <a:tc>
                  <a:txBody>
                    <a:bodyPr/>
                    <a:lstStyle/>
                    <a:p>
                      <a:pPr lvl="0">
                        <a:buNone/>
                      </a:pPr>
                      <a:r>
                        <a:rPr lang="en-US" sz="1400" b="0" i="0" u="none" strike="noStrike" noProof="0">
                          <a:latin typeface="Univers Light"/>
                        </a:rPr>
                        <a:t>1. Identify the Expansion Type</a:t>
                      </a:r>
                      <a:endParaRPr lang="en-US" sz="1400" b="0">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Simple variable: $VAR</a:t>
                      </a:r>
                      <a:r>
                        <a:rPr lang="en-US" sz="1400" b="0" i="0" u="none" strike="noStrike" noProof="0">
                          <a:latin typeface="Univers Light"/>
                        </a:rPr>
                        <a:t>, Braced variable: ${VAR}, Array element: ${array[index]}, Substring: ${</a:t>
                      </a:r>
                      <a:r>
                        <a:rPr lang="en-US" sz="1400" b="0" i="0" u="none" strike="noStrike" noProof="0" err="1">
                          <a:latin typeface="Univers Light"/>
                        </a:rPr>
                        <a:t>VAR:offset:length</a:t>
                      </a:r>
                      <a:r>
                        <a:rPr lang="en-US" sz="1400" b="0" i="0" u="none" strike="noStrike" noProof="0">
                          <a:latin typeface="Univers Light"/>
                        </a:rPr>
                        <a:t>}, Parameter expansion: ${VAR:-default}, ${VAR:=default}, etc., Command substitution: $(command) or command, Arithmetic expansion: $((expression))</a:t>
                      </a:r>
                      <a:endParaRPr lang="en-US" sz="1400">
                        <a:latin typeface="Univers Light"/>
                      </a:endParaRPr>
                    </a:p>
                    <a:p>
                      <a:pPr lvl="0">
                        <a:buNone/>
                      </a:pPr>
                      <a:endParaRPr lang="en-US" sz="1400" b="0" i="0" u="none" strike="noStrike" noProof="0">
                        <a:latin typeface="Univers Light"/>
                      </a:endParaRPr>
                    </a:p>
                  </a:txBody>
                  <a:tcPr/>
                </a:tc>
                <a:extLst>
                  <a:ext uri="{0D108BD9-81ED-4DB2-BD59-A6C34878D82A}">
                    <a16:rowId xmlns:a16="http://schemas.microsoft.com/office/drawing/2014/main" val="898591151"/>
                  </a:ext>
                </a:extLst>
              </a:tr>
              <a:tr h="370840">
                <a:tc>
                  <a:txBody>
                    <a:bodyPr/>
                    <a:lstStyle/>
                    <a:p>
                      <a:pPr lvl="0">
                        <a:buNone/>
                      </a:pPr>
                      <a:r>
                        <a:rPr lang="en-US" sz="1400" b="0" i="0" u="none" strike="noStrike" noProof="0">
                          <a:latin typeface="Univers Light"/>
                        </a:rPr>
                        <a:t>2. Handle Special Parameters</a:t>
                      </a:r>
                      <a:endParaRPr lang="en-US" sz="1400" b="0">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latin typeface="Univers Light"/>
                        </a:rPr>
                        <a:t>Positional parameters: $0, $1, $2, ..., $@, $*, Special variables: </a:t>
                      </a:r>
                      <a:r>
                        <a:rPr lang="en-US" sz="1400" b="0" i="0" u="none" strike="noStrike" noProof="0">
                          <a:solidFill>
                            <a:srgbClr val="FF0000"/>
                          </a:solidFill>
                          <a:latin typeface="Univers Light"/>
                        </a:rPr>
                        <a:t>$?</a:t>
                      </a:r>
                      <a:r>
                        <a:rPr lang="en-US" sz="1400" b="0" i="0" u="none" strike="noStrike" noProof="0">
                          <a:latin typeface="Univers Light"/>
                        </a:rPr>
                        <a:t>, $$, $!, $#, etc.</a:t>
                      </a:r>
                      <a:endParaRPr lang="en-US" sz="1400">
                        <a:latin typeface="Univers Light"/>
                      </a:endParaRPr>
                    </a:p>
                    <a:p>
                      <a:pPr marL="0" lvl="0" indent="0" algn="l">
                        <a:buNone/>
                      </a:pPr>
                      <a:endParaRPr lang="en-US" sz="1400" b="0" i="0" u="none" strike="noStrike" noProof="0">
                        <a:latin typeface="Univers Light"/>
                      </a:endParaRPr>
                    </a:p>
                  </a:txBody>
                  <a:tcPr/>
                </a:tc>
                <a:extLst>
                  <a:ext uri="{0D108BD9-81ED-4DB2-BD59-A6C34878D82A}">
                    <a16:rowId xmlns:a16="http://schemas.microsoft.com/office/drawing/2014/main" val="3345000842"/>
                  </a:ext>
                </a:extLst>
              </a:tr>
              <a:tr h="370840">
                <a:tc>
                  <a:txBody>
                    <a:bodyPr/>
                    <a:lstStyle/>
                    <a:p>
                      <a:pPr lvl="0">
                        <a:buNone/>
                      </a:pPr>
                      <a:r>
                        <a:rPr lang="en-US" sz="1400" b="0" i="0" u="none" strike="noStrike" noProof="0">
                          <a:solidFill>
                            <a:srgbClr val="FF0000"/>
                          </a:solidFill>
                          <a:latin typeface="Univers Light"/>
                        </a:rPr>
                        <a:t>3. Evaluate the Variable Name</a:t>
                      </a:r>
                      <a:endParaRPr lang="en-US" sz="1400" b="1">
                        <a:solidFill>
                          <a:srgbClr val="FF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Straightforward for simple variables. </a:t>
                      </a:r>
                      <a:r>
                        <a:rPr lang="en-US" sz="1400" b="0" i="0" u="none" strike="noStrike" noProof="0">
                          <a:solidFill>
                            <a:schemeClr val="tx1"/>
                          </a:solidFill>
                          <a:latin typeface="Univers Light"/>
                        </a:rPr>
                        <a:t>For indirect references (${!VAR}), evaluate name first</a:t>
                      </a:r>
                      <a:endParaRPr lang="en-US" sz="1400">
                        <a:solidFill>
                          <a:schemeClr val="tx1"/>
                        </a:solidFill>
                        <a:latin typeface="Univers Light"/>
                      </a:endParaRPr>
                    </a:p>
                    <a:p>
                      <a:pPr lvl="0">
                        <a:buNone/>
                      </a:pPr>
                      <a:endParaRPr lang="en-US" sz="1400" b="1" i="0" u="none" strike="noStrike" noProof="0">
                        <a:solidFill>
                          <a:srgbClr val="FF0000"/>
                        </a:solidFill>
                        <a:latin typeface="Univers Light"/>
                      </a:endParaRPr>
                    </a:p>
                  </a:txBody>
                  <a:tcPr/>
                </a:tc>
                <a:extLst>
                  <a:ext uri="{0D108BD9-81ED-4DB2-BD59-A6C34878D82A}">
                    <a16:rowId xmlns:a16="http://schemas.microsoft.com/office/drawing/2014/main" val="77957309"/>
                  </a:ext>
                </a:extLst>
              </a:tr>
              <a:tr h="370840">
                <a:tc>
                  <a:txBody>
                    <a:bodyPr/>
                    <a:lstStyle/>
                    <a:p>
                      <a:pPr lvl="0">
                        <a:buNone/>
                      </a:pPr>
                      <a:r>
                        <a:rPr lang="en-US" sz="1400" b="0" i="0" u="none" strike="noStrike" noProof="0">
                          <a:solidFill>
                            <a:srgbClr val="FF0000"/>
                          </a:solidFill>
                          <a:latin typeface="Univers Light"/>
                        </a:rPr>
                        <a:t>4. Check Variable Status</a:t>
                      </a:r>
                      <a:endParaRPr lang="en-US" sz="1400" b="0">
                        <a:solidFill>
                          <a:srgbClr val="FF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Is the variable </a:t>
                      </a:r>
                      <a:r>
                        <a:rPr lang="en-US" sz="1400" b="0" i="0" u="none" strike="noStrike" noProof="0" err="1">
                          <a:solidFill>
                            <a:srgbClr val="FF0000"/>
                          </a:solidFill>
                          <a:latin typeface="Univers Light"/>
                        </a:rPr>
                        <a:t>set?Is</a:t>
                      </a:r>
                      <a:r>
                        <a:rPr lang="en-US" sz="1400" b="0" i="0" u="none" strike="noStrike" noProof="0">
                          <a:solidFill>
                            <a:srgbClr val="FF0000"/>
                          </a:solidFill>
                          <a:latin typeface="Univers Light"/>
                        </a:rPr>
                        <a:t> it null? Does it exist (for arrays)?</a:t>
                      </a:r>
                      <a:endParaRPr lang="en-US" sz="1400">
                        <a:solidFill>
                          <a:srgbClr val="FF0000"/>
                        </a:solidFill>
                        <a:latin typeface="Univers Light"/>
                      </a:endParaRPr>
                    </a:p>
                  </a:txBody>
                  <a:tcPr/>
                </a:tc>
                <a:extLst>
                  <a:ext uri="{0D108BD9-81ED-4DB2-BD59-A6C34878D82A}">
                    <a16:rowId xmlns:a16="http://schemas.microsoft.com/office/drawing/2014/main" val="2564535257"/>
                  </a:ext>
                </a:extLst>
              </a:tr>
              <a:tr h="370840">
                <a:tc>
                  <a:txBody>
                    <a:bodyPr/>
                    <a:lstStyle/>
                    <a:p>
                      <a:pPr lvl="0">
                        <a:buNone/>
                      </a:pPr>
                      <a:r>
                        <a:rPr lang="en-US" sz="1400" b="0" i="0" u="none" strike="noStrike" noProof="0">
                          <a:latin typeface="Univers Light"/>
                        </a:rPr>
                        <a:t>5. Apply Expansion Rules</a:t>
                      </a:r>
                      <a:endParaRPr lang="en-US" sz="1400" b="0">
                        <a:latin typeface="Univers Light"/>
                      </a:endParaRPr>
                    </a:p>
                  </a:txBody>
                  <a:tcPr/>
                </a:tc>
                <a:tc>
                  <a:txBody>
                    <a:bodyPr/>
                    <a:lstStyle/>
                    <a:p>
                      <a:pPr lvl="0" algn="l">
                        <a:lnSpc>
                          <a:spcPct val="100000"/>
                        </a:lnSpc>
                        <a:spcBef>
                          <a:spcPts val="0"/>
                        </a:spcBef>
                        <a:spcAft>
                          <a:spcPts val="0"/>
                        </a:spcAft>
                        <a:buNone/>
                      </a:pPr>
                      <a:r>
                        <a:rPr lang="en-US" sz="1400" b="0" i="0" u="none" strike="noStrike" noProof="0">
                          <a:solidFill>
                            <a:srgbClr val="FF0000"/>
                          </a:solidFill>
                          <a:latin typeface="Univers Light"/>
                        </a:rPr>
                        <a:t>simple variables, substitute the value.</a:t>
                      </a:r>
                      <a:r>
                        <a:rPr lang="en-US" sz="1400" b="0" i="0" u="none" strike="noStrike" noProof="0">
                          <a:latin typeface="Univers Light"/>
                        </a:rPr>
                        <a:t> For parameter expansions, apply specific rule for </a:t>
                      </a:r>
                      <a:endParaRPr lang="en-US" sz="1400">
                        <a:latin typeface="Univers Light"/>
                      </a:endParaRPr>
                    </a:p>
                    <a:p>
                      <a:pPr marL="0" lvl="0" indent="0" algn="l">
                        <a:lnSpc>
                          <a:spcPct val="100000"/>
                        </a:lnSpc>
                        <a:spcBef>
                          <a:spcPts val="0"/>
                        </a:spcBef>
                        <a:spcAft>
                          <a:spcPts val="0"/>
                        </a:spcAft>
                        <a:buNone/>
                      </a:pPr>
                      <a:r>
                        <a:rPr lang="en-US" sz="1400" b="0" i="0" u="none" strike="noStrike" noProof="0">
                          <a:latin typeface="Univers Light"/>
                        </a:rPr>
                        <a:t>${VAR:-default}, ${VAR:=default}, ${VAR:?message}, ${VAR:+alternate}</a:t>
                      </a:r>
                    </a:p>
                  </a:txBody>
                  <a:tcPr/>
                </a:tc>
                <a:extLst>
                  <a:ext uri="{0D108BD9-81ED-4DB2-BD59-A6C34878D82A}">
                    <a16:rowId xmlns:a16="http://schemas.microsoft.com/office/drawing/2014/main" val="3178960023"/>
                  </a:ext>
                </a:extLst>
              </a:tr>
              <a:tr h="370840">
                <a:tc>
                  <a:txBody>
                    <a:bodyPr/>
                    <a:lstStyle/>
                    <a:p>
                      <a:pPr lvl="0" algn="l">
                        <a:lnSpc>
                          <a:spcPct val="100000"/>
                        </a:lnSpc>
                        <a:spcBef>
                          <a:spcPts val="0"/>
                        </a:spcBef>
                        <a:spcAft>
                          <a:spcPts val="0"/>
                        </a:spcAft>
                        <a:buNone/>
                      </a:pPr>
                      <a:r>
                        <a:rPr lang="en-US" sz="1400">
                          <a:latin typeface="Univers Light"/>
                        </a:rPr>
                        <a:t>6. </a:t>
                      </a:r>
                      <a:r>
                        <a:rPr lang="en-US" sz="1400" b="0" i="0" u="none" strike="noStrike" noProof="0">
                          <a:latin typeface="Univers Light"/>
                        </a:rPr>
                        <a:t>String Operations</a:t>
                      </a:r>
                      <a:endParaRPr lang="en-US" sz="1400">
                        <a:latin typeface="Univers Light"/>
                      </a:endParaRPr>
                    </a:p>
                  </a:txBody>
                  <a:tcPr/>
                </a:tc>
                <a:tc>
                  <a:txBody>
                    <a:bodyPr/>
                    <a:lstStyle/>
                    <a:p>
                      <a:pPr lvl="0">
                        <a:buNone/>
                      </a:pPr>
                      <a:r>
                        <a:rPr lang="en-US" sz="1400" b="0" i="0" u="none" strike="noStrike" noProof="0">
                          <a:latin typeface="Univers Light"/>
                        </a:rPr>
                        <a:t>${</a:t>
                      </a:r>
                      <a:r>
                        <a:rPr lang="en-US" sz="1400" b="0" i="0" u="none" strike="noStrike" noProof="0" err="1">
                          <a:latin typeface="Univers Light"/>
                        </a:rPr>
                        <a:t>VAR#pattern</a:t>
                      </a:r>
                      <a:r>
                        <a:rPr lang="en-US" sz="1400" b="0" i="0" u="none" strike="noStrike" noProof="0">
                          <a:latin typeface="Univers Light"/>
                        </a:rPr>
                        <a:t>}, ${VAR##pattern}, ${</a:t>
                      </a:r>
                      <a:r>
                        <a:rPr lang="en-US" sz="1400" b="0" i="0" u="none" strike="noStrike" noProof="0" err="1">
                          <a:latin typeface="Univers Light"/>
                        </a:rPr>
                        <a:t>VAR%pattern</a:t>
                      </a:r>
                      <a:r>
                        <a:rPr lang="en-US" sz="1400" b="0" i="0" u="none" strike="noStrike" noProof="0">
                          <a:latin typeface="Univers Light"/>
                        </a:rPr>
                        <a:t>}, ${VAR%%pattern},${VAR/pattern/replacement}, ${VAR//pattern/replacement}</a:t>
                      </a:r>
                      <a:endParaRPr lang="en-US" sz="1400">
                        <a:latin typeface="Univers Light"/>
                      </a:endParaRPr>
                    </a:p>
                  </a:txBody>
                  <a:tcPr/>
                </a:tc>
                <a:extLst>
                  <a:ext uri="{0D108BD9-81ED-4DB2-BD59-A6C34878D82A}">
                    <a16:rowId xmlns:a16="http://schemas.microsoft.com/office/drawing/2014/main" val="2521532285"/>
                  </a:ext>
                </a:extLst>
              </a:tr>
              <a:tr h="370840">
                <a:tc>
                  <a:txBody>
                    <a:bodyPr/>
                    <a:lstStyle/>
                    <a:p>
                      <a:pPr lvl="0">
                        <a:buNone/>
                      </a:pPr>
                      <a:r>
                        <a:rPr lang="en-US" sz="1400" b="0" i="0" u="none" strike="noStrike" noProof="0">
                          <a:latin typeface="Univers Light"/>
                        </a:rPr>
                        <a:t>7. Array Operations</a:t>
                      </a:r>
                      <a:endParaRPr lang="en-US" sz="1400" b="0">
                        <a:latin typeface="Univers Light"/>
                      </a:endParaRPr>
                    </a:p>
                  </a:txBody>
                  <a:tcPr/>
                </a:tc>
                <a:tc>
                  <a:txBody>
                    <a:bodyPr/>
                    <a:lstStyle/>
                    <a:p>
                      <a:pPr lvl="0">
                        <a:buNone/>
                      </a:pPr>
                      <a:r>
                        <a:rPr lang="en-US" sz="1400" b="0" i="0" u="none" strike="noStrike" noProof="0">
                          <a:latin typeface="Univers Light"/>
                        </a:rPr>
                        <a:t>${array[@]}, ${#array[@]}, ${!array[@]}</a:t>
                      </a:r>
                      <a:endParaRPr lang="en-US" sz="1400">
                        <a:latin typeface="Univers Light"/>
                      </a:endParaRPr>
                    </a:p>
                  </a:txBody>
                  <a:tcPr/>
                </a:tc>
                <a:extLst>
                  <a:ext uri="{0D108BD9-81ED-4DB2-BD59-A6C34878D82A}">
                    <a16:rowId xmlns:a16="http://schemas.microsoft.com/office/drawing/2014/main" val="1899869305"/>
                  </a:ext>
                </a:extLst>
              </a:tr>
              <a:tr h="370840">
                <a:tc>
                  <a:txBody>
                    <a:bodyPr/>
                    <a:lstStyle/>
                    <a:p>
                      <a:pPr lvl="0">
                        <a:buNone/>
                      </a:pPr>
                      <a:r>
                        <a:rPr lang="en-US" sz="1400" b="0" i="0" u="none" strike="noStrike" noProof="0">
                          <a:solidFill>
                            <a:schemeClr val="tx1"/>
                          </a:solidFill>
                          <a:latin typeface="Univers Light"/>
                        </a:rPr>
                        <a:t>8. Command Substitution</a:t>
                      </a:r>
                      <a:endParaRPr lang="en-US" sz="1400" b="0">
                        <a:solidFill>
                          <a:schemeClr val="tx1"/>
                        </a:solidFill>
                        <a:latin typeface="Univers Light"/>
                      </a:endParaRPr>
                    </a:p>
                  </a:txBody>
                  <a:tcPr/>
                </a:tc>
                <a:tc>
                  <a:txBody>
                    <a:bodyPr/>
                    <a:lstStyle/>
                    <a:p>
                      <a:pPr lvl="0">
                        <a:buNone/>
                      </a:pPr>
                      <a:r>
                        <a:rPr lang="en-US" sz="1400" b="0" i="0" u="none" strike="noStrike" noProof="0">
                          <a:solidFill>
                            <a:schemeClr val="tx1"/>
                          </a:solidFill>
                          <a:latin typeface="Univers Light"/>
                        </a:rPr>
                        <a:t>Execute the command in subshell, Capture its output, Remove trailing newlines</a:t>
                      </a:r>
                      <a:endParaRPr lang="en-US" sz="1400" b="0">
                        <a:solidFill>
                          <a:schemeClr val="tx1"/>
                        </a:solidFill>
                        <a:latin typeface="Univers Light"/>
                      </a:endParaRPr>
                    </a:p>
                  </a:txBody>
                  <a:tcPr/>
                </a:tc>
                <a:extLst>
                  <a:ext uri="{0D108BD9-81ED-4DB2-BD59-A6C34878D82A}">
                    <a16:rowId xmlns:a16="http://schemas.microsoft.com/office/drawing/2014/main" val="3346116072"/>
                  </a:ext>
                </a:extLst>
              </a:tr>
              <a:tr h="370840">
                <a:tc>
                  <a:txBody>
                    <a:bodyPr/>
                    <a:lstStyle/>
                    <a:p>
                      <a:pPr lvl="0">
                        <a:buNone/>
                      </a:pPr>
                      <a:r>
                        <a:rPr lang="en-US" sz="1400" b="0" i="0" u="none" strike="noStrike" noProof="0">
                          <a:solidFill>
                            <a:schemeClr val="tx1"/>
                          </a:solidFill>
                          <a:latin typeface="Univers Light"/>
                        </a:rPr>
                        <a:t>9. Arithmetic Expressions</a:t>
                      </a:r>
                      <a:endParaRPr lang="en-US" sz="1400" b="0">
                        <a:solidFill>
                          <a:schemeClr val="tx1"/>
                        </a:solidFill>
                        <a:latin typeface="Univers Light"/>
                      </a:endParaRPr>
                    </a:p>
                  </a:txBody>
                  <a:tcPr/>
                </a:tc>
                <a:tc>
                  <a:txBody>
                    <a:bodyPr/>
                    <a:lstStyle/>
                    <a:p>
                      <a:pPr lvl="0">
                        <a:buNone/>
                      </a:pPr>
                      <a:r>
                        <a:rPr lang="en-US" sz="1400" b="0" i="0" u="none" strike="noStrike" noProof="0">
                          <a:solidFill>
                            <a:schemeClr val="tx1"/>
                          </a:solidFill>
                          <a:latin typeface="Univers Light"/>
                        </a:rPr>
                        <a:t>Parse the arithmetic expression</a:t>
                      </a:r>
                      <a:endParaRPr lang="en-US" sz="1400" b="0">
                        <a:solidFill>
                          <a:schemeClr val="tx1"/>
                        </a:solidFill>
                        <a:latin typeface="Univers Light"/>
                      </a:endParaRPr>
                    </a:p>
                  </a:txBody>
                  <a:tcPr/>
                </a:tc>
                <a:extLst>
                  <a:ext uri="{0D108BD9-81ED-4DB2-BD59-A6C34878D82A}">
                    <a16:rowId xmlns:a16="http://schemas.microsoft.com/office/drawing/2014/main" val="3108345156"/>
                  </a:ext>
                </a:extLst>
              </a:tr>
            </a:tbl>
          </a:graphicData>
        </a:graphic>
      </p:graphicFrame>
    </p:spTree>
    <p:extLst>
      <p:ext uri="{BB962C8B-B14F-4D97-AF65-F5344CB8AC3E}">
        <p14:creationId xmlns:p14="http://schemas.microsoft.com/office/powerpoint/2010/main" val="3470224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802A-D50F-A012-619D-872D9A3D54E0}"/>
              </a:ext>
            </a:extLst>
          </p:cNvPr>
          <p:cNvSpPr>
            <a:spLocks noGrp="1"/>
          </p:cNvSpPr>
          <p:nvPr>
            <p:ph type="title"/>
          </p:nvPr>
        </p:nvSpPr>
        <p:spPr>
          <a:xfrm>
            <a:off x="755650" y="409046"/>
            <a:ext cx="9601200" cy="1309687"/>
          </a:xfrm>
        </p:spPr>
        <p:txBody>
          <a:bodyPr vert="horz" lIns="91440" tIns="45720" rIns="91440" bIns="45720" rtlCol="0" anchor="t">
            <a:normAutofit/>
          </a:bodyPr>
          <a:lstStyle/>
          <a:p>
            <a:r>
              <a:rPr lang="en-US"/>
              <a:t>Expansion 2</a:t>
            </a:r>
          </a:p>
        </p:txBody>
      </p:sp>
      <p:graphicFrame>
        <p:nvGraphicFramePr>
          <p:cNvPr id="24" name="Content Placeholder 23">
            <a:extLst>
              <a:ext uri="{FF2B5EF4-FFF2-40B4-BE49-F238E27FC236}">
                <a16:creationId xmlns:a16="http://schemas.microsoft.com/office/drawing/2014/main" id="{03A66FF5-6CB6-5D72-93E8-7C3F5630DFAA}"/>
              </a:ext>
            </a:extLst>
          </p:cNvPr>
          <p:cNvGraphicFramePr>
            <a:graphicFrameLocks noGrp="1"/>
          </p:cNvGraphicFramePr>
          <p:nvPr>
            <p:ph idx="1"/>
            <p:extLst>
              <p:ext uri="{D42A27DB-BD31-4B8C-83A1-F6EECF244321}">
                <p14:modId xmlns:p14="http://schemas.microsoft.com/office/powerpoint/2010/main" val="2868804758"/>
              </p:ext>
            </p:extLst>
          </p:nvPr>
        </p:nvGraphicFramePr>
        <p:xfrm>
          <a:off x="751416" y="1121833"/>
          <a:ext cx="11067462" cy="2849880"/>
        </p:xfrm>
        <a:graphic>
          <a:graphicData uri="http://schemas.openxmlformats.org/drawingml/2006/table">
            <a:tbl>
              <a:tblPr firstRow="1" bandRow="1">
                <a:tableStyleId>{5C22544A-7EE6-4342-B048-85BDC9FD1C3A}</a:tableStyleId>
              </a:tblPr>
              <a:tblGrid>
                <a:gridCol w="2586180">
                  <a:extLst>
                    <a:ext uri="{9D8B030D-6E8A-4147-A177-3AD203B41FA5}">
                      <a16:colId xmlns:a16="http://schemas.microsoft.com/office/drawing/2014/main" val="2615497210"/>
                    </a:ext>
                  </a:extLst>
                </a:gridCol>
                <a:gridCol w="8481282">
                  <a:extLst>
                    <a:ext uri="{9D8B030D-6E8A-4147-A177-3AD203B41FA5}">
                      <a16:colId xmlns:a16="http://schemas.microsoft.com/office/drawing/2014/main" val="1910558492"/>
                    </a:ext>
                  </a:extLst>
                </a:gridCol>
              </a:tblGrid>
              <a:tr h="370840">
                <a:tc>
                  <a:txBody>
                    <a:bodyPr/>
                    <a:lstStyle/>
                    <a:p>
                      <a:pPr lvl="0">
                        <a:buNone/>
                      </a:pPr>
                      <a:r>
                        <a:rPr lang="en-US" sz="1600" b="0" i="0" u="none" strike="noStrike" noProof="0">
                          <a:latin typeface="Univers Light"/>
                        </a:rPr>
                        <a:t>Step</a:t>
                      </a:r>
                      <a:endParaRPr lang="en-US" sz="1600" b="0">
                        <a:latin typeface="Univers Light"/>
                      </a:endParaRPr>
                    </a:p>
                  </a:txBody>
                  <a:tcPr/>
                </a:tc>
                <a:tc>
                  <a:txBody>
                    <a:bodyPr/>
                    <a:lstStyle/>
                    <a:p>
                      <a:pPr lvl="0">
                        <a:buNone/>
                      </a:pPr>
                      <a:r>
                        <a:rPr lang="en-US" sz="1600" b="0" i="0" u="none" strike="noStrike" noProof="0">
                          <a:latin typeface="Univers Light"/>
                        </a:rPr>
                        <a:t>Description</a:t>
                      </a:r>
                      <a:endParaRPr lang="en-US" sz="1600" b="0">
                        <a:latin typeface="Univers Light"/>
                      </a:endParaRPr>
                    </a:p>
                  </a:txBody>
                  <a:tcPr/>
                </a:tc>
                <a:extLst>
                  <a:ext uri="{0D108BD9-81ED-4DB2-BD59-A6C34878D82A}">
                    <a16:rowId xmlns:a16="http://schemas.microsoft.com/office/drawing/2014/main" val="4275149534"/>
                  </a:ext>
                </a:extLst>
              </a:tr>
              <a:tr h="370840">
                <a:tc>
                  <a:txBody>
                    <a:bodyPr/>
                    <a:lstStyle/>
                    <a:p>
                      <a:pPr lvl="0">
                        <a:buNone/>
                      </a:pPr>
                      <a:r>
                        <a:rPr lang="en-US" sz="1600" b="0" i="0" u="none" strike="noStrike" noProof="0">
                          <a:solidFill>
                            <a:schemeClr val="tx1"/>
                          </a:solidFill>
                          <a:latin typeface="Univers Light"/>
                        </a:rPr>
                        <a:t>10. Quote Removal</a:t>
                      </a:r>
                      <a:endParaRPr lang="en-US" sz="1600" b="0">
                        <a:solidFill>
                          <a:schemeClr val="tx1"/>
                        </a:solidFill>
                        <a:latin typeface="Univers Light"/>
                      </a:endParaRPr>
                    </a:p>
                  </a:txBody>
                  <a:tcPr/>
                </a:tc>
                <a:tc>
                  <a:txBody>
                    <a:bodyPr/>
                    <a:lstStyle/>
                    <a:p>
                      <a:pPr lvl="0">
                        <a:buNone/>
                      </a:pPr>
                      <a:r>
                        <a:rPr lang="en-US" sz="1600" b="0" i="0" u="none" strike="noStrike" noProof="0">
                          <a:solidFill>
                            <a:schemeClr val="tx1"/>
                          </a:solidFill>
                          <a:latin typeface="Univers Light"/>
                        </a:rPr>
                        <a:t>Removes quotes (', ", \) that were used to protect certain characters during earlier expansions.</a:t>
                      </a:r>
                      <a:endParaRPr lang="en-US" sz="1600" b="0">
                        <a:solidFill>
                          <a:schemeClr val="tx1"/>
                        </a:solidFill>
                        <a:latin typeface="Univers Light"/>
                      </a:endParaRPr>
                    </a:p>
                  </a:txBody>
                  <a:tcPr/>
                </a:tc>
                <a:extLst>
                  <a:ext uri="{0D108BD9-81ED-4DB2-BD59-A6C34878D82A}">
                    <a16:rowId xmlns:a16="http://schemas.microsoft.com/office/drawing/2014/main" val="898591151"/>
                  </a:ext>
                </a:extLst>
              </a:tr>
              <a:tr h="370840">
                <a:tc>
                  <a:txBody>
                    <a:bodyPr/>
                    <a:lstStyle/>
                    <a:p>
                      <a:pPr lvl="0">
                        <a:buNone/>
                      </a:pPr>
                      <a:r>
                        <a:rPr lang="en-US" sz="1600" b="0" i="0" u="none" strike="noStrike" noProof="0">
                          <a:latin typeface="Univers Light"/>
                        </a:rPr>
                        <a:t>11. Word Splitting</a:t>
                      </a:r>
                      <a:endParaRPr lang="en-US" sz="1600" b="0">
                        <a:latin typeface="Univers Light"/>
                      </a:endParaRPr>
                    </a:p>
                  </a:txBody>
                  <a:tcPr/>
                </a:tc>
                <a:tc>
                  <a:txBody>
                    <a:bodyPr/>
                    <a:lstStyle/>
                    <a:p>
                      <a:pPr lvl="0">
                        <a:buNone/>
                      </a:pPr>
                      <a:r>
                        <a:rPr lang="en-US" sz="1600" b="0" i="0" u="none" strike="noStrike" noProof="0">
                          <a:latin typeface="Univers Light"/>
                        </a:rPr>
                        <a:t>Splits words using Internal Field Separator (IFS) after variable and command expansion, but before filename expansion.</a:t>
                      </a:r>
                      <a:endParaRPr lang="en-US" sz="1600" b="0">
                        <a:latin typeface="Univers Light"/>
                      </a:endParaRPr>
                    </a:p>
                  </a:txBody>
                  <a:tcPr/>
                </a:tc>
                <a:extLst>
                  <a:ext uri="{0D108BD9-81ED-4DB2-BD59-A6C34878D82A}">
                    <a16:rowId xmlns:a16="http://schemas.microsoft.com/office/drawing/2014/main" val="3345000842"/>
                  </a:ext>
                </a:extLst>
              </a:tr>
              <a:tr h="370840">
                <a:tc>
                  <a:txBody>
                    <a:bodyPr/>
                    <a:lstStyle/>
                    <a:p>
                      <a:pPr lvl="0">
                        <a:buNone/>
                      </a:pPr>
                      <a:r>
                        <a:rPr lang="en-US" sz="1600" b="0" i="0" u="none" strike="noStrike" noProof="0">
                          <a:solidFill>
                            <a:srgbClr val="FF0000"/>
                          </a:solidFill>
                          <a:latin typeface="Univers Light"/>
                        </a:rPr>
                        <a:t>12. Pathname Expansion (</a:t>
                      </a:r>
                      <a:r>
                        <a:rPr lang="en-US" sz="1600" b="0" i="0" u="none" strike="noStrike" noProof="0" err="1">
                          <a:solidFill>
                            <a:srgbClr val="FF0000"/>
                          </a:solidFill>
                          <a:latin typeface="Univers Light"/>
                        </a:rPr>
                        <a:t>Globbing</a:t>
                      </a:r>
                      <a:r>
                        <a:rPr lang="en-US" sz="1600" b="0" i="0" u="none" strike="noStrike" noProof="0">
                          <a:solidFill>
                            <a:srgbClr val="FF0000"/>
                          </a:solidFill>
                          <a:latin typeface="Univers Light"/>
                        </a:rPr>
                        <a:t>)</a:t>
                      </a:r>
                      <a:endParaRPr lang="en-US" sz="1600" b="0">
                        <a:solidFill>
                          <a:srgbClr val="FF0000"/>
                        </a:solidFill>
                        <a:latin typeface="Univers Light"/>
                      </a:endParaRPr>
                    </a:p>
                  </a:txBody>
                  <a:tcPr/>
                </a:tc>
                <a:tc>
                  <a:txBody>
                    <a:bodyPr/>
                    <a:lstStyle/>
                    <a:p>
                      <a:pPr lvl="0">
                        <a:buNone/>
                      </a:pPr>
                      <a:r>
                        <a:rPr lang="en-US" sz="1600" b="0" i="0" u="none" strike="noStrike" noProof="0">
                          <a:solidFill>
                            <a:srgbClr val="FF0000"/>
                          </a:solidFill>
                          <a:latin typeface="Univers Light"/>
                        </a:rPr>
                        <a:t>Expands wildcard characters (*, ?, []) to match filenames and directories in the filesystem. Example: *.txt becomes file1.txt, file2.txt, etc.</a:t>
                      </a:r>
                      <a:endParaRPr lang="en-US" sz="1600" b="0">
                        <a:solidFill>
                          <a:srgbClr val="FF0000"/>
                        </a:solidFill>
                        <a:latin typeface="Univers Light"/>
                      </a:endParaRPr>
                    </a:p>
                  </a:txBody>
                  <a:tcPr/>
                </a:tc>
                <a:extLst>
                  <a:ext uri="{0D108BD9-81ED-4DB2-BD59-A6C34878D82A}">
                    <a16:rowId xmlns:a16="http://schemas.microsoft.com/office/drawing/2014/main" val="77957309"/>
                  </a:ext>
                </a:extLst>
              </a:tr>
              <a:tr h="370840">
                <a:tc>
                  <a:txBody>
                    <a:bodyPr/>
                    <a:lstStyle/>
                    <a:p>
                      <a:pPr lvl="0">
                        <a:buNone/>
                      </a:pPr>
                      <a:r>
                        <a:rPr lang="en-US" sz="1600" b="0" i="0" u="none" strike="noStrike" noProof="0">
                          <a:latin typeface="Univers Light"/>
                        </a:rPr>
                        <a:t>13. </a:t>
                      </a:r>
                      <a:r>
                        <a:rPr lang="en-US" sz="1600" b="0" i="0" u="none" strike="noStrike" noProof="0"/>
                        <a:t>Handle Empty Results</a:t>
                      </a:r>
                      <a:endParaRPr lang="en-US" sz="1600" b="0">
                        <a:latin typeface="Univers Light"/>
                      </a:endParaRPr>
                    </a:p>
                  </a:txBody>
                  <a:tcPr/>
                </a:tc>
                <a:tc>
                  <a:txBody>
                    <a:bodyPr/>
                    <a:lstStyle/>
                    <a:p>
                      <a:pPr marL="0" lvl="0" indent="0" algn="l">
                        <a:lnSpc>
                          <a:spcPct val="100000"/>
                        </a:lnSpc>
                        <a:spcBef>
                          <a:spcPts val="0"/>
                        </a:spcBef>
                        <a:spcAft>
                          <a:spcPts val="0"/>
                        </a:spcAft>
                        <a:buNone/>
                      </a:pPr>
                      <a:r>
                        <a:rPr lang="en-US" sz="1600" b="0" i="0" u="none" strike="noStrike" noProof="0">
                          <a:latin typeface="Univers Light"/>
                        </a:rPr>
                        <a:t>Remove empty arguments or preserve them based on context and settings</a:t>
                      </a:r>
                      <a:endParaRPr lang="en-US"/>
                    </a:p>
                  </a:txBody>
                  <a:tcPr/>
                </a:tc>
                <a:extLst>
                  <a:ext uri="{0D108BD9-81ED-4DB2-BD59-A6C34878D82A}">
                    <a16:rowId xmlns:a16="http://schemas.microsoft.com/office/drawing/2014/main" val="2564535257"/>
                  </a:ext>
                </a:extLst>
              </a:tr>
              <a:tr h="370840">
                <a:tc>
                  <a:txBody>
                    <a:bodyPr/>
                    <a:lstStyle/>
                    <a:p>
                      <a:pPr lvl="0">
                        <a:buNone/>
                      </a:pPr>
                      <a:r>
                        <a:rPr lang="en-US" sz="1600" b="0" i="0" u="none" strike="noStrike" noProof="0">
                          <a:latin typeface="Univers Light"/>
                        </a:rPr>
                        <a:t>14. </a:t>
                      </a:r>
                      <a:r>
                        <a:rPr lang="en-US" sz="1600" b="0" i="0" u="none" strike="noStrike" noProof="0"/>
                        <a:t>Final Substitution</a:t>
                      </a:r>
                      <a:endParaRPr lang="en-US" sz="1600" b="0">
                        <a:latin typeface="Univers Light"/>
                      </a:endParaRPr>
                    </a:p>
                  </a:txBody>
                  <a:tcPr/>
                </a:tc>
                <a:tc>
                  <a:txBody>
                    <a:bodyPr/>
                    <a:lstStyle/>
                    <a:p>
                      <a:pPr lvl="0" algn="l">
                        <a:lnSpc>
                          <a:spcPct val="100000"/>
                        </a:lnSpc>
                        <a:spcBef>
                          <a:spcPts val="0"/>
                        </a:spcBef>
                        <a:spcAft>
                          <a:spcPts val="0"/>
                        </a:spcAft>
                        <a:buNone/>
                      </a:pPr>
                      <a:r>
                        <a:rPr lang="en-US" sz="1600" b="0" i="0" u="none" strike="noStrike" noProof="0"/>
                        <a:t>Replace the original expression with the expanded result</a:t>
                      </a:r>
                      <a:endParaRPr lang="en-US"/>
                    </a:p>
                  </a:txBody>
                  <a:tcPr/>
                </a:tc>
                <a:extLst>
                  <a:ext uri="{0D108BD9-81ED-4DB2-BD59-A6C34878D82A}">
                    <a16:rowId xmlns:a16="http://schemas.microsoft.com/office/drawing/2014/main" val="3178960023"/>
                  </a:ext>
                </a:extLst>
              </a:tr>
            </a:tbl>
          </a:graphicData>
        </a:graphic>
      </p:graphicFrame>
    </p:spTree>
    <p:extLst>
      <p:ext uri="{BB962C8B-B14F-4D97-AF65-F5344CB8AC3E}">
        <p14:creationId xmlns:p14="http://schemas.microsoft.com/office/powerpoint/2010/main" val="1822831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5651-0845-FFF3-EE6F-D39D27741A4A}"/>
              </a:ext>
            </a:extLst>
          </p:cNvPr>
          <p:cNvSpPr>
            <a:spLocks noGrp="1"/>
          </p:cNvSpPr>
          <p:nvPr>
            <p:ph type="title"/>
          </p:nvPr>
        </p:nvSpPr>
        <p:spPr/>
        <p:txBody>
          <a:bodyPr/>
          <a:lstStyle/>
          <a:p>
            <a:r>
              <a:rPr lang="en-US" dirty="0"/>
              <a:t>Wildcard</a:t>
            </a:r>
          </a:p>
        </p:txBody>
      </p:sp>
      <p:sp>
        <p:nvSpPr>
          <p:cNvPr id="3" name="Content Placeholder 2">
            <a:extLst>
              <a:ext uri="{FF2B5EF4-FFF2-40B4-BE49-F238E27FC236}">
                <a16:creationId xmlns:a16="http://schemas.microsoft.com/office/drawing/2014/main" id="{2E915956-2206-10BF-7206-9623EE652524}"/>
              </a:ext>
            </a:extLst>
          </p:cNvPr>
          <p:cNvSpPr>
            <a:spLocks noGrp="1"/>
          </p:cNvSpPr>
          <p:nvPr>
            <p:ph idx="1"/>
          </p:nvPr>
        </p:nvSpPr>
        <p:spPr/>
        <p:txBody>
          <a:bodyPr vert="horz" lIns="91440" tIns="45720" rIns="91440" bIns="45720" rtlCol="0" anchor="t">
            <a:normAutofit/>
          </a:bodyPr>
          <a:lstStyle/>
          <a:p>
            <a:r>
              <a:rPr lang="en-US" dirty="0"/>
              <a:t>* -&gt; bash uses </a:t>
            </a:r>
            <a:r>
              <a:rPr lang="en-US" dirty="0">
                <a:ea typeface="+mn-lt"/>
                <a:cs typeface="+mn-lt"/>
              </a:rPr>
              <a:t>case-sensitive but uses a locale-aware sorting where lowercase and </a:t>
            </a:r>
            <a:r>
              <a:rPr lang="en-US">
                <a:ea typeface="+mn-lt"/>
                <a:cs typeface="+mn-lt"/>
              </a:rPr>
              <a:t>uppercase letters are interleaved alphabetically.</a:t>
            </a:r>
          </a:p>
          <a:p>
            <a:pPr marL="474980" lvl="1">
              <a:buFont typeface="Courier New" panose="020B0604020202020204" pitchFamily="34" charset="0"/>
              <a:buChar char="o"/>
            </a:pPr>
            <a:r>
              <a:rPr lang="en-US" dirty="0" err="1"/>
              <a:t>afile</a:t>
            </a:r>
            <a:r>
              <a:rPr lang="en-US" dirty="0"/>
              <a:t> </a:t>
            </a:r>
            <a:r>
              <a:rPr lang="en-US" dirty="0" err="1"/>
              <a:t>Afile</a:t>
            </a:r>
            <a:r>
              <a:rPr lang="en-US" dirty="0"/>
              <a:t> </a:t>
            </a:r>
            <a:r>
              <a:rPr lang="en-US" dirty="0" err="1"/>
              <a:t>bfile</a:t>
            </a:r>
            <a:r>
              <a:rPr lang="en-US" dirty="0"/>
              <a:t> </a:t>
            </a:r>
            <a:r>
              <a:rPr lang="en-US" dirty="0" err="1"/>
              <a:t>Bfile</a:t>
            </a:r>
            <a:r>
              <a:rPr lang="en-US" dirty="0"/>
              <a:t> </a:t>
            </a:r>
            <a:r>
              <a:rPr lang="en-US" dirty="0" err="1"/>
              <a:t>cFILE</a:t>
            </a:r>
            <a:r>
              <a:rPr lang="en-US" dirty="0"/>
              <a:t> CFILE</a:t>
            </a:r>
          </a:p>
          <a:p>
            <a:pPr marL="474980" lvl="1">
              <a:buFont typeface="Courier New" panose="020B0604020202020204" pitchFamily="34" charset="0"/>
              <a:buChar char="o"/>
            </a:pPr>
            <a:r>
              <a:rPr lang="en-US" dirty="0"/>
              <a:t>Need special sorting algo</a:t>
            </a:r>
          </a:p>
          <a:p>
            <a:r>
              <a:rPr lang="en-US" dirty="0"/>
              <a:t>redirect * may end up with more than 1 file. That will throw an error</a:t>
            </a:r>
          </a:p>
          <a:p>
            <a:pPr marL="474980" lvl="1">
              <a:buFont typeface="Courier New" panose="020B0604020202020204" pitchFamily="34" charset="0"/>
              <a:buChar char="o"/>
            </a:pPr>
            <a:r>
              <a:rPr lang="en-US" dirty="0"/>
              <a:t>Solution: create a new node type of </a:t>
            </a:r>
            <a:r>
              <a:rPr lang="en-US">
                <a:solidFill>
                  <a:srgbClr val="000000"/>
                </a:solidFill>
                <a:ea typeface="+mn-lt"/>
                <a:cs typeface="+mn-lt"/>
              </a:rPr>
              <a:t>DATAERROR</a:t>
            </a:r>
            <a:endParaRPr lang="en-US" dirty="0">
              <a:solidFill>
                <a:srgbClr val="000000"/>
              </a:solidFill>
              <a:ea typeface="+mn-lt"/>
              <a:cs typeface="+mn-lt"/>
            </a:endParaRPr>
          </a:p>
          <a:p>
            <a:pPr marL="474980" lvl="1">
              <a:buFont typeface="Courier New" panose="020B0604020202020204" pitchFamily="34" charset="0"/>
              <a:buChar char="o"/>
            </a:pPr>
            <a:r>
              <a:rPr lang="en-US" dirty="0"/>
              <a:t>To run through and check just before execution. Error message printed, so </a:t>
            </a:r>
            <a:r>
              <a:rPr lang="en-US" dirty="0">
                <a:solidFill>
                  <a:srgbClr val="FF0000"/>
                </a:solidFill>
              </a:rPr>
              <a:t>just need to free. Not completed.</a:t>
            </a:r>
          </a:p>
          <a:p>
            <a:r>
              <a:rPr lang="en-US" dirty="0"/>
              <a:t>** and *** and ******* are treated like</a:t>
            </a:r>
            <a:r>
              <a:rPr lang="en-US"/>
              <a:t> a single *. need to skip consecutive *s </a:t>
            </a:r>
            <a:endParaRPr lang="en-US" dirty="0"/>
          </a:p>
        </p:txBody>
      </p:sp>
    </p:spTree>
    <p:extLst>
      <p:ext uri="{BB962C8B-B14F-4D97-AF65-F5344CB8AC3E}">
        <p14:creationId xmlns:p14="http://schemas.microsoft.com/office/powerpoint/2010/main" val="832379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802A-D50F-A012-619D-872D9A3D54E0}"/>
              </a:ext>
            </a:extLst>
          </p:cNvPr>
          <p:cNvSpPr>
            <a:spLocks noGrp="1"/>
          </p:cNvSpPr>
          <p:nvPr>
            <p:ph type="title"/>
          </p:nvPr>
        </p:nvSpPr>
        <p:spPr>
          <a:xfrm>
            <a:off x="755650" y="409046"/>
            <a:ext cx="9601200" cy="1309687"/>
          </a:xfrm>
        </p:spPr>
        <p:txBody>
          <a:bodyPr vert="horz" lIns="91440" tIns="45720" rIns="91440" bIns="45720" rtlCol="0" anchor="t">
            <a:normAutofit/>
          </a:bodyPr>
          <a:lstStyle/>
          <a:p>
            <a:r>
              <a:rPr lang="en-US"/>
              <a:t>Execution (Sequential)</a:t>
            </a:r>
          </a:p>
        </p:txBody>
      </p:sp>
      <p:graphicFrame>
        <p:nvGraphicFramePr>
          <p:cNvPr id="24" name="Content Placeholder 23">
            <a:extLst>
              <a:ext uri="{FF2B5EF4-FFF2-40B4-BE49-F238E27FC236}">
                <a16:creationId xmlns:a16="http://schemas.microsoft.com/office/drawing/2014/main" id="{03A66FF5-6CB6-5D72-93E8-7C3F5630DFAA}"/>
              </a:ext>
            </a:extLst>
          </p:cNvPr>
          <p:cNvGraphicFramePr>
            <a:graphicFrameLocks noGrp="1"/>
          </p:cNvGraphicFramePr>
          <p:nvPr>
            <p:ph idx="1"/>
            <p:extLst>
              <p:ext uri="{D42A27DB-BD31-4B8C-83A1-F6EECF244321}">
                <p14:modId xmlns:p14="http://schemas.microsoft.com/office/powerpoint/2010/main" val="2127495402"/>
              </p:ext>
            </p:extLst>
          </p:nvPr>
        </p:nvGraphicFramePr>
        <p:xfrm>
          <a:off x="751416" y="1121833"/>
          <a:ext cx="11067462" cy="3926840"/>
        </p:xfrm>
        <a:graphic>
          <a:graphicData uri="http://schemas.openxmlformats.org/drawingml/2006/table">
            <a:tbl>
              <a:tblPr firstRow="1" bandRow="1">
                <a:tableStyleId>{5C22544A-7EE6-4342-B048-85BDC9FD1C3A}</a:tableStyleId>
              </a:tblPr>
              <a:tblGrid>
                <a:gridCol w="2586180">
                  <a:extLst>
                    <a:ext uri="{9D8B030D-6E8A-4147-A177-3AD203B41FA5}">
                      <a16:colId xmlns:a16="http://schemas.microsoft.com/office/drawing/2014/main" val="2615497210"/>
                    </a:ext>
                  </a:extLst>
                </a:gridCol>
                <a:gridCol w="8481282">
                  <a:extLst>
                    <a:ext uri="{9D8B030D-6E8A-4147-A177-3AD203B41FA5}">
                      <a16:colId xmlns:a16="http://schemas.microsoft.com/office/drawing/2014/main" val="1910558492"/>
                    </a:ext>
                  </a:extLst>
                </a:gridCol>
              </a:tblGrid>
              <a:tr h="370840">
                <a:tc>
                  <a:txBody>
                    <a:bodyPr/>
                    <a:lstStyle/>
                    <a:p>
                      <a:pPr lvl="0">
                        <a:buNone/>
                      </a:pPr>
                      <a:r>
                        <a:rPr lang="en-US" sz="1600" b="0" i="0" u="none" strike="noStrike" noProof="0">
                          <a:latin typeface="Univers Light"/>
                        </a:rPr>
                        <a:t>Step</a:t>
                      </a:r>
                      <a:endParaRPr lang="en-US" sz="1600" b="0">
                        <a:latin typeface="Univers Light"/>
                      </a:endParaRPr>
                    </a:p>
                  </a:txBody>
                  <a:tcPr/>
                </a:tc>
                <a:tc>
                  <a:txBody>
                    <a:bodyPr/>
                    <a:lstStyle/>
                    <a:p>
                      <a:pPr lvl="0">
                        <a:buNone/>
                      </a:pPr>
                      <a:r>
                        <a:rPr lang="en-US" sz="1600" b="0" i="0" u="none" strike="noStrike" noProof="0">
                          <a:latin typeface="Univers Light"/>
                        </a:rPr>
                        <a:t>Description</a:t>
                      </a:r>
                      <a:endParaRPr lang="en-US" sz="1600" b="0">
                        <a:latin typeface="Univers Light"/>
                      </a:endParaRPr>
                    </a:p>
                  </a:txBody>
                  <a:tcPr/>
                </a:tc>
                <a:extLst>
                  <a:ext uri="{0D108BD9-81ED-4DB2-BD59-A6C34878D82A}">
                    <a16:rowId xmlns:a16="http://schemas.microsoft.com/office/drawing/2014/main" val="4275149534"/>
                  </a:ext>
                </a:extLst>
              </a:tr>
              <a:tr h="370840">
                <a:tc>
                  <a:txBody>
                    <a:bodyPr/>
                    <a:lstStyle/>
                    <a:p>
                      <a:pPr lvl="0">
                        <a:buNone/>
                      </a:pPr>
                      <a:r>
                        <a:rPr lang="en-US" sz="1400" b="0" i="0" u="none" strike="noStrike" noProof="0">
                          <a:solidFill>
                            <a:srgbClr val="FF0000"/>
                          </a:solidFill>
                          <a:latin typeface="Univers Light"/>
                        </a:rPr>
                        <a:t>1. </a:t>
                      </a:r>
                      <a:r>
                        <a:rPr lang="en-US" sz="1400" b="0" i="0" u="none" strike="noStrike" noProof="0">
                          <a:solidFill>
                            <a:srgbClr val="FF0000"/>
                          </a:solidFill>
                        </a:rPr>
                        <a:t>Command Lookup</a:t>
                      </a:r>
                      <a:endParaRPr lang="en-US" sz="1400" b="0">
                        <a:solidFill>
                          <a:srgbClr val="FF0000"/>
                        </a:solidFill>
                        <a:latin typeface="Univers Light"/>
                      </a:endParaRPr>
                    </a:p>
                  </a:txBody>
                  <a:tcPr/>
                </a:tc>
                <a:tc>
                  <a:txBody>
                    <a:bodyPr/>
                    <a:lstStyle/>
                    <a:p>
                      <a:pPr marL="285750" lvl="0" indent="-285750" algn="l">
                        <a:lnSpc>
                          <a:spcPct val="100000"/>
                        </a:lnSpc>
                        <a:spcBef>
                          <a:spcPts val="0"/>
                        </a:spcBef>
                        <a:spcAft>
                          <a:spcPts val="0"/>
                        </a:spcAft>
                        <a:buFont typeface="Calibri"/>
                        <a:buChar char="-"/>
                      </a:pPr>
                      <a:r>
                        <a:rPr lang="en-US" sz="1400" b="0" i="0" u="none" strike="noStrike" noProof="0">
                          <a:solidFill>
                            <a:srgbClr val="FF0000"/>
                          </a:solidFill>
                        </a:rPr>
                        <a:t>searches for the command in the current shell's built-in commands first</a:t>
                      </a:r>
                    </a:p>
                    <a:p>
                      <a:pPr marL="285750" lvl="0" indent="-285750" algn="l">
                        <a:lnSpc>
                          <a:spcPct val="100000"/>
                        </a:lnSpc>
                        <a:spcBef>
                          <a:spcPts val="0"/>
                        </a:spcBef>
                        <a:spcAft>
                          <a:spcPts val="0"/>
                        </a:spcAft>
                        <a:buFont typeface="Calibri"/>
                        <a:buChar char="-"/>
                      </a:pPr>
                      <a:r>
                        <a:rPr lang="en-US" sz="1400" b="0" i="0" u="none" strike="noStrike" noProof="0">
                          <a:solidFill>
                            <a:srgbClr val="FF0000"/>
                          </a:solidFill>
                          <a:latin typeface="Univers Light"/>
                        </a:rPr>
                        <a:t>if not found, it looks for the command in the directories listed in the </a:t>
                      </a:r>
                      <a:r>
                        <a:rPr lang="en-US" sz="1400" b="0" i="0" u="none" strike="noStrike" noProof="0">
                          <a:solidFill>
                            <a:srgbClr val="FF0000"/>
                          </a:solidFill>
                          <a:latin typeface="Consolas"/>
                        </a:rPr>
                        <a:t>PATH</a:t>
                      </a:r>
                      <a:endParaRPr lang="en-US" sz="1400" b="0" i="0" u="none" strike="noStrike" noProof="0">
                        <a:solidFill>
                          <a:srgbClr val="FF0000"/>
                        </a:solidFill>
                      </a:endParaRPr>
                    </a:p>
                  </a:txBody>
                  <a:tcPr/>
                </a:tc>
                <a:extLst>
                  <a:ext uri="{0D108BD9-81ED-4DB2-BD59-A6C34878D82A}">
                    <a16:rowId xmlns:a16="http://schemas.microsoft.com/office/drawing/2014/main" val="898591151"/>
                  </a:ext>
                </a:extLst>
              </a:tr>
              <a:tr h="370840">
                <a:tc>
                  <a:txBody>
                    <a:bodyPr/>
                    <a:lstStyle/>
                    <a:p>
                      <a:pPr lvl="0">
                        <a:buNone/>
                      </a:pPr>
                      <a:r>
                        <a:rPr lang="en-US" sz="1400" b="0" i="0" u="none" strike="noStrike" noProof="0">
                          <a:solidFill>
                            <a:srgbClr val="FF0000"/>
                          </a:solidFill>
                          <a:latin typeface="Univers Light"/>
                        </a:rPr>
                        <a:t>2. </a:t>
                      </a:r>
                      <a:r>
                        <a:rPr lang="en-US" sz="1400" b="0" i="0" u="none" strike="noStrike" noProof="0">
                          <a:solidFill>
                            <a:srgbClr val="FF0000"/>
                          </a:solidFill>
                        </a:rPr>
                        <a:t>Forking </a:t>
                      </a:r>
                      <a:r>
                        <a:rPr lang="en-US" sz="1400" b="1" i="0" u="none" strike="noStrike" noProof="0">
                          <a:solidFill>
                            <a:srgbClr val="FF0000"/>
                          </a:solidFill>
                        </a:rPr>
                        <a:t>(IF NOT BUILT IN)</a:t>
                      </a:r>
                      <a:endParaRPr lang="en-US" sz="1400" b="1">
                        <a:solidFill>
                          <a:srgbClr val="FF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latin typeface="Univers Light"/>
                        </a:rPr>
                        <a:t>commands are good to go, fork()</a:t>
                      </a:r>
                    </a:p>
                  </a:txBody>
                  <a:tcPr/>
                </a:tc>
                <a:extLst>
                  <a:ext uri="{0D108BD9-81ED-4DB2-BD59-A6C34878D82A}">
                    <a16:rowId xmlns:a16="http://schemas.microsoft.com/office/drawing/2014/main" val="3345000842"/>
                  </a:ext>
                </a:extLst>
              </a:tr>
              <a:tr h="370840">
                <a:tc>
                  <a:txBody>
                    <a:bodyPr/>
                    <a:lstStyle/>
                    <a:p>
                      <a:pPr lvl="0">
                        <a:buNone/>
                      </a:pPr>
                      <a:r>
                        <a:rPr lang="en-US" sz="1400" b="0" i="0" u="none" strike="noStrike" noProof="0">
                          <a:solidFill>
                            <a:srgbClr val="FF0000"/>
                          </a:solidFill>
                          <a:latin typeface="Univers Light"/>
                        </a:rPr>
                        <a:t>3. </a:t>
                      </a:r>
                      <a:r>
                        <a:rPr lang="en-US" sz="1400" b="0" i="0" u="none" strike="noStrike" noProof="0">
                          <a:solidFill>
                            <a:srgbClr val="FF0000"/>
                          </a:solidFill>
                        </a:rPr>
                        <a:t>Handling Input/Output Redirection</a:t>
                      </a:r>
                      <a:endParaRPr lang="en-US" sz="1400" b="1">
                        <a:solidFill>
                          <a:srgbClr val="FF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rPr>
                        <a:t>Set up any specified redirections</a:t>
                      </a:r>
                      <a:endParaRPr lang="en-US">
                        <a:solidFill>
                          <a:srgbClr val="FF0000"/>
                        </a:solidFill>
                      </a:endParaRPr>
                    </a:p>
                    <a:p>
                      <a:pPr lvl="0">
                        <a:buNone/>
                      </a:pPr>
                      <a:endParaRPr lang="en-US" sz="1400" b="1" i="0" u="none" strike="noStrike" noProof="0">
                        <a:solidFill>
                          <a:srgbClr val="FF0000"/>
                        </a:solidFill>
                        <a:latin typeface="Univers Light"/>
                      </a:endParaRPr>
                    </a:p>
                  </a:txBody>
                  <a:tcPr/>
                </a:tc>
                <a:extLst>
                  <a:ext uri="{0D108BD9-81ED-4DB2-BD59-A6C34878D82A}">
                    <a16:rowId xmlns:a16="http://schemas.microsoft.com/office/drawing/2014/main" val="77957309"/>
                  </a:ext>
                </a:extLst>
              </a:tr>
              <a:tr h="370840">
                <a:tc>
                  <a:txBody>
                    <a:bodyPr/>
                    <a:lstStyle/>
                    <a:p>
                      <a:pPr lvl="0">
                        <a:buNone/>
                      </a:pPr>
                      <a:r>
                        <a:rPr lang="en-US" sz="1400" b="0" i="0" u="none" strike="noStrike" noProof="0">
                          <a:solidFill>
                            <a:srgbClr val="FF0000"/>
                          </a:solidFill>
                          <a:latin typeface="Univers Light"/>
                        </a:rPr>
                        <a:t>4. </a:t>
                      </a:r>
                      <a:r>
                        <a:rPr lang="en-US" sz="1400" b="0" i="0" u="none" strike="noStrike" noProof="0">
                          <a:solidFill>
                            <a:srgbClr val="FF0000"/>
                          </a:solidFill>
                        </a:rPr>
                        <a:t>Signal Handling</a:t>
                      </a:r>
                      <a:endParaRPr lang="en-US" sz="1400" b="0">
                        <a:solidFill>
                          <a:srgbClr val="FF0000"/>
                        </a:solidFill>
                        <a:latin typeface="Univers Light"/>
                      </a:endParaRPr>
                    </a:p>
                  </a:txBody>
                  <a:tcPr/>
                </a:tc>
                <a:tc>
                  <a:txBody>
                    <a:bodyPr/>
                    <a:lstStyle/>
                    <a:p>
                      <a:pPr marL="0" lvl="0" indent="0" algn="l">
                        <a:lnSpc>
                          <a:spcPct val="100000"/>
                        </a:lnSpc>
                        <a:spcBef>
                          <a:spcPts val="0"/>
                        </a:spcBef>
                        <a:spcAft>
                          <a:spcPts val="0"/>
                        </a:spcAft>
                        <a:buNone/>
                      </a:pPr>
                      <a:r>
                        <a:rPr lang="en-US" sz="1400" b="0" i="0" u="none" strike="noStrike" noProof="0">
                          <a:solidFill>
                            <a:srgbClr val="FF0000"/>
                          </a:solidFill>
                        </a:rPr>
                        <a:t>Configure signal handling for the child process.</a:t>
                      </a:r>
                      <a:endParaRPr lang="en-US">
                        <a:solidFill>
                          <a:srgbClr val="FF0000"/>
                        </a:solidFill>
                      </a:endParaRPr>
                    </a:p>
                  </a:txBody>
                  <a:tcPr/>
                </a:tc>
                <a:extLst>
                  <a:ext uri="{0D108BD9-81ED-4DB2-BD59-A6C34878D82A}">
                    <a16:rowId xmlns:a16="http://schemas.microsoft.com/office/drawing/2014/main" val="2564535257"/>
                  </a:ext>
                </a:extLst>
              </a:tr>
              <a:tr h="370840">
                <a:tc>
                  <a:txBody>
                    <a:bodyPr/>
                    <a:lstStyle/>
                    <a:p>
                      <a:pPr lvl="0">
                        <a:buNone/>
                      </a:pPr>
                      <a:r>
                        <a:rPr lang="en-US" sz="1400" b="0" i="0" u="none" strike="noStrike" noProof="0">
                          <a:solidFill>
                            <a:srgbClr val="FF0000"/>
                          </a:solidFill>
                          <a:latin typeface="Univers Light"/>
                        </a:rPr>
                        <a:t>5. </a:t>
                      </a:r>
                      <a:r>
                        <a:rPr lang="en-US" sz="1400" b="0" i="0" u="none" strike="noStrike" noProof="0">
                          <a:solidFill>
                            <a:srgbClr val="FF0000"/>
                          </a:solidFill>
                        </a:rPr>
                        <a:t>Execution of External or Built-in Command</a:t>
                      </a:r>
                      <a:endParaRPr lang="en-US" sz="1400" b="0">
                        <a:solidFill>
                          <a:srgbClr val="FF0000"/>
                        </a:solidFill>
                        <a:latin typeface="Univers Light"/>
                      </a:endParaRPr>
                    </a:p>
                  </a:txBody>
                  <a:tcPr/>
                </a:tc>
                <a:tc>
                  <a:txBody>
                    <a:bodyPr/>
                    <a:lstStyle/>
                    <a:p>
                      <a:pPr lvl="0" algn="l">
                        <a:lnSpc>
                          <a:spcPct val="100000"/>
                        </a:lnSpc>
                        <a:spcBef>
                          <a:spcPts val="0"/>
                        </a:spcBef>
                        <a:spcAft>
                          <a:spcPts val="0"/>
                        </a:spcAft>
                        <a:buNone/>
                      </a:pPr>
                      <a:r>
                        <a:rPr lang="en-US" sz="1400" b="0" i="0" u="none" strike="noStrike" noProof="0">
                          <a:solidFill>
                            <a:srgbClr val="FF0000"/>
                          </a:solidFill>
                        </a:rPr>
                        <a:t>Execute the command in the child process or directly in the shell if it's a built-in.</a:t>
                      </a:r>
                    </a:p>
                    <a:p>
                      <a:pPr lvl="0" algn="l">
                        <a:lnSpc>
                          <a:spcPct val="100000"/>
                        </a:lnSpc>
                        <a:spcBef>
                          <a:spcPts val="0"/>
                        </a:spcBef>
                        <a:spcAft>
                          <a:spcPts val="0"/>
                        </a:spcAft>
                        <a:buNone/>
                      </a:pPr>
                      <a:r>
                        <a:rPr lang="en-US" sz="1400" b="0" i="0" u="none" strike="noStrike" noProof="0">
                          <a:solidFill>
                            <a:srgbClr val="FF0000"/>
                          </a:solidFill>
                        </a:rPr>
                        <a:t>Build ENVP string array for </a:t>
                      </a:r>
                      <a:r>
                        <a:rPr lang="en-US" sz="1400" b="0" i="0" u="none" strike="noStrike" noProof="0" err="1">
                          <a:solidFill>
                            <a:srgbClr val="FF0000"/>
                          </a:solidFill>
                        </a:rPr>
                        <a:t>execve</a:t>
                      </a:r>
                      <a:endParaRPr lang="en-US" sz="1400" b="0" i="0" u="none" strike="noStrike" noProof="0">
                        <a:solidFill>
                          <a:srgbClr val="FF0000"/>
                        </a:solidFill>
                      </a:endParaRPr>
                    </a:p>
                  </a:txBody>
                  <a:tcPr/>
                </a:tc>
                <a:extLst>
                  <a:ext uri="{0D108BD9-81ED-4DB2-BD59-A6C34878D82A}">
                    <a16:rowId xmlns:a16="http://schemas.microsoft.com/office/drawing/2014/main" val="3178960023"/>
                  </a:ext>
                </a:extLst>
              </a:tr>
              <a:tr h="370840">
                <a:tc>
                  <a:txBody>
                    <a:bodyPr/>
                    <a:lstStyle/>
                    <a:p>
                      <a:pPr lvl="0" algn="l">
                        <a:lnSpc>
                          <a:spcPct val="100000"/>
                        </a:lnSpc>
                        <a:spcBef>
                          <a:spcPts val="0"/>
                        </a:spcBef>
                        <a:spcAft>
                          <a:spcPts val="0"/>
                        </a:spcAft>
                        <a:buNone/>
                      </a:pPr>
                      <a:r>
                        <a:rPr lang="en-US" sz="1400">
                          <a:solidFill>
                            <a:srgbClr val="FF0000"/>
                          </a:solidFill>
                          <a:latin typeface="Univers Light"/>
                        </a:rPr>
                        <a:t>6. </a:t>
                      </a:r>
                      <a:r>
                        <a:rPr lang="en-US" sz="1400" b="0" i="0" u="none" strike="noStrike" noProof="0">
                          <a:solidFill>
                            <a:srgbClr val="FF0000"/>
                          </a:solidFill>
                        </a:rPr>
                        <a:t>Waiting for Completion</a:t>
                      </a:r>
                      <a:endParaRPr lang="en-US" sz="1400">
                        <a:solidFill>
                          <a:srgbClr val="FF0000"/>
                        </a:solidFill>
                        <a:latin typeface="Univers Light"/>
                      </a:endParaRPr>
                    </a:p>
                  </a:txBody>
                  <a:tcPr/>
                </a:tc>
                <a:tc>
                  <a:txBody>
                    <a:bodyPr/>
                    <a:lstStyle/>
                    <a:p>
                      <a:pPr lvl="0">
                        <a:buNone/>
                      </a:pPr>
                      <a:r>
                        <a:rPr lang="en-US" sz="1400" b="0" i="0" u="none" strike="noStrike" noProof="0">
                          <a:solidFill>
                            <a:srgbClr val="FF0000"/>
                          </a:solidFill>
                        </a:rPr>
                        <a:t>Wait for the child process to complete (if not a background job).</a:t>
                      </a:r>
                      <a:endParaRPr lang="en-US">
                        <a:solidFill>
                          <a:srgbClr val="FF0000"/>
                        </a:solidFill>
                      </a:endParaRPr>
                    </a:p>
                  </a:txBody>
                  <a:tcPr/>
                </a:tc>
                <a:extLst>
                  <a:ext uri="{0D108BD9-81ED-4DB2-BD59-A6C34878D82A}">
                    <a16:rowId xmlns:a16="http://schemas.microsoft.com/office/drawing/2014/main" val="2521532285"/>
                  </a:ext>
                </a:extLst>
              </a:tr>
              <a:tr h="370840">
                <a:tc>
                  <a:txBody>
                    <a:bodyPr/>
                    <a:lstStyle/>
                    <a:p>
                      <a:pPr lvl="0">
                        <a:buNone/>
                      </a:pPr>
                      <a:r>
                        <a:rPr lang="en-US" sz="1400" b="0" i="0" u="none" strike="noStrike" noProof="0">
                          <a:solidFill>
                            <a:srgbClr val="FF0000"/>
                          </a:solidFill>
                          <a:latin typeface="Univers Light"/>
                        </a:rPr>
                        <a:t>7. </a:t>
                      </a:r>
                      <a:r>
                        <a:rPr lang="en-US" sz="1400" b="0" i="0" u="none" strike="noStrike" noProof="0">
                          <a:solidFill>
                            <a:srgbClr val="FF0000"/>
                          </a:solidFill>
                        </a:rPr>
                        <a:t>Exit Status Handling</a:t>
                      </a:r>
                      <a:endParaRPr lang="en-US" sz="1400" b="0">
                        <a:solidFill>
                          <a:srgbClr val="FF0000"/>
                        </a:solidFill>
                        <a:latin typeface="Univers Light"/>
                      </a:endParaRPr>
                    </a:p>
                  </a:txBody>
                  <a:tcPr/>
                </a:tc>
                <a:tc>
                  <a:txBody>
                    <a:bodyPr/>
                    <a:lstStyle/>
                    <a:p>
                      <a:pPr lvl="0">
                        <a:buNone/>
                      </a:pPr>
                      <a:r>
                        <a:rPr lang="en-US" sz="1400" b="0" i="0" u="none" strike="noStrike" noProof="0">
                          <a:solidFill>
                            <a:srgbClr val="FF0000"/>
                          </a:solidFill>
                        </a:rPr>
                        <a:t>Retrieve and store the exit status of the executed command</a:t>
                      </a:r>
                    </a:p>
                    <a:p>
                      <a:pPr lvl="0">
                        <a:buNone/>
                      </a:pPr>
                      <a:r>
                        <a:rPr lang="en-US" sz="1400" b="0" i="0" u="none" strike="noStrike" noProof="0">
                          <a:solidFill>
                            <a:srgbClr val="FF0000"/>
                          </a:solidFill>
                        </a:rPr>
                        <a:t>Update "_" ENVP variable </a:t>
                      </a:r>
                    </a:p>
                  </a:txBody>
                  <a:tcPr/>
                </a:tc>
                <a:extLst>
                  <a:ext uri="{0D108BD9-81ED-4DB2-BD59-A6C34878D82A}">
                    <a16:rowId xmlns:a16="http://schemas.microsoft.com/office/drawing/2014/main" val="1899869305"/>
                  </a:ext>
                </a:extLst>
              </a:tr>
              <a:tr h="370840">
                <a:tc>
                  <a:txBody>
                    <a:bodyPr/>
                    <a:lstStyle/>
                    <a:p>
                      <a:pPr lvl="0">
                        <a:buNone/>
                      </a:pPr>
                      <a:r>
                        <a:rPr lang="en-US" sz="1400" b="0" i="0" u="none" strike="noStrike" noProof="0">
                          <a:solidFill>
                            <a:srgbClr val="FF0000"/>
                          </a:solidFill>
                          <a:latin typeface="Univers Light"/>
                        </a:rPr>
                        <a:t>8. </a:t>
                      </a:r>
                      <a:r>
                        <a:rPr lang="en-US" sz="1400" b="0" i="0" u="none" strike="noStrike" noProof="0">
                          <a:solidFill>
                            <a:srgbClr val="FF0000"/>
                          </a:solidFill>
                        </a:rPr>
                        <a:t>Cleanup</a:t>
                      </a:r>
                      <a:endParaRPr lang="en-US" sz="1400" b="0">
                        <a:solidFill>
                          <a:srgbClr val="FF0000"/>
                        </a:solidFill>
                        <a:latin typeface="Univers Light"/>
                      </a:endParaRPr>
                    </a:p>
                  </a:txBody>
                  <a:tcPr/>
                </a:tc>
                <a:tc>
                  <a:txBody>
                    <a:bodyPr/>
                    <a:lstStyle/>
                    <a:p>
                      <a:pPr lvl="0">
                        <a:buNone/>
                      </a:pPr>
                      <a:r>
                        <a:rPr lang="en-US" sz="1400" b="0" i="0" u="none" strike="noStrike" noProof="0">
                          <a:solidFill>
                            <a:srgbClr val="FF0000"/>
                          </a:solidFill>
                        </a:rPr>
                        <a:t>Close file descriptors and free resources used during execution.</a:t>
                      </a:r>
                      <a:endParaRPr lang="en-US">
                        <a:solidFill>
                          <a:srgbClr val="FF0000"/>
                        </a:solidFill>
                      </a:endParaRPr>
                    </a:p>
                  </a:txBody>
                  <a:tcPr/>
                </a:tc>
                <a:extLst>
                  <a:ext uri="{0D108BD9-81ED-4DB2-BD59-A6C34878D82A}">
                    <a16:rowId xmlns:a16="http://schemas.microsoft.com/office/drawing/2014/main" val="3346116072"/>
                  </a:ext>
                </a:extLst>
              </a:tr>
            </a:tbl>
          </a:graphicData>
        </a:graphic>
      </p:graphicFrame>
    </p:spTree>
    <p:extLst>
      <p:ext uri="{BB962C8B-B14F-4D97-AF65-F5344CB8AC3E}">
        <p14:creationId xmlns:p14="http://schemas.microsoft.com/office/powerpoint/2010/main" val="324107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F880E-EECA-4C04-BDE7-05C3BE7FA6C6}"/>
              </a:ext>
            </a:extLst>
          </p:cNvPr>
          <p:cNvSpPr>
            <a:spLocks noGrp="1"/>
          </p:cNvSpPr>
          <p:nvPr>
            <p:ph type="title"/>
          </p:nvPr>
        </p:nvSpPr>
        <p:spPr/>
        <p:txBody>
          <a:bodyPr/>
          <a:lstStyle/>
          <a:p>
            <a:r>
              <a:rPr lang="en-US" dirty="0"/>
              <a:t>Redirection Problem</a:t>
            </a:r>
          </a:p>
        </p:txBody>
      </p:sp>
      <p:sp>
        <p:nvSpPr>
          <p:cNvPr id="3" name="Content Placeholder 2">
            <a:extLst>
              <a:ext uri="{FF2B5EF4-FFF2-40B4-BE49-F238E27FC236}">
                <a16:creationId xmlns:a16="http://schemas.microsoft.com/office/drawing/2014/main" id="{C999CE0D-504C-6BC3-B4B4-C0DC241FA3F8}"/>
              </a:ext>
            </a:extLst>
          </p:cNvPr>
          <p:cNvSpPr>
            <a:spLocks noGrp="1"/>
          </p:cNvSpPr>
          <p:nvPr>
            <p:ph idx="1"/>
          </p:nvPr>
        </p:nvSpPr>
        <p:spPr/>
        <p:txBody>
          <a:bodyPr vert="horz" lIns="91440" tIns="45720" rIns="91440" bIns="45720" rtlCol="0" anchor="t">
            <a:normAutofit/>
          </a:bodyPr>
          <a:lstStyle/>
          <a:p>
            <a:pPr marL="0" indent="0">
              <a:buNone/>
            </a:pPr>
            <a:r>
              <a:rPr lang="en-US"/>
              <a:t>&lt;a | cat doesn't work</a:t>
            </a:r>
          </a:p>
          <a:p>
            <a:pPr marL="0" indent="0">
              <a:buNone/>
            </a:pPr>
            <a:r>
              <a:rPr lang="en-US"/>
              <a:t>&lt;a cat works</a:t>
            </a:r>
            <a:endParaRPr lang="en-US" dirty="0"/>
          </a:p>
          <a:p>
            <a:pPr marL="0" indent="0">
              <a:buNone/>
            </a:pPr>
            <a:r>
              <a:rPr lang="en-US"/>
              <a:t>&lt;a cat | cat works</a:t>
            </a:r>
          </a:p>
          <a:p>
            <a:r>
              <a:rPr lang="en-US" dirty="0"/>
              <a:t>&lt;a is stored in an empty command node</a:t>
            </a:r>
          </a:p>
          <a:p>
            <a:r>
              <a:rPr lang="en-US" dirty="0"/>
              <a:t>Common sense is that &lt;a is input redirection. </a:t>
            </a:r>
          </a:p>
          <a:p>
            <a:pPr marL="474980" lvl="1">
              <a:buFont typeface="Courier New" panose="020B0604020202020204" pitchFamily="34" charset="0"/>
              <a:buChar char="o"/>
            </a:pPr>
            <a:r>
              <a:rPr lang="en-US" dirty="0"/>
              <a:t>However, with empty command, there's nothing to process the input</a:t>
            </a:r>
          </a:p>
          <a:p>
            <a:pPr marL="474980" lvl="1">
              <a:buFont typeface="Courier New" panose="020B0604020202020204" pitchFamily="34" charset="0"/>
              <a:buChar char="o"/>
            </a:pPr>
            <a:r>
              <a:rPr lang="en-US" dirty="0"/>
              <a:t>Must redirect to output instead</a:t>
            </a:r>
          </a:p>
          <a:p>
            <a:pPr marL="474980" lvl="1">
              <a:buFont typeface="Courier New" panose="020B0604020202020204" pitchFamily="34" charset="0"/>
              <a:buChar char="o"/>
            </a:pPr>
            <a:r>
              <a:rPr lang="en-US"/>
              <a:t>Implementation specific, due to the way AST was built</a:t>
            </a:r>
            <a:r>
              <a:rPr lang="en-US" dirty="0"/>
              <a:t>!</a:t>
            </a:r>
          </a:p>
        </p:txBody>
      </p:sp>
    </p:spTree>
    <p:extLst>
      <p:ext uri="{BB962C8B-B14F-4D97-AF65-F5344CB8AC3E}">
        <p14:creationId xmlns:p14="http://schemas.microsoft.com/office/powerpoint/2010/main" val="532473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ACED-810C-E9A6-2397-DCF21B8E75B3}"/>
              </a:ext>
            </a:extLst>
          </p:cNvPr>
          <p:cNvSpPr>
            <a:spLocks noGrp="1"/>
          </p:cNvSpPr>
          <p:nvPr>
            <p:ph type="title"/>
          </p:nvPr>
        </p:nvSpPr>
        <p:spPr/>
        <p:txBody>
          <a:bodyPr/>
          <a:lstStyle/>
          <a:p>
            <a:r>
              <a:rPr lang="en-US" dirty="0"/>
              <a:t>Execution Strategy</a:t>
            </a:r>
          </a:p>
        </p:txBody>
      </p:sp>
      <p:sp>
        <p:nvSpPr>
          <p:cNvPr id="3" name="Content Placeholder 2">
            <a:extLst>
              <a:ext uri="{FF2B5EF4-FFF2-40B4-BE49-F238E27FC236}">
                <a16:creationId xmlns:a16="http://schemas.microsoft.com/office/drawing/2014/main" id="{332771A4-FC01-EC47-05C4-0FB6181F6280}"/>
              </a:ext>
            </a:extLst>
          </p:cNvPr>
          <p:cNvSpPr>
            <a:spLocks noGrp="1"/>
          </p:cNvSpPr>
          <p:nvPr>
            <p:ph idx="1"/>
          </p:nvPr>
        </p:nvSpPr>
        <p:spPr>
          <a:xfrm>
            <a:off x="1295400" y="2262188"/>
            <a:ext cx="3598395" cy="3643312"/>
          </a:xfrm>
        </p:spPr>
        <p:txBody>
          <a:bodyPr vert="horz" lIns="91440" tIns="45720" rIns="91440" bIns="45720" rtlCol="0" anchor="t">
            <a:normAutofit fontScale="55000" lnSpcReduction="20000"/>
          </a:bodyPr>
          <a:lstStyle/>
          <a:p>
            <a:pPr indent="0">
              <a:spcBef>
                <a:spcPts val="0"/>
              </a:spcBef>
              <a:buNone/>
            </a:pPr>
            <a:r>
              <a:rPr lang="en-US" dirty="0">
                <a:ea typeface="+mn-lt"/>
                <a:cs typeface="+mn-lt"/>
              </a:rPr>
              <a:t>int </a:t>
            </a:r>
            <a:r>
              <a:rPr lang="en-US" dirty="0" err="1">
                <a:ea typeface="+mn-lt"/>
                <a:cs typeface="+mn-lt"/>
              </a:rPr>
              <a:t>execute_ast</a:t>
            </a:r>
            <a:r>
              <a:rPr lang="en-US" dirty="0">
                <a:ea typeface="+mn-lt"/>
                <a:cs typeface="+mn-lt"/>
              </a:rPr>
              <a:t>(</a:t>
            </a:r>
            <a:r>
              <a:rPr lang="en-US" dirty="0" err="1">
                <a:ea typeface="+mn-lt"/>
                <a:cs typeface="+mn-lt"/>
              </a:rPr>
              <a:t>t_astnode</a:t>
            </a:r>
            <a:r>
              <a:rPr lang="en-US" dirty="0">
                <a:ea typeface="+mn-lt"/>
                <a:cs typeface="+mn-lt"/>
              </a:rPr>
              <a:t> *node)</a:t>
            </a:r>
            <a:endParaRPr lang="en-US" dirty="0"/>
          </a:p>
          <a:p>
            <a:pPr indent="0">
              <a:spcBef>
                <a:spcPts val="0"/>
              </a:spcBef>
              <a:buNone/>
            </a:pPr>
            <a:r>
              <a:rPr lang="en-US" dirty="0">
                <a:ea typeface="+mn-lt"/>
                <a:cs typeface="+mn-lt"/>
              </a:rPr>
              <a:t>{</a:t>
            </a:r>
          </a:p>
          <a:p>
            <a:pPr indent="0">
              <a:spcBef>
                <a:spcPts val="0"/>
              </a:spcBef>
              <a:buNone/>
            </a:pPr>
            <a:r>
              <a:rPr lang="en-US" dirty="0">
                <a:ea typeface="+mn-lt"/>
                <a:cs typeface="+mn-lt"/>
              </a:rPr>
              <a:t>    if (node == NULL)</a:t>
            </a:r>
          </a:p>
          <a:p>
            <a:pPr indent="0">
              <a:spcBef>
                <a:spcPts val="0"/>
              </a:spcBef>
              <a:buNone/>
            </a:pPr>
            <a:r>
              <a:rPr lang="en-US" dirty="0">
                <a:ea typeface="+mn-lt"/>
                <a:cs typeface="+mn-lt"/>
              </a:rPr>
              <a:t>        return 0;</a:t>
            </a:r>
          </a:p>
          <a:p>
            <a:pPr indent="0">
              <a:spcBef>
                <a:spcPts val="0"/>
              </a:spcBef>
              <a:buNone/>
            </a:pPr>
            <a:endParaRPr lang="en-US"/>
          </a:p>
          <a:p>
            <a:pPr indent="0">
              <a:spcBef>
                <a:spcPts val="0"/>
              </a:spcBef>
              <a:buNone/>
            </a:pPr>
            <a:r>
              <a:rPr lang="en-US" dirty="0">
                <a:ea typeface="+mn-lt"/>
                <a:cs typeface="+mn-lt"/>
              </a:rPr>
              <a:t>    if (node-&gt;type == AST_GROUP)</a:t>
            </a:r>
          </a:p>
          <a:p>
            <a:pPr indent="0">
              <a:spcBef>
                <a:spcPts val="0"/>
              </a:spcBef>
              <a:buNone/>
            </a:pPr>
            <a:r>
              <a:rPr lang="en-US" dirty="0">
                <a:ea typeface="+mn-lt"/>
                <a:cs typeface="+mn-lt"/>
              </a:rPr>
              <a:t>        return </a:t>
            </a:r>
            <a:r>
              <a:rPr lang="en-US" dirty="0" err="1">
                <a:ea typeface="+mn-lt"/>
                <a:cs typeface="+mn-lt"/>
              </a:rPr>
              <a:t>execute_group</a:t>
            </a:r>
            <a:r>
              <a:rPr lang="en-US" dirty="0">
                <a:ea typeface="+mn-lt"/>
                <a:cs typeface="+mn-lt"/>
              </a:rPr>
              <a:t>(node);</a:t>
            </a:r>
          </a:p>
          <a:p>
            <a:pPr indent="0">
              <a:spcBef>
                <a:spcPts val="0"/>
              </a:spcBef>
              <a:buNone/>
            </a:pPr>
            <a:r>
              <a:rPr lang="en-US" dirty="0">
                <a:ea typeface="+mn-lt"/>
                <a:cs typeface="+mn-lt"/>
              </a:rPr>
              <a:t>    else if (node-&gt;type == AST_AND)</a:t>
            </a:r>
          </a:p>
          <a:p>
            <a:pPr indent="0">
              <a:spcBef>
                <a:spcPts val="0"/>
              </a:spcBef>
              <a:buNone/>
            </a:pPr>
            <a:r>
              <a:rPr lang="en-US" dirty="0">
                <a:ea typeface="+mn-lt"/>
                <a:cs typeface="+mn-lt"/>
              </a:rPr>
              <a:t>        return </a:t>
            </a:r>
            <a:r>
              <a:rPr lang="en-US" dirty="0" err="1">
                <a:ea typeface="+mn-lt"/>
                <a:cs typeface="+mn-lt"/>
              </a:rPr>
              <a:t>execute_and</a:t>
            </a:r>
            <a:r>
              <a:rPr lang="en-US" dirty="0">
                <a:ea typeface="+mn-lt"/>
                <a:cs typeface="+mn-lt"/>
              </a:rPr>
              <a:t>(node);</a:t>
            </a:r>
          </a:p>
          <a:p>
            <a:pPr indent="0">
              <a:spcBef>
                <a:spcPts val="0"/>
              </a:spcBef>
              <a:buNone/>
            </a:pPr>
            <a:r>
              <a:rPr lang="en-US" dirty="0">
                <a:ea typeface="+mn-lt"/>
                <a:cs typeface="+mn-lt"/>
              </a:rPr>
              <a:t>    else if (node-&gt;type == AST_OR)</a:t>
            </a:r>
          </a:p>
          <a:p>
            <a:pPr indent="0">
              <a:spcBef>
                <a:spcPts val="0"/>
              </a:spcBef>
              <a:buNone/>
            </a:pPr>
            <a:r>
              <a:rPr lang="en-US" dirty="0">
                <a:ea typeface="+mn-lt"/>
                <a:cs typeface="+mn-lt"/>
              </a:rPr>
              <a:t>        return </a:t>
            </a:r>
            <a:r>
              <a:rPr lang="en-US" dirty="0" err="1">
                <a:ea typeface="+mn-lt"/>
                <a:cs typeface="+mn-lt"/>
              </a:rPr>
              <a:t>execute_or</a:t>
            </a:r>
            <a:r>
              <a:rPr lang="en-US" dirty="0">
                <a:ea typeface="+mn-lt"/>
                <a:cs typeface="+mn-lt"/>
              </a:rPr>
              <a:t>(node);</a:t>
            </a:r>
          </a:p>
          <a:p>
            <a:pPr indent="0">
              <a:spcBef>
                <a:spcPts val="0"/>
              </a:spcBef>
              <a:buNone/>
            </a:pPr>
            <a:r>
              <a:rPr lang="en-US" dirty="0">
                <a:ea typeface="+mn-lt"/>
                <a:cs typeface="+mn-lt"/>
              </a:rPr>
              <a:t>    else if (node-&gt;type == AST_PIPE)</a:t>
            </a:r>
          </a:p>
          <a:p>
            <a:pPr indent="0">
              <a:spcBef>
                <a:spcPts val="0"/>
              </a:spcBef>
              <a:buNone/>
            </a:pPr>
            <a:r>
              <a:rPr lang="en-US" dirty="0">
                <a:ea typeface="+mn-lt"/>
                <a:cs typeface="+mn-lt"/>
              </a:rPr>
              <a:t>        return </a:t>
            </a:r>
            <a:r>
              <a:rPr lang="en-US" dirty="0" err="1">
                <a:ea typeface="+mn-lt"/>
                <a:cs typeface="+mn-lt"/>
              </a:rPr>
              <a:t>execute_pipe</a:t>
            </a:r>
            <a:r>
              <a:rPr lang="en-US" dirty="0">
                <a:ea typeface="+mn-lt"/>
                <a:cs typeface="+mn-lt"/>
              </a:rPr>
              <a:t>(node);</a:t>
            </a:r>
          </a:p>
          <a:p>
            <a:pPr indent="0">
              <a:spcBef>
                <a:spcPts val="0"/>
              </a:spcBef>
              <a:buNone/>
            </a:pPr>
            <a:r>
              <a:rPr lang="en-US" dirty="0">
                <a:ea typeface="+mn-lt"/>
                <a:cs typeface="+mn-lt"/>
              </a:rPr>
              <a:t>    else if (node-&gt;type == AST_REDIRECT)</a:t>
            </a:r>
          </a:p>
          <a:p>
            <a:pPr indent="0">
              <a:spcBef>
                <a:spcPts val="0"/>
              </a:spcBef>
              <a:buNone/>
            </a:pPr>
            <a:r>
              <a:rPr lang="en-US" dirty="0">
                <a:ea typeface="+mn-lt"/>
                <a:cs typeface="+mn-lt"/>
              </a:rPr>
              <a:t>        return </a:t>
            </a:r>
            <a:r>
              <a:rPr lang="en-US" dirty="0" err="1">
                <a:ea typeface="+mn-lt"/>
                <a:cs typeface="+mn-lt"/>
              </a:rPr>
              <a:t>execute_redirect</a:t>
            </a:r>
            <a:r>
              <a:rPr lang="en-US" dirty="0">
                <a:ea typeface="+mn-lt"/>
                <a:cs typeface="+mn-lt"/>
              </a:rPr>
              <a:t>(node);</a:t>
            </a:r>
          </a:p>
          <a:p>
            <a:pPr indent="0">
              <a:spcBef>
                <a:spcPts val="0"/>
              </a:spcBef>
              <a:buNone/>
            </a:pPr>
            <a:r>
              <a:rPr lang="en-US" dirty="0">
                <a:ea typeface="+mn-lt"/>
                <a:cs typeface="+mn-lt"/>
              </a:rPr>
              <a:t>    else if (node-&gt;type == AST_COMMAND)</a:t>
            </a:r>
          </a:p>
          <a:p>
            <a:pPr indent="0">
              <a:spcBef>
                <a:spcPts val="0"/>
              </a:spcBef>
              <a:buNone/>
            </a:pPr>
            <a:r>
              <a:rPr lang="en-US" dirty="0">
                <a:ea typeface="+mn-lt"/>
                <a:cs typeface="+mn-lt"/>
              </a:rPr>
              <a:t>        return </a:t>
            </a:r>
            <a:r>
              <a:rPr lang="en-US" dirty="0" err="1">
                <a:ea typeface="+mn-lt"/>
                <a:cs typeface="+mn-lt"/>
              </a:rPr>
              <a:t>execute_command</a:t>
            </a:r>
            <a:r>
              <a:rPr lang="en-US" dirty="0">
                <a:ea typeface="+mn-lt"/>
                <a:cs typeface="+mn-lt"/>
              </a:rPr>
              <a:t>(node);</a:t>
            </a:r>
          </a:p>
          <a:p>
            <a:pPr indent="0">
              <a:spcBef>
                <a:spcPts val="0"/>
              </a:spcBef>
              <a:buNone/>
            </a:pPr>
            <a:r>
              <a:rPr lang="en-US" dirty="0">
                <a:ea typeface="+mn-lt"/>
                <a:cs typeface="+mn-lt"/>
              </a:rPr>
              <a:t>    else</a:t>
            </a:r>
          </a:p>
          <a:p>
            <a:pPr indent="0">
              <a:spcBef>
                <a:spcPts val="0"/>
              </a:spcBef>
              <a:buNone/>
            </a:pPr>
            <a:r>
              <a:rPr lang="en-US" dirty="0">
                <a:ea typeface="+mn-lt"/>
                <a:cs typeface="+mn-lt"/>
              </a:rPr>
              <a:t>    {</a:t>
            </a:r>
          </a:p>
          <a:p>
            <a:pPr indent="0">
              <a:spcBef>
                <a:spcPts val="0"/>
              </a:spcBef>
              <a:buNone/>
            </a:pPr>
            <a:r>
              <a:rPr lang="en-US" dirty="0">
                <a:ea typeface="+mn-lt"/>
                <a:cs typeface="+mn-lt"/>
              </a:rPr>
              <a:t>        </a:t>
            </a:r>
            <a:r>
              <a:rPr lang="en-US" dirty="0" err="1">
                <a:ea typeface="+mn-lt"/>
                <a:cs typeface="+mn-lt"/>
              </a:rPr>
              <a:t>fprintf</a:t>
            </a:r>
            <a:r>
              <a:rPr lang="en-US" dirty="0">
                <a:ea typeface="+mn-lt"/>
                <a:cs typeface="+mn-lt"/>
              </a:rPr>
              <a:t>(stderr, "Unknown node type\n");</a:t>
            </a:r>
          </a:p>
          <a:p>
            <a:pPr indent="0">
              <a:spcBef>
                <a:spcPts val="0"/>
              </a:spcBef>
              <a:buNone/>
            </a:pPr>
            <a:r>
              <a:rPr lang="en-US" dirty="0">
                <a:ea typeface="+mn-lt"/>
                <a:cs typeface="+mn-lt"/>
              </a:rPr>
              <a:t>        return 1;</a:t>
            </a:r>
          </a:p>
          <a:p>
            <a:pPr indent="0">
              <a:spcBef>
                <a:spcPts val="0"/>
              </a:spcBef>
              <a:buNone/>
            </a:pPr>
            <a:r>
              <a:rPr lang="en-US" dirty="0">
                <a:ea typeface="+mn-lt"/>
                <a:cs typeface="+mn-lt"/>
              </a:rPr>
              <a:t>    }</a:t>
            </a:r>
          </a:p>
          <a:p>
            <a:pPr indent="0">
              <a:spcBef>
                <a:spcPts val="0"/>
              </a:spcBef>
              <a:buNone/>
            </a:pPr>
            <a:r>
              <a:rPr lang="en-US" dirty="0">
                <a:ea typeface="+mn-lt"/>
                <a:cs typeface="+mn-lt"/>
              </a:rPr>
              <a:t>}</a:t>
            </a:r>
          </a:p>
          <a:p>
            <a:pPr marL="0" indent="0">
              <a:spcBef>
                <a:spcPts val="0"/>
              </a:spcBef>
              <a:buNone/>
            </a:pPr>
            <a:endParaRPr lang="en-US" dirty="0"/>
          </a:p>
        </p:txBody>
      </p:sp>
      <p:sp>
        <p:nvSpPr>
          <p:cNvPr id="5" name="Content Placeholder 2">
            <a:extLst>
              <a:ext uri="{FF2B5EF4-FFF2-40B4-BE49-F238E27FC236}">
                <a16:creationId xmlns:a16="http://schemas.microsoft.com/office/drawing/2014/main" id="{9F9E502B-857F-ECA5-6CD9-1D287DBC8891}"/>
              </a:ext>
            </a:extLst>
          </p:cNvPr>
          <p:cNvSpPr txBox="1">
            <a:spLocks/>
          </p:cNvSpPr>
          <p:nvPr/>
        </p:nvSpPr>
        <p:spPr>
          <a:xfrm>
            <a:off x="6019800" y="2261092"/>
            <a:ext cx="3598395" cy="3643312"/>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ea typeface="+mn-lt"/>
                <a:cs typeface="+mn-lt"/>
              </a:rPr>
              <a:t>// all if else statements, no diff on precedence, but here's the logic for writing code..</a:t>
            </a:r>
          </a:p>
          <a:p>
            <a:pPr>
              <a:buFont typeface="Arial"/>
              <a:buChar char="•"/>
            </a:pPr>
            <a:r>
              <a:rPr lang="en-US" b="1" dirty="0">
                <a:ea typeface="+mn-lt"/>
                <a:cs typeface="+mn-lt"/>
              </a:rPr>
              <a:t>AST_GROUP</a:t>
            </a:r>
            <a:r>
              <a:rPr lang="en-US" dirty="0">
                <a:ea typeface="+mn-lt"/>
                <a:cs typeface="+mn-lt"/>
              </a:rPr>
              <a:t>: Check for groups first because they have the highest precedence in shell syntax. Anything inside parentheses should be evaluated before considering other operations.</a:t>
            </a:r>
            <a:endParaRPr lang="en-US" dirty="0"/>
          </a:p>
          <a:p>
            <a:pPr>
              <a:buFont typeface="Arial"/>
              <a:buChar char="•"/>
            </a:pPr>
            <a:r>
              <a:rPr lang="en-US" b="1" dirty="0">
                <a:ea typeface="+mn-lt"/>
                <a:cs typeface="+mn-lt"/>
              </a:rPr>
              <a:t>AST_AND and AST_OR</a:t>
            </a:r>
            <a:r>
              <a:rPr lang="en-US" dirty="0">
                <a:ea typeface="+mn-lt"/>
                <a:cs typeface="+mn-lt"/>
              </a:rPr>
              <a:t>: Logical AND </a:t>
            </a:r>
            <a:r>
              <a:rPr lang="en-US" dirty="0" err="1">
                <a:ea typeface="+mn-lt"/>
                <a:cs typeface="+mn-lt"/>
              </a:rPr>
              <a:t>and</a:t>
            </a:r>
            <a:r>
              <a:rPr lang="en-US" dirty="0">
                <a:ea typeface="+mn-lt"/>
                <a:cs typeface="+mn-lt"/>
              </a:rPr>
              <a:t> OR come next because they can short-circuit evaluation. If we have </a:t>
            </a:r>
            <a:r>
              <a:rPr lang="en-US" dirty="0">
                <a:latin typeface="Consolas"/>
                <a:ea typeface="+mn-lt"/>
                <a:cs typeface="+mn-lt"/>
              </a:rPr>
              <a:t>cmd1 &amp;&amp; cmd2 | cmd3</a:t>
            </a:r>
            <a:r>
              <a:rPr lang="en-US" dirty="0">
                <a:ea typeface="+mn-lt"/>
                <a:cs typeface="+mn-lt"/>
              </a:rPr>
              <a:t>, we want to evaluate the AND before the pipe.</a:t>
            </a:r>
            <a:endParaRPr lang="en-US" dirty="0"/>
          </a:p>
          <a:p>
            <a:pPr>
              <a:buFont typeface="Arial"/>
              <a:buChar char="•"/>
            </a:pPr>
            <a:r>
              <a:rPr lang="en-US" b="1" dirty="0">
                <a:ea typeface="+mn-lt"/>
                <a:cs typeface="+mn-lt"/>
              </a:rPr>
              <a:t>AST_PIPE</a:t>
            </a:r>
            <a:r>
              <a:rPr lang="en-US" dirty="0">
                <a:ea typeface="+mn-lt"/>
                <a:cs typeface="+mn-lt"/>
              </a:rPr>
              <a:t>: Pipes are checked before individual commands or redirects because they connect multiple commands.</a:t>
            </a:r>
            <a:endParaRPr lang="en-US" dirty="0"/>
          </a:p>
          <a:p>
            <a:pPr>
              <a:buFont typeface="Arial"/>
              <a:buChar char="•"/>
            </a:pPr>
            <a:r>
              <a:rPr lang="en-US" b="1" dirty="0">
                <a:ea typeface="+mn-lt"/>
                <a:cs typeface="+mn-lt"/>
              </a:rPr>
              <a:t>AST_REDIRECT</a:t>
            </a:r>
            <a:r>
              <a:rPr lang="en-US" dirty="0">
                <a:ea typeface="+mn-lt"/>
                <a:cs typeface="+mn-lt"/>
              </a:rPr>
              <a:t>: Redirects are checked after pipes but before individual commands. This allows for constructs like </a:t>
            </a:r>
            <a:r>
              <a:rPr lang="en-US" dirty="0">
                <a:latin typeface="Consolas"/>
                <a:ea typeface="+mn-lt"/>
                <a:cs typeface="+mn-lt"/>
              </a:rPr>
              <a:t>cmd1 | cmd2 &gt; file</a:t>
            </a:r>
            <a:r>
              <a:rPr lang="en-US" dirty="0">
                <a:ea typeface="+mn-lt"/>
                <a:cs typeface="+mn-lt"/>
              </a:rPr>
              <a:t>.</a:t>
            </a:r>
            <a:endParaRPr lang="en-US" dirty="0"/>
          </a:p>
          <a:p>
            <a:pPr>
              <a:buFont typeface="Arial"/>
              <a:buChar char="•"/>
            </a:pPr>
            <a:r>
              <a:rPr lang="en-US" b="1" dirty="0">
                <a:ea typeface="+mn-lt"/>
                <a:cs typeface="+mn-lt"/>
              </a:rPr>
              <a:t>AST_COMMAND</a:t>
            </a:r>
            <a:r>
              <a:rPr lang="en-US" dirty="0">
                <a:ea typeface="+mn-lt"/>
                <a:cs typeface="+mn-lt"/>
              </a:rPr>
              <a:t>: Individual commands are checked last, as they are the most basic unit of execution.</a:t>
            </a:r>
            <a:endParaRPr lang="en-US" dirty="0"/>
          </a:p>
        </p:txBody>
      </p:sp>
    </p:spTree>
    <p:extLst>
      <p:ext uri="{BB962C8B-B14F-4D97-AF65-F5344CB8AC3E}">
        <p14:creationId xmlns:p14="http://schemas.microsoft.com/office/powerpoint/2010/main" val="935832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BE796-2094-1EFF-B53D-30549DD3FEF0}"/>
              </a:ext>
            </a:extLst>
          </p:cNvPr>
          <p:cNvSpPr>
            <a:spLocks noGrp="1"/>
          </p:cNvSpPr>
          <p:nvPr>
            <p:ph type="title"/>
          </p:nvPr>
        </p:nvSpPr>
        <p:spPr/>
        <p:txBody>
          <a:bodyPr/>
          <a:lstStyle/>
          <a:p>
            <a:r>
              <a:rPr lang="en-US" dirty="0"/>
              <a:t>Execution of </a:t>
            </a:r>
            <a:r>
              <a:rPr lang="en-US" dirty="0" err="1"/>
              <a:t>Built-INs</a:t>
            </a:r>
          </a:p>
        </p:txBody>
      </p:sp>
      <p:sp>
        <p:nvSpPr>
          <p:cNvPr id="3" name="Content Placeholder 2">
            <a:extLst>
              <a:ext uri="{FF2B5EF4-FFF2-40B4-BE49-F238E27FC236}">
                <a16:creationId xmlns:a16="http://schemas.microsoft.com/office/drawing/2014/main" id="{B8B2172E-6A7C-FFD4-799A-40F89BC12046}"/>
              </a:ext>
            </a:extLst>
          </p:cNvPr>
          <p:cNvSpPr>
            <a:spLocks noGrp="1"/>
          </p:cNvSpPr>
          <p:nvPr>
            <p:ph idx="1"/>
          </p:nvPr>
        </p:nvSpPr>
        <p:spPr/>
        <p:txBody>
          <a:bodyPr vert="horz" lIns="91440" tIns="45720" rIns="91440" bIns="45720" rtlCol="0" anchor="t">
            <a:normAutofit/>
          </a:bodyPr>
          <a:lstStyle/>
          <a:p>
            <a:r>
              <a:rPr lang="en-US"/>
              <a:t>Execution of built ins are decided at AST execution.</a:t>
            </a:r>
          </a:p>
          <a:p>
            <a:r>
              <a:rPr lang="en-US"/>
              <a:t>To save time, all built-ins should have the same function prototype:</a:t>
            </a:r>
          </a:p>
          <a:p>
            <a:pPr marL="474980" lvl="1">
              <a:buFont typeface="Courier New" panose="020B0604020202020204" pitchFamily="34" charset="0"/>
              <a:buChar char="o"/>
            </a:pPr>
            <a:r>
              <a:rPr lang="en-US"/>
              <a:t>bi_cmdname</a:t>
            </a:r>
            <a:r>
              <a:rPr lang="en-US" dirty="0"/>
              <a:t>(</a:t>
            </a:r>
            <a:r>
              <a:rPr lang="en-US" dirty="0" err="1">
                <a:ea typeface="+mn-lt"/>
                <a:cs typeface="+mn-lt"/>
              </a:rPr>
              <a:t>t_astnode</a:t>
            </a:r>
            <a:r>
              <a:rPr lang="en-US" dirty="0">
                <a:ea typeface="+mn-lt"/>
                <a:cs typeface="+mn-lt"/>
              </a:rPr>
              <a:t> </a:t>
            </a:r>
            <a:r>
              <a:rPr lang="en-US" dirty="0">
                <a:solidFill>
                  <a:srgbClr val="61AFEF"/>
                </a:solidFill>
                <a:ea typeface="+mn-lt"/>
                <a:cs typeface="+mn-lt"/>
              </a:rPr>
              <a:t>*</a:t>
            </a:r>
            <a:r>
              <a:rPr lang="en-US" dirty="0">
                <a:ea typeface="+mn-lt"/>
                <a:cs typeface="+mn-lt"/>
              </a:rPr>
              <a:t>node</a:t>
            </a:r>
            <a:r>
              <a:rPr lang="en-US" dirty="0">
                <a:solidFill>
                  <a:srgbClr val="ABB2BF"/>
                </a:solidFill>
                <a:ea typeface="+mn-lt"/>
                <a:cs typeface="+mn-lt"/>
              </a:rPr>
              <a:t>,</a:t>
            </a:r>
            <a:r>
              <a:rPr lang="en-US" dirty="0">
                <a:ea typeface="+mn-lt"/>
                <a:cs typeface="+mn-lt"/>
              </a:rPr>
              <a:t> </a:t>
            </a:r>
            <a:r>
              <a:rPr lang="en-US" dirty="0" err="1">
                <a:ea typeface="+mn-lt"/>
                <a:cs typeface="+mn-lt"/>
              </a:rPr>
              <a:t>t_shellv</a:t>
            </a:r>
            <a:r>
              <a:rPr lang="en-US" dirty="0">
                <a:ea typeface="+mn-lt"/>
                <a:cs typeface="+mn-lt"/>
              </a:rPr>
              <a:t> </a:t>
            </a:r>
            <a:r>
              <a:rPr lang="en-US" dirty="0">
                <a:solidFill>
                  <a:srgbClr val="61AFEF"/>
                </a:solidFill>
                <a:ea typeface="+mn-lt"/>
                <a:cs typeface="+mn-lt"/>
              </a:rPr>
              <a:t>*</a:t>
            </a:r>
            <a:r>
              <a:rPr lang="en-US" dirty="0">
                <a:ea typeface="+mn-lt"/>
                <a:cs typeface="+mn-lt"/>
              </a:rPr>
              <a:t>shell)</a:t>
            </a:r>
          </a:p>
          <a:p>
            <a:pPr marL="694690" lvl="2">
              <a:buFont typeface="Courier New" panose="020B0604020202020204" pitchFamily="34" charset="0"/>
              <a:buChar char="o"/>
            </a:pPr>
            <a:r>
              <a:rPr lang="en-US"/>
              <a:t>bi to distinguish it's built in</a:t>
            </a:r>
          </a:p>
          <a:p>
            <a:pPr marL="694690" lvl="2">
              <a:buFont typeface="Courier New" panose="020B0604020202020204" pitchFamily="34" charset="0"/>
              <a:buChar char="o"/>
            </a:pPr>
            <a:r>
              <a:rPr lang="en-US" dirty="0" err="1"/>
              <a:t>cmdname</a:t>
            </a:r>
            <a:r>
              <a:rPr lang="en-US" dirty="0"/>
              <a:t> will be like echo, </a:t>
            </a:r>
            <a:r>
              <a:rPr lang="en-US" dirty="0" err="1"/>
              <a:t>pwd</a:t>
            </a:r>
            <a:r>
              <a:rPr lang="en-US"/>
              <a:t>, etc</a:t>
            </a:r>
          </a:p>
          <a:p>
            <a:pPr marL="694690" lvl="2">
              <a:buFont typeface="Courier New" panose="020B0604020202020204" pitchFamily="34" charset="0"/>
              <a:buChar char="o"/>
            </a:pPr>
            <a:r>
              <a:rPr lang="en-US" dirty="0" err="1">
                <a:ea typeface="+mn-lt"/>
                <a:cs typeface="+mn-lt"/>
              </a:rPr>
              <a:t>t_astnode</a:t>
            </a:r>
            <a:r>
              <a:rPr lang="en-US" dirty="0">
                <a:ea typeface="+mn-lt"/>
                <a:cs typeface="+mn-lt"/>
              </a:rPr>
              <a:t> </a:t>
            </a:r>
            <a:r>
              <a:rPr lang="en-US" dirty="0">
                <a:solidFill>
                  <a:srgbClr val="61AFEF"/>
                </a:solidFill>
                <a:ea typeface="+mn-lt"/>
                <a:cs typeface="+mn-lt"/>
              </a:rPr>
              <a:t>*</a:t>
            </a:r>
            <a:r>
              <a:rPr lang="en-US" dirty="0">
                <a:ea typeface="+mn-lt"/>
                <a:cs typeface="+mn-lt"/>
              </a:rPr>
              <a:t>node</a:t>
            </a:r>
            <a:r>
              <a:rPr lang="en-US">
                <a:solidFill>
                  <a:srgbClr val="000000"/>
                </a:solidFill>
                <a:ea typeface="+mn-lt"/>
                <a:cs typeface="+mn-lt"/>
              </a:rPr>
              <a:t> contains the arguments and necessary stuff</a:t>
            </a:r>
            <a:endParaRPr lang="en-US" dirty="0">
              <a:solidFill>
                <a:srgbClr val="000000"/>
              </a:solidFill>
              <a:ea typeface="+mn-lt"/>
              <a:cs typeface="+mn-lt"/>
            </a:endParaRPr>
          </a:p>
          <a:p>
            <a:pPr marL="694690" lvl="2">
              <a:buFont typeface="Courier New" panose="020B0604020202020204" pitchFamily="34" charset="0"/>
              <a:buChar char="o"/>
            </a:pPr>
            <a:r>
              <a:rPr lang="en-US" err="1">
                <a:ea typeface="+mn-lt"/>
                <a:cs typeface="+mn-lt"/>
              </a:rPr>
              <a:t>t_shellv</a:t>
            </a:r>
            <a:r>
              <a:rPr lang="en-US" dirty="0">
                <a:ea typeface="+mn-lt"/>
                <a:cs typeface="+mn-lt"/>
              </a:rPr>
              <a:t> </a:t>
            </a:r>
            <a:r>
              <a:rPr lang="en-US" dirty="0">
                <a:solidFill>
                  <a:srgbClr val="61AFEF"/>
                </a:solidFill>
                <a:ea typeface="+mn-lt"/>
                <a:cs typeface="+mn-lt"/>
              </a:rPr>
              <a:t>*</a:t>
            </a:r>
            <a:r>
              <a:rPr lang="en-US">
                <a:ea typeface="+mn-lt"/>
                <a:cs typeface="+mn-lt"/>
              </a:rPr>
              <a:t>shell will have shell parameters like the env</a:t>
            </a:r>
            <a:endParaRPr lang="en-US"/>
          </a:p>
          <a:p>
            <a:pPr marL="474980" lvl="1">
              <a:buFont typeface="Courier New" panose="020B0604020202020204" pitchFamily="34" charset="0"/>
              <a:buChar char="o"/>
            </a:pPr>
            <a:endParaRPr lang="en-US" dirty="0"/>
          </a:p>
        </p:txBody>
      </p:sp>
    </p:spTree>
    <p:extLst>
      <p:ext uri="{BB962C8B-B14F-4D97-AF65-F5344CB8AC3E}">
        <p14:creationId xmlns:p14="http://schemas.microsoft.com/office/powerpoint/2010/main" val="1746301258"/>
      </p:ext>
    </p:extLst>
  </p:cSld>
  <p:clrMapOvr>
    <a:masterClrMapping/>
  </p:clrMapOvr>
</p:sld>
</file>

<file path=ppt/theme/theme1.xml><?xml version="1.0" encoding="utf-8"?>
<a:theme xmlns:a="http://schemas.openxmlformats.org/drawingml/2006/main" name="PoiseVTI">
  <a:themeElements>
    <a:clrScheme name="AnalogousFromLightSeedLeftStep">
      <a:dk1>
        <a:srgbClr val="000000"/>
      </a:dk1>
      <a:lt1>
        <a:srgbClr val="FFFFFF"/>
      </a:lt1>
      <a:dk2>
        <a:srgbClr val="223A3D"/>
      </a:dk2>
      <a:lt2>
        <a:srgbClr val="E8E2E5"/>
      </a:lt2>
      <a:accent1>
        <a:srgbClr val="81AB94"/>
      </a:accent1>
      <a:accent2>
        <a:srgbClr val="76AD78"/>
      </a:accent2>
      <a:accent3>
        <a:srgbClr val="8FA87F"/>
      </a:accent3>
      <a:accent4>
        <a:srgbClr val="9CA671"/>
      </a:accent4>
      <a:accent5>
        <a:srgbClr val="AAA180"/>
      </a:accent5>
      <a:accent6>
        <a:srgbClr val="BA947F"/>
      </a:accent6>
      <a:hlink>
        <a:srgbClr val="AE698F"/>
      </a:hlink>
      <a:folHlink>
        <a:srgbClr val="7F7F7F"/>
      </a:folHlink>
    </a:clrScheme>
    <a:fontScheme name="Goudy Univers">
      <a:majorFont>
        <a:latin typeface="Goudy Old Style"/>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iseVTI" id="{9843863B-6720-4231-BFE7-E604B355382A}" vid="{6C5B2780-C73E-445D-98DA-9D2BCD78971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PoiseVTI</vt:lpstr>
      <vt:lpstr>Minishell</vt:lpstr>
      <vt:lpstr>Overview</vt:lpstr>
      <vt:lpstr>General flow: Minishell</vt:lpstr>
      <vt:lpstr>Lexing (Sequential + concurrent)</vt:lpstr>
      <vt:lpstr>Problem: Prompts in color</vt:lpstr>
      <vt:lpstr>Test Cases: expansion check</vt:lpstr>
      <vt:lpstr>Implementation: Expansion logic</vt:lpstr>
      <vt:lpstr>Implementation: Lexing/expansion problems</vt:lpstr>
      <vt:lpstr>Theory: Link between lexer and parser </vt:lpstr>
      <vt:lpstr>ParSING THEORY – Top 5 strategies</vt:lpstr>
      <vt:lpstr>ParSING THEORY – Top 5 strategies</vt:lpstr>
      <vt:lpstr>Parsing (Mostly sequential)</vt:lpstr>
      <vt:lpstr>PARSING (GRammar Check)</vt:lpstr>
      <vt:lpstr>Top down vs Bottom Up PARSER</vt:lpstr>
      <vt:lpstr>Recursive Descent</vt:lpstr>
      <vt:lpstr>PowerPoint Presentation</vt:lpstr>
      <vt:lpstr>PowerPoint Presentation</vt:lpstr>
      <vt:lpstr>PowerPoint Presentation</vt:lpstr>
      <vt:lpstr>PowerPoint Presentation</vt:lpstr>
      <vt:lpstr>PROBLEM ((abc | def) || (xyz &amp;&amp; uvw)) &amp;&amp; (bcd || cdd) &gt;&gt; a</vt:lpstr>
      <vt:lpstr>( ) - Priority vs Grouping</vt:lpstr>
      <vt:lpstr>( ) - Priority vs Grouping</vt:lpstr>
      <vt:lpstr>Expansion problem</vt:lpstr>
      <vt:lpstr>Problem: heredoc with $sign</vt:lpstr>
      <vt:lpstr>Problem: heredoc with $sign</vt:lpstr>
      <vt:lpstr>Expansion 1 (sequential)</vt:lpstr>
      <vt:lpstr>Expansion 2</vt:lpstr>
      <vt:lpstr>Wildcard</vt:lpstr>
      <vt:lpstr>Execution (Sequential)</vt:lpstr>
      <vt:lpstr>Redirection Problem</vt:lpstr>
      <vt:lpstr>Execution Strategy</vt:lpstr>
      <vt:lpstr>Execution of Built-INs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586</cp:revision>
  <dcterms:created xsi:type="dcterms:W3CDTF">2024-09-29T04:42:31Z</dcterms:created>
  <dcterms:modified xsi:type="dcterms:W3CDTF">2024-11-21T11:11:22Z</dcterms:modified>
</cp:coreProperties>
</file>